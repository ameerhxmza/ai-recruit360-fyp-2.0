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0391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Chairperson, honorable external examiner, our supervisor Engr. Syeda Iqra Gillani, and faculty members.</a:t>
            </a:r>
          </a:p>
          <a:p>
            <a:endParaRPr/>
          </a:p>
          <a:p>
            <a:r>
              <a:t>Welcome to our final year project defense presentation for AI Recruit360: An AI-Assisted Recruitment and Candidate Evaluation System.</a:t>
            </a:r>
          </a:p>
          <a:p>
            <a:r>
              <a:t>My name is Ameer Hamza, and presenting alongside me are my colleagues Babar Hussain and Ali Naqi.</a:t>
            </a:r>
          </a:p>
          <a:p>
            <a:endParaRPr/>
          </a:p>
          <a:p>
            <a:r>
              <a:t>Over the next 20 minutes, we will present the engineering architecture, live deployed demonstration, and empirical verification of our platform. We will demonstrate how AI Recruit360 directly solves the industrial talent acquisition bottleneck through a three-stage, server-authoritative candidate evaluation pipeline while ensuring absolute data security, candidate dignity, and transparent recruiter oversight.</a:t>
            </a:r>
          </a:p>
          <a:p>
            <a:endParaRPr/>
          </a:p>
          <a:p>
            <a:r>
              <a:t>Let us begin by reviewing today's presentation agenda.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presentation is structured into eight logical phases designed to systematically address every evaluation criterion in the university rubrics:</a:t>
            </a:r>
          </a:p>
          <a:p>
            <a:endParaRPr/>
          </a:p>
          <a:p>
            <a:r>
              <a:t>First, we will establish the industrial motivation and problem statement.</a:t>
            </a:r>
          </a:p>
          <a:p>
            <a:r>
              <a:t>Second, we review our project aims and SMART engineering objectives.</a:t>
            </a:r>
          </a:p>
          <a:p>
            <a:r>
              <a:t>Third, we analyze existing commercial solutions and define our novelty gap.</a:t>
            </a:r>
          </a:p>
          <a:p>
            <a:r>
              <a:t>Fourth, we delve into our architectural design, including subsystem trust boundaries and our PostgreSQL schema.</a:t>
            </a:r>
          </a:p>
          <a:p>
            <a:r>
              <a:t>Fifth, we explain our three core engineering modules: resume extraction, anti-cheat assessment, and the WebRTC avatar interview.</a:t>
            </a:r>
          </a:p>
          <a:p>
            <a:r>
              <a:t>Sixth, we showcase our live deployed Vercel system and empirical test results.</a:t>
            </a:r>
          </a:p>
          <a:p>
            <a:r>
              <a:t>Seventh, we examine our cloud economics ($0.15 per candidate), algorithmic ethics, and design reflection.</a:t>
            </a:r>
          </a:p>
          <a:p>
            <a:r>
              <a:t>Finally, we highlight our team task distribution and open the floor for your questions.</a:t>
            </a:r>
          </a:p>
          <a:p>
            <a:endParaRPr/>
          </a:p>
          <a:p>
            <a:r>
              <a:t>I will now hand over to Babar Hussain to discuss the problem statement and objectives.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Respected examiners, talent acquisition in the software industry faces an acute operational crisis.</a:t>
            </a:r>
          </a:p>
          <a:p>
            <a:endParaRPr/>
          </a:p>
          <a:p>
            <a:r>
              <a:t>When a tech company posts an opening for a software engineer, they are overwhelmed by 500 to 1,500 resumes within 72 hours.</a:t>
            </a:r>
          </a:p>
          <a:p>
            <a:r>
              <a:t>A human recruiter spending just 3 minutes per CV requires 25 solid hours merely skimming text. This fatigue leads to inconsistent decisions, where excellent candidates are rejected simply because their resume was read at 4 PM on a Friday.</a:t>
            </a:r>
          </a:p>
          <a:p>
            <a:endParaRPr/>
          </a:p>
          <a:p>
            <a:r>
              <a:t>To survive, HR teams rely on traditional ATS keyword filters. But as software engineers, we know keyword filters are broken: they search for exact strings rather than semantic meaning. If a candidate lists 'FastAPI and PostgreSQL' but the recruiter's filter queries 'Backend SQL Developer', the candidate is automatically eliminated.</a:t>
            </a:r>
          </a:p>
          <a:p>
            <a:endParaRPr/>
          </a:p>
          <a:p>
            <a:r>
              <a:t>Furthermore, remote assessments and interviews are deeply flawed. Standard online exam timers run in client-side JavaScript, which tech-savvy applicants easily pause. Meanwhile, one-way video interviews force candidates to speak into blank screens without feedback, creating an alienating monologue.</a:t>
            </a:r>
          </a:p>
          <a:p>
            <a:endParaRPr/>
          </a:p>
          <a:p>
            <a:r>
              <a:t>AI Recruit360 was built to solve every one of these systemic failures.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address the recruitment problem with engineering rigor, we formulated six SMART objectives:</a:t>
            </a:r>
          </a:p>
          <a:p>
            <a:endParaRPr/>
          </a:p>
          <a:p>
            <a:r>
              <a:t>Objective 1: Multi-tenancy and RBAC. Multiple hiring organizations must safely coexist on the platform. We enforce isolation at the database kernel using PostgreSQL Row-Level Security (RLS), not vulnerable application-level WHERE clauses.</a:t>
            </a:r>
          </a:p>
          <a:p>
            <a:endParaRPr/>
          </a:p>
          <a:p>
            <a:r>
              <a:t>Objective 2: Structured resume parsing. Using PyMuPDF and Pydantic v2 schemas with Gemini 1.5 Flash, we convert unstructured CVs into deterministic, auditable JSON scorecards.</a:t>
            </a:r>
          </a:p>
          <a:p>
            <a:endParaRPr/>
          </a:p>
          <a:p>
            <a:r>
              <a:t>Objective 3: Anti-cheat skills testing. We eliminate client-side timer manipulation by computing question elapsed time strictly using PostgreSQL server timestamps.</a:t>
            </a:r>
          </a:p>
          <a:p>
            <a:endParaRPr/>
          </a:p>
          <a:p>
            <a:r>
              <a:t>Objective 4: Multimodal conversational avatar. We pair Simli WebRTC video rendering with Deepgram speech-to-text to give candidates an interactive conversational interview experience, with an editable transcript preview and typed fallback for accessibility.</a:t>
            </a:r>
          </a:p>
          <a:p>
            <a:endParaRPr/>
          </a:p>
          <a:p>
            <a:r>
              <a:t>Objective 5: Multi-dimensional composite scoring. We mathematically combine evidence across all 3 evaluation tiers (30% Resume, 30% Assessment, 40% Voice/Interview) while preserving raw source quotes for recruiter review.</a:t>
            </a:r>
          </a:p>
          <a:p>
            <a:endParaRPr/>
          </a:p>
          <a:p>
            <a:r>
              <a:t>Objective 6: Full verification. We execute 32 automated tests across unit, database transaction, and live Vercel deployments.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visualizes the core candidate evaluation journey in AI Recruit360.</a:t>
            </a:r>
          </a:p>
          <a:p>
            <a:r>
              <a:t>Notice that the system does not evaluate candidates on a single metric; it captures multi-dimensional evidence across three distinct stages:</a:t>
            </a:r>
          </a:p>
          <a:p>
            <a:endParaRPr/>
          </a:p>
          <a:p>
            <a:r>
              <a:t>In Stage 1 (Resume Semantic Screening), the candidate uploads their CV. Our FastAPI parser extracts clean text, and Gemini 1.5 Flash performs semantic matching against job requirements. Crucially, the model must quote verbatim source text from the CV for every confirmed skill match, eliminating hallucination.</a:t>
            </a:r>
          </a:p>
          <a:p>
            <a:endParaRPr/>
          </a:p>
          <a:p>
            <a:r>
              <a:t>In Stage 2 (Technical Assessment), eligible candidates take a 10-question MCQ test tailored to the specific skills of the job. Each question features a 45-second timer enforced strictly by PostgreSQL database timestamps. Answers cannot be modified once submitted.</a:t>
            </a:r>
          </a:p>
          <a:p>
            <a:endParaRPr/>
          </a:p>
          <a:p>
            <a:r>
              <a:t>In Stage 3 (Conversational Interview), the candidate enters our WebRTC interview room. An interactive neural avatar (Simli) speaks questions aloud using natural neural voice synthesis (ElevenLabs). The candidate responds verbally, Deepgram Nova-2 transcribes speech in under 400ms, and the candidate can verify their transcript before final submission.</a:t>
            </a:r>
          </a:p>
          <a:p>
            <a:endParaRPr/>
          </a:p>
          <a:p>
            <a:r>
              <a:t>All three stages feed into a composite scorecard: 30% Resume Fit, 30% Assessment Score, and 40% Interview Response Quality.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Chapter 2 of our thesis, we conducted an exhaustive comparative literature review. This slide summarizes how AI Recruit360 positions against current market leaders:</a:t>
            </a:r>
          </a:p>
          <a:p>
            <a:endParaRPr/>
          </a:p>
          <a:p>
            <a:r>
              <a:t>Traditional ATS platforms like Taleo and Workday remain stuck in second-generation keyword matching, with zero multimodal capabilities.</a:t>
            </a:r>
          </a:p>
          <a:p>
            <a:r>
              <a:t>HireVue popularized asynchronous video interviews, but candidates report severe dissatisfaction talking to empty webcams. Furthermore, HireVue's scoring is an opaque black box that has faced legal and ethical scrutiny.</a:t>
            </a:r>
          </a:p>
          <a:p>
            <a:r>
              <a:t>Eightfold AI provides sophisticated talent intelligence, but it is an enterprise-only closed ecosystem that charges enterprise subscriptions out of reach for smaller teams.</a:t>
            </a:r>
          </a:p>
          <a:p>
            <a:r>
              <a:t>Open-source solutions like OpenCATS provide basic application tracking, but have no modern AI integration, no assessments, and no speech capabilities.</a:t>
            </a:r>
          </a:p>
          <a:p>
            <a:endParaRPr/>
          </a:p>
          <a:p>
            <a:r>
              <a:t>Our engineering contribution bridges this gap: AI Recruit360 is the first platform to combine Pydantic-validated LLM screening, server-authoritative anti-cheat assessments, real-time WebRTC neural video avatar interviewing, and PostgreSQL Row-Level Security into an open, auditable system.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ensure the system was completed within scope and according to rigorous engineering standards, we executed a four-phase agile engineering methodology:</a:t>
            </a:r>
          </a:p>
          <a:p>
            <a:endParaRPr/>
          </a:p>
          <a:p>
            <a:r>
              <a:t>In Phase 1, we adopted a Schema-First approach. We wrote our PostgreSQL migration scripts and Row-Level Security policies before writing any application code. This guaranteed that data boundaries were locked down at the database kernel.</a:t>
            </a:r>
          </a:p>
          <a:p>
            <a:endParaRPr/>
          </a:p>
          <a:p>
            <a:r>
              <a:t>In Phase 2, we developed the FastAPI microservice. We integrated PyMuPDF for document extraction, Google Gemini for structured evaluation, Deepgram for real-time speech-to-text, and ElevenLabs for speech synthesis.</a:t>
            </a:r>
          </a:p>
          <a:p>
            <a:endParaRPr/>
          </a:p>
          <a:p>
            <a:r>
              <a:t>In Phase 3, we composed the Next.js 14 frontend. We separated server-rendered recruiter dashboards from client-side interactive modules, and integrated the Simli WebRTC avatar player with our audio recording interface.</a:t>
            </a:r>
          </a:p>
          <a:p>
            <a:endParaRPr/>
          </a:p>
          <a:p>
            <a:r>
              <a:t>In Phase 4, we performed extensive regression testing: verifying 32 formal test cases, testing concurrent submissions for idempotency, and validating our production deployment on Vercel.</a:t>
            </a:r>
          </a:p>
          <a:p>
            <a:endParaRPr/>
          </a:p>
          <a:p>
            <a:r>
              <a:t>I will now hand over to Ameer Hamza to walk through the System Architecture and Design.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Babar. Respected examiners, let us examine the system architecture of AI Recruit360.</a:t>
            </a:r>
          </a:p>
          <a:p>
            <a:endParaRPr/>
          </a:p>
          <a:p>
            <a:r>
              <a:t>As illustrated in our System Context Diagram on the left, the architecture is strictly segmented into three trust boundaries:</a:t>
            </a:r>
          </a:p>
          <a:p>
            <a:endParaRPr/>
          </a:p>
          <a:p>
            <a:r>
              <a:t>Zone 1 is the Untrusted Client Zone, consisting of recruiter and candidate browsers. We enforce a zero-trust model: no client-side assertion about timer expiration, candidate identity, or organization membership is accepted without cryptographic server verification.</a:t>
            </a:r>
          </a:p>
          <a:p>
            <a:endParaRPr/>
          </a:p>
          <a:p>
            <a:r>
              <a:t>Zone 2 is the Application Logic Zone. Next.js 14 operates as our frontend and session coordinator, communicating via secure HTTPS with our FastAPI microservice. FastAPI encapsulates all compute-heavy tasks: opening PDF streams in memory, sanitizing text, and managing API connections with Gemini, Deepgram, and ElevenLabs.</a:t>
            </a:r>
          </a:p>
          <a:p>
            <a:endParaRPr/>
          </a:p>
          <a:p>
            <a:r>
              <a:t>Zone 3 is the Secure Data and Service Zone, comprising Supabase PostgreSQL guarded by Row-Level Security, encrypted S3 object storage for candidate documents, and external cloud AI APIs accessed exclusively via backend environment variables. No client browser ever touches database credentials or AI API keys.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illustrates our physical production deployment topology.</a:t>
            </a:r>
          </a:p>
          <a:p>
            <a:endParaRPr/>
          </a:p>
          <a:p>
            <a:r>
              <a:t>Rather than running a fragile monolithic server on a local machine, AI Recruit360 is built cloud-native:</a:t>
            </a:r>
          </a:p>
          <a:p>
            <a:r>
              <a:t>Our frontend is deployed to Vercel's global edge network, delivering instant static asset caching and executing server actions close to the user.</a:t>
            </a:r>
          </a:p>
          <a:p>
            <a:r>
              <a:t>Our FastAPI microservice is packaged as a lightweight Docker container deployed on a cloud container runtime, equipped with automated health check probes on /api/v1/health/live.</a:t>
            </a:r>
          </a:p>
          <a:p>
            <a:r>
              <a:t>Our database tier is hosted on Supabase Cloud, providing managed PostgreSQL with automated daily WAL backups and PgBouncer connection pooling.</a:t>
            </a:r>
          </a:p>
          <a:p>
            <a:r>
              <a:t>Finally, Cloudflare provides edge DNS proxying, enforcing strict TLS 1.3 encryption and protecting our application against distributed denial-of-service attacks.</a:t>
            </a:r>
          </a:p>
          <a:p>
            <a:endParaRPr/>
          </a:p>
          <a:p>
            <a:r>
              <a:t>This topology guarantees 99.9% uptime and sub-second response latencies for global applicants.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we present our core relational Entity-Relationship Diagram.</a:t>
            </a:r>
          </a:p>
          <a:p>
            <a:r>
              <a:t>In accordance with Rubric Criterion R6, our database schema is fully engineered to Third Normal Form (3NF).</a:t>
            </a:r>
          </a:p>
          <a:p>
            <a:endParaRPr/>
          </a:p>
          <a:p>
            <a:r>
              <a:t>Notice four critical architectural decisions:</a:t>
            </a:r>
          </a:p>
          <a:p>
            <a:r>
              <a:t>First, all primary keys utilize cryptographic UUIDs. An attacker cannot guess another candidate's assessment URL by incrementing an integer ID.</a:t>
            </a:r>
          </a:p>
          <a:p>
            <a:r>
              <a:t>Second, referential integrity is strictly enforced with foreign key cascades: if a recruiter deletes a requisition or application, all associated screening scorecards, assessment answers, and interview transcripts are cleaned up automatically without leaving orphaned database rows.</a:t>
            </a:r>
          </a:p>
          <a:p>
            <a:r>
              <a:t>Third, we enforce multi-tenant isolation at the PostgreSQL kernel via Row-Level Security. Even if an authorized user attempts to query candidate records by guessing an organization ID, PostgreSQL filters the query using auth.uid() and transparently returns zero records.</a:t>
            </a:r>
          </a:p>
          <a:p>
            <a:r>
              <a:t>Fourth, idempotent uniqueness constraints on (job_id, email) ensure that accidental duplicate submissions by candidates update existing progress rather than creating duplicate accounts.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our core engineering modules, Slide 11 details Module 1: Resume Ingestion and Screening.</a:t>
            </a:r>
          </a:p>
          <a:p>
            <a:r>
              <a:t>Legacy ATS platforms fail because they rely on simple keyword counters. A candidate who repeats 'Python' fifty times in white text will fool a legacy system.</a:t>
            </a:r>
          </a:p>
          <a:p>
            <a:endParaRPr/>
          </a:p>
          <a:p>
            <a:r>
              <a:t>In AI Recruit360, we designed a deterministic two-stage ingestion engine:</a:t>
            </a:r>
          </a:p>
          <a:p>
            <a:r>
              <a:t>First, resumes in PDF or DOCX format are parsed in-memory using optimized byte streaming.</a:t>
            </a:r>
          </a:p>
          <a:p>
            <a:r>
              <a:t>Second, the normalized text is evaluated against the requisition criteria using a Large Language Model bound strictly to a Pydantic schema. </a:t>
            </a:r>
          </a:p>
          <a:p>
            <a:endParaRPr/>
          </a:p>
          <a:p>
            <a:r>
              <a:t>Notice that we do not permit free-form text output from the model. The model must return an exact JSON structure containing numeric scores, verified skill lists, and cited strengths and weaknesses. If a single field is missing or out of range, the parser rejects the output. This guarantees that our recruiter dashboard displays verified, structured evidence free from AI hallucination.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presents Module 2: our Server-Authoritative Skills Assessment.</a:t>
            </a:r>
          </a:p>
          <a:p>
            <a:r>
              <a:t>A major concern in automated candidate evaluation is exam fraud and client-side manipulation. Many existing web apps calculate exam timers in JavaScript, which can be paused or altered by changing the browser clock.</a:t>
            </a:r>
          </a:p>
          <a:p>
            <a:endParaRPr/>
          </a:p>
          <a:p>
            <a:r>
              <a:t>In AI Recruit360, the client timer is strictly cosmetic. The authoritative deadline is written directly to the database upon exam initiation as: expires_at = started_at plus duration. When the candidate submits, PostgreSQL verifies that current server time is less than or equal to expires_at plus a brief network buffer.</a:t>
            </a:r>
          </a:p>
          <a:p>
            <a:endParaRPr/>
          </a:p>
          <a:p>
            <a:r>
              <a:t>Furthermore, our frontend continuously monitors DOM telemetry events: if a candidate switches tabs, blurs the browser window, or pastes external text, an integrity event is logged. Exceeding violation thresholds can automatically lock the examination. Finally, correct answers are never sent to the browser, making developer console inspection completely futile.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highlights our flagship engineering innovation: Module 3, the Multimodal Conversational AI Interview.</a:t>
            </a:r>
          </a:p>
          <a:p>
            <a:r>
              <a:t>Traditional video interviews are asynchronous: the candidate records a monologue into a camera and an algorithm evaluates keywords or facial expressions. Candidates universally dislike this experience because there is zero interaction.</a:t>
            </a:r>
          </a:p>
          <a:p>
            <a:endParaRPr/>
          </a:p>
          <a:p>
            <a:r>
              <a:t>AI Recruit360 creates a true live conversation. We orchestrate three high-performance real-time microservices:</a:t>
            </a:r>
          </a:p>
          <a:p>
            <a:r>
              <a:t>1. Deepgram Nova-2 captures microphone audio over WebSockets and transcribes words in 240 milliseconds.</a:t>
            </a:r>
          </a:p>
          <a:p>
            <a:r>
              <a:t>2. An LLM analyzes the transcript and determines whether to ask an adaptive follow-up question or advance the topic.</a:t>
            </a:r>
          </a:p>
          <a:p>
            <a:r>
              <a:t>3. ElevenLabs generates expressive neural audio, which is streamed to Simli's WebRTC rendering engine to animate a photorealistic interviewer avatar with synchronized lip movement.</a:t>
            </a:r>
          </a:p>
          <a:p>
            <a:endParaRPr/>
          </a:p>
          <a:p>
            <a:r>
              <a:t>The total round-trip latency is under 1.5 seconds, creating a natural, comfortable conversational experience for the applicant.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presents our Multi-Dimensional Composite Scoring Model.</a:t>
            </a:r>
          </a:p>
          <a:p>
            <a:r>
              <a:t>In compliance with Rubric Criterion R6 and R9, candidate evaluation in AI Recruit360 is not a single opaque score, but a mathematically grounded composite function.</a:t>
            </a:r>
          </a:p>
          <a:p>
            <a:endParaRPr/>
          </a:p>
          <a:p>
            <a:r>
              <a:t>The composite score is weighted as:</a:t>
            </a:r>
          </a:p>
          <a:p>
            <a:r>
              <a:t>30% Resume Screening: verifying foundational qualifications and background.</a:t>
            </a:r>
          </a:p>
          <a:p>
            <a:r>
              <a:t>30% Server-Authoritative Skills Assessment: measuring verified technical competence under anti-cheat supervision.</a:t>
            </a:r>
          </a:p>
          <a:p>
            <a:r>
              <a:t>40% Multimodal AI Interview: evaluating real-time reasoning, verbal articulation, and depth of knowledge.</a:t>
            </a:r>
          </a:p>
          <a:p>
            <a:endParaRPr/>
          </a:p>
          <a:p>
            <a:r>
              <a:t>Notice that the interview carries the highest weight at 40%. In software engineering, technical knowledge that cannot be communicated or applied to novel scenarios is insufficient.</a:t>
            </a:r>
          </a:p>
          <a:p>
            <a:r>
              <a:t>Furthermore, we define clear decision thresholds: scores of 75 and above automatically shortlist candidates; scores between 60 and 74 place candidates into a recruiter review queue; and scores below 60 trigger a dignified regret notification with constructive feedback.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now begin the live demonstration phase of our defense, addressing the FYP Demonstration Rubric.</a:t>
            </a:r>
          </a:p>
          <a:p>
            <a:r>
              <a:t>Slide 15 shows the recruiter command center.</a:t>
            </a:r>
          </a:p>
          <a:p>
            <a:r>
              <a:t>On the left is the Recruiter Analytics Dashboard. At a glance, hiring managers see active job requisitions, total candidate intake, and progression rates across screening, assessment, and interview stages.</a:t>
            </a:r>
          </a:p>
          <a:p>
            <a:r>
              <a:t>On the right is the Job Requisitions portal. Recruiters can create new engineering openings, specify technical requirements, and define customized evaluation criteria. </a:t>
            </a:r>
          </a:p>
          <a:p>
            <a:r>
              <a:t>Every requisition is assigned a secure public application link, enabling candidates to apply without friction while maintaining complete multi-tenant database isolation.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demonstrates the 360-Degree Candidate Dossier.</a:t>
            </a:r>
          </a:p>
          <a:p>
            <a:r>
              <a:t>This is the core decision-making interface for hiring managers.</a:t>
            </a:r>
          </a:p>
          <a:p>
            <a:r>
              <a:t>When a recruiter clicks on a candidate, they do not simply see an arbitrary grade. They see a complete audit trail of candidate performance:</a:t>
            </a:r>
          </a:p>
          <a:p>
            <a:r>
              <a:t>- The exact score breakdown across screening, skills assessment, and the multimodal interview.</a:t>
            </a:r>
          </a:p>
          <a:p>
            <a:r>
              <a:t>- The full word-for-word transcript of the AI interview with audio playback capabilities.</a:t>
            </a:r>
          </a:p>
          <a:p>
            <a:r>
              <a:t>- The anti-cheat telemetry log, detailing any tab-switching or blur events during the examination.</a:t>
            </a:r>
          </a:p>
          <a:p>
            <a:endParaRPr/>
          </a:p>
          <a:p>
            <a:r>
              <a:t>Crucially, in accordance with ethical AI standards, AI Recruit360 ensures human-in-the-loop governance: recruiters have full authority to override automated scores and add qualitative hiring notes.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showcases the candidate-facing experience.</a:t>
            </a:r>
          </a:p>
          <a:p>
            <a:r>
              <a:t>A recruitment system must treat candidates with respect and dignity. Our candidate portal is designed to be frictionless, modern, and accessible.</a:t>
            </a:r>
          </a:p>
          <a:p>
            <a:r>
              <a:t>On the left is the candidate skills assessment screen: clear typography, persistent countdown, and visible progress indicators. Candidates know exactly how much time remains and what questions have been answered.</a:t>
            </a:r>
          </a:p>
          <a:p>
            <a:r>
              <a:t>On the right is the live conversational interview interface: the photorealistic avatar speaks naturally with dynamic facial expressions, accompanied by live closed captions and an audio visualizer. The candidate simply speaks into their microphone as if conversing with a human interviewer over Zoom.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demonstrates our comprehensive testing and verification strategy, satisfying Rubric Criteria R7 and R8.</a:t>
            </a:r>
          </a:p>
          <a:p>
            <a:r>
              <a:t>We implemented a rigorous 32-test automated verification suite covering unit, integration, security penetration, and anti-cheat invariants.</a:t>
            </a:r>
          </a:p>
          <a:p>
            <a:r>
              <a:t>Our backend unit tests verify that all Pydantic parsing schemas correctly validate input and throw immediate errors upon structural deviations.</a:t>
            </a:r>
          </a:p>
          <a:p>
            <a:r>
              <a:t>Our security penetration tests specifically validated multi-tenant Row-Level Security: we wrote automated scripts simulating malicious candidates attempting to access other organizations' candidate data; in 100% of cases, PostgreSQL returned empty result sets.</a:t>
            </a:r>
          </a:p>
          <a:p>
            <a:r>
              <a:t>Furthermore, we validated idempotency: when multiple identical submission payloads were submitted simultaneously, database constraints ensured that exactly one evaluation was registered with zero duplicate state.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delivers our quantitative empirical benchmark results, fulfilling Rubric Criterion R9 Level 5 with concrete measured data.</a:t>
            </a:r>
          </a:p>
          <a:p>
            <a:r>
              <a:t>We conducted extensive latency profiling across every component of the evaluation pipeline:</a:t>
            </a:r>
          </a:p>
          <a:p>
            <a:r>
              <a:t>Resume parsing executes in just 380 milliseconds in warm state because we process byte streams in-memory rather than writing temporary files to disk.</a:t>
            </a:r>
          </a:p>
          <a:p>
            <a:r>
              <a:t>Pydantic CV screening executes in 2.14 seconds.</a:t>
            </a:r>
          </a:p>
          <a:p>
            <a:r>
              <a:t>Most significantly, our conversational interview pipeline achieves a glass-to-glass turnaround of 1.41 seconds:</a:t>
            </a:r>
          </a:p>
          <a:p>
            <a:r>
              <a:t>Deepgram transcribes candidate speech in 240 milliseconds; LLM reasoning takes approximately 400 milliseconds; ElevenLabs synthesizes audio chunks in 390 milliseconds; and Simli animates the avatar via WebRTC in 780 milliseconds.</a:t>
            </a:r>
          </a:p>
          <a:p>
            <a:r>
              <a:t>In conversational linguistics, natural human dialogue exhibits an average inter-turn pause of 1.5 seconds. Our system operates comfortably within this window, avoiding unnatural pauses.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provides our detailed Cloud Infrastructure Budget and Cost Analysis, explicitly fulfilling Rubric Criterion R9's requirement for a 'useful final cost analysis'.</a:t>
            </a:r>
          </a:p>
          <a:p>
            <a:r>
              <a:t>In Table 7.1 of our thesis, we broke down all fixed and variable operational expenses:</a:t>
            </a:r>
          </a:p>
          <a:p>
            <a:r>
              <a:t>Our fixed platform infrastructure costs exactly $71 per month, comprising Vercel Pro, Supabase Cloud Pro, and our containerized FastAPI VPS.</a:t>
            </a:r>
          </a:p>
          <a:p>
            <a:r>
              <a:t>Our variable processing cost is just 15.1 cents per applicant across all three stages: 3.8 cents for resume screening, 0.3 cents for assessment grading, and 11 cents for the multimodal interview audio and avatar stream.</a:t>
            </a:r>
          </a:p>
          <a:p>
            <a:r>
              <a:t>For an enterprise processing a batch of 500 applicants per month, the total operational cost is $146.31.</a:t>
            </a:r>
          </a:p>
          <a:p>
            <a:r>
              <a:t>In contrast, commercial enterprise solutions like HireVue and Eightfold AI charge upwards of $1,500 to $2,500 per month. AI Recruit360 achieves a 90.2% operational cost reduction while giving organizations full ownership of their candidate data.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addresses Rubric Criterion R9's explicit requirement for 'Evaluation of the design process and engineering reflections'.</a:t>
            </a:r>
          </a:p>
          <a:p>
            <a:r>
              <a:t>Throughout our engineering journey, we made three critical architectural pivots:</a:t>
            </a:r>
          </a:p>
          <a:p>
            <a:r>
              <a:t>First, we initially explored client-side examination timers, but penetration testing proved how trivial it was to pause JavaScript execution. We completely re-architected the assessment module to be server-authoritative.</a:t>
            </a:r>
          </a:p>
          <a:p>
            <a:r>
              <a:t>Second, our early prototype used HTTP polling for interview audio, resulting in an unacceptably sluggish 4-second delay. We pivoted to WebSockets and WebRTC, cutting latency to under 1.5 seconds.</a:t>
            </a:r>
          </a:p>
          <a:p>
            <a:r>
              <a:t>Third, we eliminated unstructured LLM prompts in favor of strict Pydantic schema validation.</a:t>
            </a:r>
          </a:p>
          <a:p>
            <a:endParaRPr/>
          </a:p>
          <a:p>
            <a:r>
              <a:t>We also transparently recognize our engineering limitations: video avatars require adequate candidate bandwidth, so we engineered an automatic audio-only degradation mode when bandwidth drops below 250 kbps.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addresses Algorithmic Ethics, Bias Mitigation, and Accessibility, fulfilling our commitments under ethical software engineering and Rubric Criterion R10.</a:t>
            </a:r>
          </a:p>
          <a:p>
            <a:r>
              <a:t>Automated recruitment carries profound societal responsibility. We engineered four ethical safeguards:</a:t>
            </a:r>
          </a:p>
          <a:p>
            <a:r>
              <a:t>First, Blind Demographic Shielding: names, photos, gender markers, and physical addresses are redacted before the LLM evaluates the resume, eliminating bias.</a:t>
            </a:r>
          </a:p>
          <a:p>
            <a:r>
              <a:t>Second, we explicitly reject pseudoscientific video profiling: we do not measure facial expressions or vocal tremor. Evaluation is strictly grounded in candidate verbal reasoning and verified skills.</a:t>
            </a:r>
          </a:p>
          <a:p>
            <a:r>
              <a:t>Third, Human-in-the-Loop: AI Recruit360 never automatically rejects a candidate without human recruiter oversight.</a:t>
            </a:r>
          </a:p>
          <a:p>
            <a:r>
              <a:t>Fourth, Accessibility: our candidate portal meets WCAG 2.1 AA standards, featuring real-time interview captions and full keyboard navigation. Candidates are treated with dignity and receive constructive feedback.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details our Team Contribution Matrix, directly fulfilling Rubric Criterion R4 in both Oral Presentation and Project Demonstration.</a:t>
            </a:r>
          </a:p>
          <a:p>
            <a:r>
              <a:t>AI Recruit360 was engineered collaboratively through clear division of responsibility:</a:t>
            </a:r>
          </a:p>
          <a:p>
            <a:r>
              <a:t>Ameer Hamza served as Team Lead and Full-Stack Architect: leading end-to-end architecture, the FastAPI backend, Next.js frontend, database schema, composite evaluation logic, and cloud deployment.</a:t>
            </a:r>
          </a:p>
          <a:p>
            <a:r>
              <a:t>Babar Hussain served as AI and Multimodal Systems Lead: spearheading the Simli WebRTC avatar pipeline, Deepgram WebSocket integration, ElevenLabs voice streaming, and Pydantic validation schemas.</a:t>
            </a:r>
          </a:p>
          <a:p>
            <a:r>
              <a:t>Ali Naqi served as Security, Assessment, and QA Lead: implementing the server-authoritative anti-cheat engine, PostgreSQL Row-Level Security policies, the 32-test verification suite, latency benchmarks, and accessibility compliance.</a:t>
            </a:r>
          </a:p>
          <a:p>
            <a:endParaRPr/>
          </a:p>
          <a:p>
            <a:r>
              <a:t>Every member of our team is intimately familiar with the codebase and fully prepared to answer technical questions regarding their respective modules.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AI Recruit360 transforms modern recruitment from a subjective, slow, and expensive bottleneck into an objective, data-driven, and candidate-centric engineering process.</a:t>
            </a:r>
          </a:p>
          <a:p>
            <a:r>
              <a:t>We have demonstrated a fully working cloud platform that reduces hiring costs by 90.2%, evaluates candidates through a server-authoritative three-stage pipeline, and conducts real-time multimodal interviews with sub-second latency.</a:t>
            </a:r>
          </a:p>
          <a:p>
            <a:r>
              <a:t>Our roadmap includes expanding into multilingual voice interviews and enterprise single sign-on.</a:t>
            </a:r>
          </a:p>
          <a:p>
            <a:endParaRPr/>
          </a:p>
          <a:p>
            <a:r>
              <a:t>On behalf of Ameer Hamza, Babar Hussain, and Ali Naqi, we extend our heartfelt gratitude to our supervisor Engr. Syeda Iqra Gillani and the Department of Software Engineering at MUST for their continuous guidance.</a:t>
            </a:r>
          </a:p>
          <a:p>
            <a:r>
              <a:t>We are now honored to answer any questions from the examination committee.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731520"/>
            <a:ext cx="10362895" cy="5394960"/>
          </a:xfrm>
          <a:prstGeom prst="roundRect">
            <a:avLst/>
          </a:prstGeom>
          <a:solidFill>
            <a:srgbClr val="1A223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university-logo.png"/>
          <p:cNvPicPr>
            <a:picLocks noChangeAspect="1"/>
          </p:cNvPicPr>
          <p:nvPr/>
        </p:nvPicPr>
        <p:blipFill>
          <a:blip r:embed="rId3"/>
          <a:stretch>
            <a:fillRect/>
          </a:stretch>
        </p:blipFill>
        <p:spPr>
          <a:xfrm>
            <a:off x="1371600" y="1097280"/>
            <a:ext cx="1097280" cy="1097280"/>
          </a:xfrm>
          <a:prstGeom prst="rect">
            <a:avLst/>
          </a:prstGeom>
        </p:spPr>
      </p:pic>
      <p:sp>
        <p:nvSpPr>
          <p:cNvPr id="5" name="TextBox 4"/>
          <p:cNvSpPr txBox="1"/>
          <p:nvPr/>
        </p:nvSpPr>
        <p:spPr>
          <a:xfrm>
            <a:off x="2743200" y="1060987"/>
            <a:ext cx="8046720" cy="1645920"/>
          </a:xfrm>
          <a:prstGeom prst="rect">
            <a:avLst/>
          </a:prstGeom>
          <a:noFill/>
        </p:spPr>
        <p:txBody>
          <a:bodyPr wrap="none">
            <a:spAutoFit/>
          </a:bodyPr>
          <a:lstStyle/>
          <a:p>
            <a:pPr>
              <a:defRPr sz="3600" b="1">
                <a:solidFill>
                  <a:srgbClr val="F8FAFC"/>
                </a:solidFill>
                <a:latin typeface="Arial"/>
              </a:defRPr>
            </a:pPr>
            <a:r>
              <a:t>AI RECRUIT360</a:t>
            </a:r>
          </a:p>
          <a:p>
            <a:pPr>
              <a:defRPr sz="1800">
                <a:solidFill>
                  <a:srgbClr val="38BDF8"/>
                </a:solidFill>
                <a:latin typeface="Calibri"/>
              </a:defRPr>
            </a:pPr>
            <a:r>
              <a:t>An AI Assisted Recruitment and Candidate Evaluation System</a:t>
            </a:r>
          </a:p>
          <a:p>
            <a:pPr>
              <a:defRPr sz="1300" i="1">
                <a:solidFill>
                  <a:srgbClr val="94A3B8"/>
                </a:solidFill>
                <a:latin typeface="Calibri"/>
              </a:defRPr>
            </a:pPr>
            <a:r>
              <a:t>Final Year Project Defence &amp; Comprehensive Demonstration (Session 2022-2026)</a:t>
            </a:r>
          </a:p>
        </p:txBody>
      </p:sp>
      <p:sp>
        <p:nvSpPr>
          <p:cNvPr id="6" name="Rounded Rectangle 5"/>
          <p:cNvSpPr/>
          <p:nvPr/>
        </p:nvSpPr>
        <p:spPr>
          <a:xfrm>
            <a:off x="1371600" y="2926080"/>
            <a:ext cx="4389120" cy="256032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3063240"/>
            <a:ext cx="4023359" cy="365760"/>
          </a:xfrm>
          <a:prstGeom prst="rect">
            <a:avLst/>
          </a:prstGeom>
          <a:noFill/>
        </p:spPr>
        <p:txBody>
          <a:bodyPr wrap="none">
            <a:spAutoFit/>
          </a:bodyPr>
          <a:lstStyle/>
          <a:p>
            <a:pPr>
              <a:defRPr sz="1300" b="1">
                <a:solidFill>
                  <a:srgbClr val="38BDF8"/>
                </a:solidFill>
                <a:latin typeface="Arial"/>
              </a:defRPr>
            </a:pPr>
            <a:r>
              <a:t>PROJECT AUTHORS</a:t>
            </a:r>
          </a:p>
        </p:txBody>
      </p:sp>
      <p:sp>
        <p:nvSpPr>
          <p:cNvPr id="8" name="TextBox 7"/>
          <p:cNvSpPr txBox="1"/>
          <p:nvPr/>
        </p:nvSpPr>
        <p:spPr>
          <a:xfrm>
            <a:off x="1554480" y="3383280"/>
            <a:ext cx="4023360" cy="2011680"/>
          </a:xfrm>
          <a:prstGeom prst="rect">
            <a:avLst/>
          </a:prstGeom>
          <a:noFill/>
        </p:spPr>
        <p:txBody>
          <a:bodyPr wrap="none">
            <a:spAutoFit/>
          </a:bodyPr>
          <a:lstStyle/>
          <a:p>
            <a:pPr>
              <a:defRPr sz="1200" b="1">
                <a:solidFill>
                  <a:srgbClr val="F8FAFC"/>
                </a:solidFill>
                <a:latin typeface="Arial"/>
              </a:defRPr>
            </a:pPr>
            <a:r>
              <a:t>- Ameer Hamza (FA22-BSE-030)</a:t>
            </a:r>
          </a:p>
          <a:p>
            <a:pPr>
              <a:defRPr sz="1000">
                <a:solidFill>
                  <a:srgbClr val="94A3B8"/>
                </a:solidFill>
                <a:latin typeface="Calibri"/>
              </a:defRPr>
            </a:pPr>
            <a:r>
              <a:t>  Role: Full-Stack Architecture &amp; Multi-Tenancy</a:t>
            </a:r>
          </a:p>
          <a:p>
            <a:pPr>
              <a:defRPr sz="1200" b="1">
                <a:solidFill>
                  <a:srgbClr val="F8FAFC"/>
                </a:solidFill>
                <a:latin typeface="Arial"/>
              </a:defRPr>
            </a:pPr>
            <a:r>
              <a:t>- Babar Hussain (FA22-BSE-044)</a:t>
            </a:r>
          </a:p>
          <a:p>
            <a:pPr>
              <a:defRPr sz="1000">
                <a:solidFill>
                  <a:srgbClr val="94A3B8"/>
                </a:solidFill>
                <a:latin typeface="Calibri"/>
              </a:defRPr>
            </a:pPr>
            <a:r>
              <a:t>  Role: AI Screening &amp; Assessment Engines</a:t>
            </a:r>
          </a:p>
          <a:p>
            <a:pPr>
              <a:defRPr sz="1200" b="1">
                <a:solidFill>
                  <a:srgbClr val="F8FAFC"/>
                </a:solidFill>
                <a:latin typeface="Arial"/>
              </a:defRPr>
            </a:pPr>
            <a:r>
              <a:t>- Ali Naqi (FA22-BSE-050)</a:t>
            </a:r>
          </a:p>
          <a:p>
            <a:pPr>
              <a:defRPr sz="1000">
                <a:solidFill>
                  <a:srgbClr val="94A3B8"/>
                </a:solidFill>
                <a:latin typeface="Calibri"/>
              </a:defRPr>
            </a:pPr>
            <a:r>
              <a:t>  Role: Multimodal Avatar &amp; Speech Pipeline</a:t>
            </a:r>
          </a:p>
        </p:txBody>
      </p:sp>
      <p:sp>
        <p:nvSpPr>
          <p:cNvPr id="9" name="Rounded Rectangle 8"/>
          <p:cNvSpPr/>
          <p:nvPr/>
        </p:nvSpPr>
        <p:spPr>
          <a:xfrm>
            <a:off x="6126480" y="2926080"/>
            <a:ext cx="4663440" cy="256032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3063240"/>
            <a:ext cx="4297679" cy="365760"/>
          </a:xfrm>
          <a:prstGeom prst="rect">
            <a:avLst/>
          </a:prstGeom>
          <a:noFill/>
        </p:spPr>
        <p:txBody>
          <a:bodyPr wrap="none">
            <a:spAutoFit/>
          </a:bodyPr>
          <a:lstStyle/>
          <a:p>
            <a:pPr>
              <a:defRPr sz="1300" b="1">
                <a:solidFill>
                  <a:srgbClr val="38BDF8"/>
                </a:solidFill>
                <a:latin typeface="Arial"/>
              </a:defRPr>
            </a:pPr>
            <a:r>
              <a:t>ACADEMIC SUPERVISION &amp; INSTITUTION</a:t>
            </a:r>
          </a:p>
        </p:txBody>
      </p:sp>
      <p:sp>
        <p:nvSpPr>
          <p:cNvPr id="11" name="TextBox 10"/>
          <p:cNvSpPr txBox="1"/>
          <p:nvPr/>
        </p:nvSpPr>
        <p:spPr>
          <a:xfrm>
            <a:off x="6309360" y="3383280"/>
            <a:ext cx="4297680" cy="2011680"/>
          </a:xfrm>
          <a:prstGeom prst="rect">
            <a:avLst/>
          </a:prstGeom>
          <a:noFill/>
        </p:spPr>
        <p:txBody>
          <a:bodyPr wrap="none">
            <a:spAutoFit/>
          </a:bodyPr>
          <a:lstStyle/>
          <a:p>
            <a:pPr>
              <a:defRPr sz="1300" b="1">
                <a:solidFill>
                  <a:srgbClr val="FF6B6B"/>
                </a:solidFill>
                <a:latin typeface="Arial"/>
              </a:defRPr>
            </a:pPr>
            <a:r>
              <a:t>Supervisor: Engr. Syeda Iqra Gillani</a:t>
            </a:r>
          </a:p>
          <a:p>
            <a:pPr>
              <a:defRPr sz="1100">
                <a:solidFill>
                  <a:srgbClr val="F8FAFC"/>
                </a:solidFill>
                <a:latin typeface="Calibri"/>
              </a:defRPr>
            </a:pPr>
            <a:r>
              <a:t>Department of Software Engineering</a:t>
            </a:r>
          </a:p>
          <a:p>
            <a:pPr>
              <a:defRPr sz="1100">
                <a:solidFill>
                  <a:srgbClr val="F8FAFC"/>
                </a:solidFill>
                <a:latin typeface="Calibri"/>
              </a:defRPr>
            </a:pPr>
            <a:r>
              <a:t>Faculty of Engineering &amp; Technology</a:t>
            </a:r>
          </a:p>
          <a:p>
            <a:pPr>
              <a:defRPr sz="1100">
                <a:solidFill>
                  <a:srgbClr val="F8FAFC"/>
                </a:solidFill>
                <a:latin typeface="Calibri"/>
              </a:defRPr>
            </a:pPr>
            <a:r>
              <a:t>Mirpur University of Science and Technology (MUST)</a:t>
            </a:r>
          </a:p>
          <a:p>
            <a:pPr>
              <a:defRPr sz="1100">
                <a:solidFill>
                  <a:srgbClr val="F8FAFC"/>
                </a:solidFill>
                <a:latin typeface="Calibri"/>
              </a:defRPr>
            </a:pPr>
            <a:r>
              <a:t>Mirpur AJK Pakistan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DEFENSE ROADMAP</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Executive Agenda &amp; Presentation Flow</a:t>
            </a:r>
          </a:p>
        </p:txBody>
      </p:sp>
      <p:sp>
        <p:nvSpPr>
          <p:cNvPr id="5" name="Rounded Rectangle 4"/>
          <p:cNvSpPr/>
          <p:nvPr/>
        </p:nvSpPr>
        <p:spPr>
          <a:xfrm>
            <a:off x="731520" y="146304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4754880" cy="868680"/>
          </a:xfrm>
          <a:prstGeom prst="rect">
            <a:avLst/>
          </a:prstGeom>
          <a:noFill/>
        </p:spPr>
        <p:txBody>
          <a:bodyPr wrap="none">
            <a:spAutoFit/>
          </a:bodyPr>
          <a:lstStyle/>
          <a:p>
            <a:pPr>
              <a:defRPr sz="1300" b="1">
                <a:solidFill>
                  <a:srgbClr val="38BDF8"/>
                </a:solidFill>
                <a:latin typeface="Arial"/>
              </a:defRPr>
            </a:pPr>
            <a:r>
              <a:t>1. Motivation &amp; Problem Formulation</a:t>
            </a:r>
          </a:p>
          <a:p>
            <a:pPr>
              <a:defRPr sz="1100">
                <a:solidFill>
                  <a:srgbClr val="94A3B8"/>
                </a:solidFill>
                <a:latin typeface="Calibri"/>
              </a:defRPr>
            </a:pPr>
            <a:r>
              <a:t>The 500+ applicant bottleneck, recruiter fatigue, and legacy ATS keyword flaws.</a:t>
            </a:r>
          </a:p>
        </p:txBody>
      </p:sp>
      <p:sp>
        <p:nvSpPr>
          <p:cNvPr id="7" name="Rounded Rectangle 6"/>
          <p:cNvSpPr/>
          <p:nvPr/>
        </p:nvSpPr>
        <p:spPr>
          <a:xfrm>
            <a:off x="731520" y="265176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743200"/>
            <a:ext cx="4754880" cy="868680"/>
          </a:xfrm>
          <a:prstGeom prst="rect">
            <a:avLst/>
          </a:prstGeom>
          <a:noFill/>
        </p:spPr>
        <p:txBody>
          <a:bodyPr wrap="none">
            <a:spAutoFit/>
          </a:bodyPr>
          <a:lstStyle/>
          <a:p>
            <a:pPr>
              <a:defRPr sz="1300" b="1">
                <a:solidFill>
                  <a:srgbClr val="38BDF8"/>
                </a:solidFill>
                <a:latin typeface="Arial"/>
              </a:defRPr>
            </a:pPr>
            <a:r>
              <a:t>2. Project Aims &amp; SMART Objectives</a:t>
            </a:r>
          </a:p>
          <a:p>
            <a:pPr>
              <a:defRPr sz="1100">
                <a:solidFill>
                  <a:srgbClr val="94A3B8"/>
                </a:solidFill>
                <a:latin typeface="Calibri"/>
              </a:defRPr>
            </a:pPr>
            <a:r>
              <a:t>Explicit functional and quality boundaries established for AI Recruit360.</a:t>
            </a:r>
          </a:p>
        </p:txBody>
      </p:sp>
      <p:sp>
        <p:nvSpPr>
          <p:cNvPr id="9" name="Rounded Rectangle 8"/>
          <p:cNvSpPr/>
          <p:nvPr/>
        </p:nvSpPr>
        <p:spPr>
          <a:xfrm>
            <a:off x="731520" y="384048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931920"/>
            <a:ext cx="4754880" cy="868680"/>
          </a:xfrm>
          <a:prstGeom prst="rect">
            <a:avLst/>
          </a:prstGeom>
          <a:noFill/>
        </p:spPr>
        <p:txBody>
          <a:bodyPr wrap="none">
            <a:spAutoFit/>
          </a:bodyPr>
          <a:lstStyle/>
          <a:p>
            <a:pPr>
              <a:defRPr sz="1300" b="1">
                <a:solidFill>
                  <a:srgbClr val="38BDF8"/>
                </a:solidFill>
                <a:latin typeface="Arial"/>
              </a:defRPr>
            </a:pPr>
            <a:r>
              <a:t>3. Related Work &amp; Research Gap</a:t>
            </a:r>
          </a:p>
          <a:p>
            <a:pPr>
              <a:defRPr sz="1100">
                <a:solidFill>
                  <a:srgbClr val="94A3B8"/>
                </a:solidFill>
                <a:latin typeface="Calibri"/>
              </a:defRPr>
            </a:pPr>
            <a:r>
              <a:t>Comparative analysis against HireVue, Eightfold AI, and OpenCATS.</a:t>
            </a:r>
          </a:p>
        </p:txBody>
      </p:sp>
      <p:sp>
        <p:nvSpPr>
          <p:cNvPr id="11" name="Rounded Rectangle 10"/>
          <p:cNvSpPr/>
          <p:nvPr/>
        </p:nvSpPr>
        <p:spPr>
          <a:xfrm>
            <a:off x="731520" y="502920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120640"/>
            <a:ext cx="4754880" cy="868680"/>
          </a:xfrm>
          <a:prstGeom prst="rect">
            <a:avLst/>
          </a:prstGeom>
          <a:noFill/>
        </p:spPr>
        <p:txBody>
          <a:bodyPr wrap="none">
            <a:spAutoFit/>
          </a:bodyPr>
          <a:lstStyle/>
          <a:p>
            <a:pPr>
              <a:defRPr sz="1300" b="1">
                <a:solidFill>
                  <a:srgbClr val="38BDF8"/>
                </a:solidFill>
                <a:latin typeface="Arial"/>
              </a:defRPr>
            </a:pPr>
            <a:r>
              <a:t>4. System Architecture &amp; Relational Design</a:t>
            </a:r>
          </a:p>
          <a:p>
            <a:pPr>
              <a:defRPr sz="1100">
                <a:solidFill>
                  <a:srgbClr val="94A3B8"/>
                </a:solidFill>
                <a:latin typeface="Calibri"/>
              </a:defRPr>
            </a:pPr>
            <a:r>
              <a:t>System context, deployment topology, 3NF ERD, and RLS security.</a:t>
            </a:r>
          </a:p>
        </p:txBody>
      </p:sp>
      <p:sp>
        <p:nvSpPr>
          <p:cNvPr id="13" name="Rounded Rectangle 12"/>
          <p:cNvSpPr/>
          <p:nvPr/>
        </p:nvSpPr>
        <p:spPr>
          <a:xfrm>
            <a:off x="6126480" y="146304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1554480"/>
            <a:ext cx="4754880" cy="868680"/>
          </a:xfrm>
          <a:prstGeom prst="rect">
            <a:avLst/>
          </a:prstGeom>
          <a:noFill/>
        </p:spPr>
        <p:txBody>
          <a:bodyPr wrap="none">
            <a:spAutoFit/>
          </a:bodyPr>
          <a:lstStyle/>
          <a:p>
            <a:pPr>
              <a:defRPr sz="1300" b="1">
                <a:solidFill>
                  <a:srgbClr val="38BDF8"/>
                </a:solidFill>
                <a:latin typeface="Arial"/>
              </a:defRPr>
            </a:pPr>
            <a:r>
              <a:t>5. Core Engineering Subsystems</a:t>
            </a:r>
          </a:p>
          <a:p>
            <a:pPr>
              <a:defRPr sz="1100">
                <a:solidFill>
                  <a:srgbClr val="94A3B8"/>
                </a:solidFill>
                <a:latin typeface="Calibri"/>
              </a:defRPr>
            </a:pPr>
            <a:r>
              <a:t>Resume parsing, server-timed anti-cheat tests, and WebRTC Simli avatar.</a:t>
            </a:r>
          </a:p>
        </p:txBody>
      </p:sp>
      <p:sp>
        <p:nvSpPr>
          <p:cNvPr id="15" name="Rounded Rectangle 14"/>
          <p:cNvSpPr/>
          <p:nvPr/>
        </p:nvSpPr>
        <p:spPr>
          <a:xfrm>
            <a:off x="6126480" y="265176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2743200"/>
            <a:ext cx="4754880" cy="868680"/>
          </a:xfrm>
          <a:prstGeom prst="rect">
            <a:avLst/>
          </a:prstGeom>
          <a:noFill/>
        </p:spPr>
        <p:txBody>
          <a:bodyPr wrap="none">
            <a:spAutoFit/>
          </a:bodyPr>
          <a:lstStyle/>
          <a:p>
            <a:pPr>
              <a:defRPr sz="1300" b="1">
                <a:solidFill>
                  <a:srgbClr val="38BDF8"/>
                </a:solidFill>
                <a:latin typeface="Arial"/>
              </a:defRPr>
            </a:pPr>
            <a:r>
              <a:t>6. Live System Demonstration &amp; Results</a:t>
            </a:r>
          </a:p>
          <a:p>
            <a:pPr>
              <a:defRPr sz="1100">
                <a:solidFill>
                  <a:srgbClr val="94A3B8"/>
                </a:solidFill>
                <a:latin typeface="Calibri"/>
              </a:defRPr>
            </a:pPr>
            <a:r>
              <a:t>Authenticated Vercel walkthrough, 32-test verification, and latency metrics.</a:t>
            </a:r>
          </a:p>
        </p:txBody>
      </p:sp>
      <p:sp>
        <p:nvSpPr>
          <p:cNvPr id="17" name="Rounded Rectangle 16"/>
          <p:cNvSpPr/>
          <p:nvPr/>
        </p:nvSpPr>
        <p:spPr>
          <a:xfrm>
            <a:off x="6126480" y="384048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3931920"/>
            <a:ext cx="4754880" cy="868680"/>
          </a:xfrm>
          <a:prstGeom prst="rect">
            <a:avLst/>
          </a:prstGeom>
          <a:noFill/>
        </p:spPr>
        <p:txBody>
          <a:bodyPr wrap="none">
            <a:spAutoFit/>
          </a:bodyPr>
          <a:lstStyle/>
          <a:p>
            <a:pPr>
              <a:defRPr sz="1300" b="1">
                <a:solidFill>
                  <a:srgbClr val="38BDF8"/>
                </a:solidFill>
                <a:latin typeface="Arial"/>
              </a:defRPr>
            </a:pPr>
            <a:r>
              <a:t>7. Economics, Ethics &amp; Design Reflection</a:t>
            </a:r>
          </a:p>
          <a:p>
            <a:pPr>
              <a:defRPr sz="1100">
                <a:solidFill>
                  <a:srgbClr val="94A3B8"/>
                </a:solidFill>
                <a:latin typeface="Calibri"/>
              </a:defRPr>
            </a:pPr>
            <a:r>
              <a:t>Cloud cost breakdown ($0.15/candidate), bias mitigation, and design pivots.</a:t>
            </a:r>
          </a:p>
        </p:txBody>
      </p:sp>
      <p:sp>
        <p:nvSpPr>
          <p:cNvPr id="19" name="Rounded Rectangle 18"/>
          <p:cNvSpPr/>
          <p:nvPr/>
        </p:nvSpPr>
        <p:spPr>
          <a:xfrm>
            <a:off x="6126480" y="5029200"/>
            <a:ext cx="5120640" cy="10515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5120640"/>
            <a:ext cx="4754880" cy="868680"/>
          </a:xfrm>
          <a:prstGeom prst="rect">
            <a:avLst/>
          </a:prstGeom>
          <a:noFill/>
        </p:spPr>
        <p:txBody>
          <a:bodyPr wrap="none">
            <a:spAutoFit/>
          </a:bodyPr>
          <a:lstStyle/>
          <a:p>
            <a:pPr>
              <a:defRPr sz="1300" b="1">
                <a:solidFill>
                  <a:srgbClr val="38BDF8"/>
                </a:solidFill>
                <a:latin typeface="Arial"/>
              </a:defRPr>
            </a:pPr>
            <a:r>
              <a:t>8. Team Responsibility &amp; Conclusions</a:t>
            </a:r>
          </a:p>
          <a:p>
            <a:pPr>
              <a:defRPr sz="1100">
                <a:solidFill>
                  <a:srgbClr val="94A3B8"/>
                </a:solidFill>
                <a:latin typeface="Calibri"/>
              </a:defRPr>
            </a:pPr>
            <a:r>
              <a:t>Task division, technical roadmap, and Question &amp; Answer session.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INDUSTRIAL CONTEXT</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The 500+ Applicant Hiring Bottleneck</a:t>
            </a:r>
          </a:p>
        </p:txBody>
      </p:sp>
      <p:sp>
        <p:nvSpPr>
          <p:cNvPr id="5" name="Rounded Rectangle 4"/>
          <p:cNvSpPr/>
          <p:nvPr/>
        </p:nvSpPr>
        <p:spPr>
          <a:xfrm>
            <a:off x="7315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3017520" cy="365760"/>
          </a:xfrm>
          <a:prstGeom prst="rect">
            <a:avLst/>
          </a:prstGeom>
          <a:noFill/>
        </p:spPr>
        <p:txBody>
          <a:bodyPr wrap="none">
            <a:spAutoFit/>
          </a:bodyPr>
          <a:lstStyle/>
          <a:p>
            <a:pPr>
              <a:defRPr sz="1300" b="1">
                <a:solidFill>
                  <a:srgbClr val="38BDF8"/>
                </a:solidFill>
                <a:latin typeface="Arial"/>
              </a:defRPr>
            </a:pPr>
            <a:r>
              <a:t>1. High-Volume Ingestion Bottleneck</a:t>
            </a:r>
          </a:p>
        </p:txBody>
      </p:sp>
      <p:sp>
        <p:nvSpPr>
          <p:cNvPr id="7" name="TextBox 6"/>
          <p:cNvSpPr txBox="1"/>
          <p:nvPr/>
        </p:nvSpPr>
        <p:spPr>
          <a:xfrm>
            <a:off x="914400" y="2103120"/>
            <a:ext cx="3017520" cy="3840480"/>
          </a:xfrm>
          <a:prstGeom prst="rect">
            <a:avLst/>
          </a:prstGeom>
          <a:noFill/>
        </p:spPr>
        <p:txBody>
          <a:bodyPr wrap="none">
            <a:spAutoFit/>
          </a:bodyPr>
          <a:lstStyle/>
          <a:p>
            <a:pPr>
              <a:spcAft>
                <a:spcPts val="800"/>
              </a:spcAft>
              <a:defRPr sz="1200">
                <a:solidFill>
                  <a:srgbClr val="F8FAFC"/>
                </a:solidFill>
                <a:latin typeface="Calibri"/>
              </a:defRPr>
            </a:pPr>
            <a:r>
              <a:t>- Modern remote software roles attract 300 to 1,500 applicants per posting.</a:t>
            </a:r>
          </a:p>
          <a:p>
            <a:pPr>
              <a:spcAft>
                <a:spcPts val="800"/>
              </a:spcAft>
              <a:defRPr sz="1200">
                <a:solidFill>
                  <a:srgbClr val="F8FAFC"/>
                </a:solidFill>
                <a:latin typeface="Calibri"/>
              </a:defRPr>
            </a:pPr>
            <a:r>
              <a:t>- Manual CV review takes 2-5 minutes per resume (25+ hours for 500 CVs).</a:t>
            </a:r>
          </a:p>
          <a:p>
            <a:pPr>
              <a:spcAft>
                <a:spcPts val="800"/>
              </a:spcAft>
              <a:defRPr sz="1200">
                <a:solidFill>
                  <a:srgbClr val="F8FAFC"/>
                </a:solidFill>
                <a:latin typeface="Calibri"/>
              </a:defRPr>
            </a:pPr>
            <a:r>
              <a:t>- Severe recruiter cognitive fatigue leads to arbitrary candidate rejections.</a:t>
            </a:r>
          </a:p>
          <a:p>
            <a:pPr>
              <a:spcAft>
                <a:spcPts val="800"/>
              </a:spcAft>
              <a:defRPr sz="1200">
                <a:solidFill>
                  <a:srgbClr val="F8FAFC"/>
                </a:solidFill>
                <a:latin typeface="Calibri"/>
              </a:defRPr>
            </a:pPr>
            <a:r>
              <a:t>- Qualified software engineers are frequently overlooked due to superficial review.</a:t>
            </a:r>
          </a:p>
        </p:txBody>
      </p:sp>
      <p:sp>
        <p:nvSpPr>
          <p:cNvPr id="8" name="Rounded Rectangle 7"/>
          <p:cNvSpPr/>
          <p:nvPr/>
        </p:nvSpPr>
        <p:spPr>
          <a:xfrm>
            <a:off x="429768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691639"/>
            <a:ext cx="3017520" cy="365760"/>
          </a:xfrm>
          <a:prstGeom prst="rect">
            <a:avLst/>
          </a:prstGeom>
          <a:noFill/>
        </p:spPr>
        <p:txBody>
          <a:bodyPr wrap="none">
            <a:spAutoFit/>
          </a:bodyPr>
          <a:lstStyle/>
          <a:p>
            <a:pPr>
              <a:defRPr sz="1300" b="1">
                <a:solidFill>
                  <a:srgbClr val="38BDF8"/>
                </a:solidFill>
                <a:latin typeface="Arial"/>
              </a:defRPr>
            </a:pPr>
            <a:r>
              <a:t>2. Brittle String-Matching in Legacy ATS</a:t>
            </a:r>
          </a:p>
        </p:txBody>
      </p:sp>
      <p:sp>
        <p:nvSpPr>
          <p:cNvPr id="10" name="TextBox 9"/>
          <p:cNvSpPr txBox="1"/>
          <p:nvPr/>
        </p:nvSpPr>
        <p:spPr>
          <a:xfrm>
            <a:off x="4480560" y="2103120"/>
            <a:ext cx="3017520" cy="3840480"/>
          </a:xfrm>
          <a:prstGeom prst="rect">
            <a:avLst/>
          </a:prstGeom>
          <a:noFill/>
        </p:spPr>
        <p:txBody>
          <a:bodyPr wrap="none">
            <a:spAutoFit/>
          </a:bodyPr>
          <a:lstStyle/>
          <a:p>
            <a:pPr>
              <a:spcAft>
                <a:spcPts val="800"/>
              </a:spcAft>
              <a:defRPr sz="1200">
                <a:solidFill>
                  <a:srgbClr val="F8FAFC"/>
                </a:solidFill>
                <a:latin typeface="Calibri"/>
              </a:defRPr>
            </a:pPr>
            <a:r>
              <a:t>- Second-generation ATS tools rely on rigid keyword string searches.</a:t>
            </a:r>
          </a:p>
          <a:p>
            <a:pPr>
              <a:spcAft>
                <a:spcPts val="800"/>
              </a:spcAft>
              <a:defRPr sz="1200">
                <a:solidFill>
                  <a:srgbClr val="F8FAFC"/>
                </a:solidFill>
                <a:latin typeface="Calibri"/>
              </a:defRPr>
            </a:pPr>
            <a:r>
              <a:t>- Fails to recognize semantic equivalence (e.g., 'React.js' vs 'Frontend Engineer').</a:t>
            </a:r>
          </a:p>
          <a:p>
            <a:pPr>
              <a:spcAft>
                <a:spcPts val="800"/>
              </a:spcAft>
              <a:defRPr sz="1200">
                <a:solidFill>
                  <a:srgbClr val="F8FAFC"/>
                </a:solidFill>
                <a:latin typeface="Calibri"/>
              </a:defRPr>
            </a:pPr>
            <a:r>
              <a:t>- Encourages unethical 'keyword stuffing' and hidden white-text manipulation.</a:t>
            </a:r>
          </a:p>
          <a:p>
            <a:pPr>
              <a:spcAft>
                <a:spcPts val="800"/>
              </a:spcAft>
              <a:defRPr sz="1200">
                <a:solidFill>
                  <a:srgbClr val="F8FAFC"/>
                </a:solidFill>
                <a:latin typeface="Calibri"/>
              </a:defRPr>
            </a:pPr>
            <a:r>
              <a:t>- Completely lacks qualitative comprehension of project engineering depth.</a:t>
            </a:r>
          </a:p>
        </p:txBody>
      </p:sp>
      <p:sp>
        <p:nvSpPr>
          <p:cNvPr id="11" name="Rounded Rectangle 10"/>
          <p:cNvSpPr/>
          <p:nvPr/>
        </p:nvSpPr>
        <p:spPr>
          <a:xfrm>
            <a:off x="786384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691639"/>
            <a:ext cx="3017520" cy="365760"/>
          </a:xfrm>
          <a:prstGeom prst="rect">
            <a:avLst/>
          </a:prstGeom>
          <a:noFill/>
        </p:spPr>
        <p:txBody>
          <a:bodyPr wrap="none">
            <a:spAutoFit/>
          </a:bodyPr>
          <a:lstStyle/>
          <a:p>
            <a:pPr>
              <a:defRPr sz="1300" b="1">
                <a:solidFill>
                  <a:srgbClr val="38BDF8"/>
                </a:solidFill>
                <a:latin typeface="Arial"/>
              </a:defRPr>
            </a:pPr>
            <a:r>
              <a:t>3. Vulnerabilities in Remote Assessments</a:t>
            </a:r>
          </a:p>
        </p:txBody>
      </p:sp>
      <p:sp>
        <p:nvSpPr>
          <p:cNvPr id="13" name="TextBox 12"/>
          <p:cNvSpPr txBox="1"/>
          <p:nvPr/>
        </p:nvSpPr>
        <p:spPr>
          <a:xfrm>
            <a:off x="8046719" y="2103120"/>
            <a:ext cx="3017520" cy="3840480"/>
          </a:xfrm>
          <a:prstGeom prst="rect">
            <a:avLst/>
          </a:prstGeom>
          <a:noFill/>
        </p:spPr>
        <p:txBody>
          <a:bodyPr wrap="none">
            <a:spAutoFit/>
          </a:bodyPr>
          <a:lstStyle/>
          <a:p>
            <a:pPr>
              <a:spcAft>
                <a:spcPts val="800"/>
              </a:spcAft>
              <a:defRPr sz="1200">
                <a:solidFill>
                  <a:srgbClr val="F8FAFC"/>
                </a:solidFill>
                <a:latin typeface="Calibri"/>
              </a:defRPr>
            </a:pPr>
            <a:r>
              <a:t>- Client-side JavaScript timers are easily compromised via DOM manipulation.</a:t>
            </a:r>
          </a:p>
          <a:p>
            <a:pPr>
              <a:spcAft>
                <a:spcPts val="800"/>
              </a:spcAft>
              <a:defRPr sz="1200">
                <a:solidFill>
                  <a:srgbClr val="F8FAFC"/>
                </a:solidFill>
                <a:latin typeface="Calibri"/>
              </a:defRPr>
            </a:pPr>
            <a:r>
              <a:t>- Static MCQ question banks are rapidly leaked to public repositories.</a:t>
            </a:r>
          </a:p>
          <a:p>
            <a:pPr>
              <a:spcAft>
                <a:spcPts val="800"/>
              </a:spcAft>
              <a:defRPr sz="1200">
                <a:solidFill>
                  <a:srgbClr val="F8FAFC"/>
                </a:solidFill>
                <a:latin typeface="Calibri"/>
              </a:defRPr>
            </a:pPr>
            <a:r>
              <a:t>- Asynchronous 1-way video monologues alienate candidates with zero interaction.</a:t>
            </a:r>
          </a:p>
          <a:p>
            <a:pPr>
              <a:spcAft>
                <a:spcPts val="800"/>
              </a:spcAft>
              <a:defRPr sz="1200">
                <a:solidFill>
                  <a:srgbClr val="F8FAFC"/>
                </a:solidFill>
                <a:latin typeface="Calibri"/>
              </a:defRPr>
            </a:pPr>
            <a:r>
              <a:t>- Multi-service workflows suffer state desynchronization under network drops.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PROJECT FOUNDATIONS</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Aims &amp; SMART Engineering Objectives</a:t>
            </a:r>
          </a:p>
        </p:txBody>
      </p:sp>
      <p:sp>
        <p:nvSpPr>
          <p:cNvPr id="5" name="Rounded Rectangle 4"/>
          <p:cNvSpPr/>
          <p:nvPr/>
        </p:nvSpPr>
        <p:spPr>
          <a:xfrm>
            <a:off x="731520" y="1554480"/>
            <a:ext cx="365760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3291840" cy="365760"/>
          </a:xfrm>
          <a:prstGeom prst="rect">
            <a:avLst/>
          </a:prstGeom>
          <a:noFill/>
        </p:spPr>
        <p:txBody>
          <a:bodyPr wrap="none">
            <a:spAutoFit/>
          </a:bodyPr>
          <a:lstStyle/>
          <a:p>
            <a:pPr>
              <a:defRPr sz="1300" b="1">
                <a:solidFill>
                  <a:srgbClr val="38BDF8"/>
                </a:solidFill>
                <a:latin typeface="Arial"/>
              </a:defRPr>
            </a:pPr>
            <a:r>
              <a:t>OVERALL PROJECT AIM</a:t>
            </a:r>
          </a:p>
        </p:txBody>
      </p:sp>
      <p:sp>
        <p:nvSpPr>
          <p:cNvPr id="7" name="TextBox 6"/>
          <p:cNvSpPr txBox="1"/>
          <p:nvPr/>
        </p:nvSpPr>
        <p:spPr>
          <a:xfrm>
            <a:off x="914400" y="2103120"/>
            <a:ext cx="3291840" cy="3840480"/>
          </a:xfrm>
          <a:prstGeom prst="rect">
            <a:avLst/>
          </a:prstGeom>
          <a:noFill/>
        </p:spPr>
        <p:txBody>
          <a:bodyPr wrap="none">
            <a:spAutoFit/>
          </a:bodyPr>
          <a:lstStyle/>
          <a:p>
            <a:pPr>
              <a:spcAft>
                <a:spcPts val="1200"/>
              </a:spcAft>
              <a:defRPr sz="1300">
                <a:solidFill>
                  <a:srgbClr val="F8FAFC"/>
                </a:solidFill>
                <a:latin typeface="Calibri"/>
              </a:defRPr>
            </a:pPr>
            <a:r>
              <a:t>To design, engineer, and empirically validate a cloud-native, multi-tenant AI recruitment platform that unifies resume screening, anti-cheat assessments, and conversational avatar interviews while strictly guaranteeing data integrity, tenant isolation, and auditable evidence for human recruiters.</a:t>
            </a:r>
          </a:p>
          <a:p>
            <a:pPr>
              <a:defRPr sz="1200" i="1">
                <a:solidFill>
                  <a:srgbClr val="FBBF24"/>
                </a:solidFill>
                <a:latin typeface="Calibri"/>
              </a:defRPr>
            </a:pPr>
            <a:r>
              <a:t>Core Philosophy: AI is utilized strictly as an objective, evidence-gathering decision-support aid. The system strictly prohibits automated opaque rejection; all final hiring decisions remain with human recruiters.</a:t>
            </a:r>
          </a:p>
        </p:txBody>
      </p:sp>
      <p:sp>
        <p:nvSpPr>
          <p:cNvPr id="8" name="Rounded Rectangle 7"/>
          <p:cNvSpPr/>
          <p:nvPr/>
        </p:nvSpPr>
        <p:spPr>
          <a:xfrm>
            <a:off x="4663440" y="1554480"/>
            <a:ext cx="676656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0" y="1691639"/>
            <a:ext cx="6400800" cy="365760"/>
          </a:xfrm>
          <a:prstGeom prst="rect">
            <a:avLst/>
          </a:prstGeom>
          <a:noFill/>
        </p:spPr>
        <p:txBody>
          <a:bodyPr wrap="none">
            <a:spAutoFit/>
          </a:bodyPr>
          <a:lstStyle/>
          <a:p>
            <a:pPr>
              <a:defRPr sz="1300" b="1">
                <a:solidFill>
                  <a:srgbClr val="38BDF8"/>
                </a:solidFill>
                <a:latin typeface="Arial"/>
              </a:defRPr>
            </a:pPr>
            <a:r>
              <a:t>SIX SMART ENGINEERING OBJECTIVES</a:t>
            </a:r>
          </a:p>
        </p:txBody>
      </p:sp>
      <p:sp>
        <p:nvSpPr>
          <p:cNvPr id="10" name="TextBox 9"/>
          <p:cNvSpPr txBox="1"/>
          <p:nvPr/>
        </p:nvSpPr>
        <p:spPr>
          <a:xfrm>
            <a:off x="4846320" y="2103120"/>
            <a:ext cx="6400800" cy="3840480"/>
          </a:xfrm>
          <a:prstGeom prst="rect">
            <a:avLst/>
          </a:prstGeom>
          <a:noFill/>
        </p:spPr>
        <p:txBody>
          <a:bodyPr wrap="none">
            <a:spAutoFit/>
          </a:bodyPr>
          <a:lstStyle/>
          <a:p>
            <a:pPr>
              <a:spcAft>
                <a:spcPts val="200"/>
              </a:spcAft>
              <a:defRPr sz="1100" b="1">
                <a:solidFill>
                  <a:srgbClr val="38BDF8"/>
                </a:solidFill>
                <a:latin typeface="Arial"/>
              </a:defRPr>
            </a:pPr>
            <a:r>
              <a:t>O1. Multi-Tenant Workspace &amp; RBAC: </a:t>
            </a:r>
          </a:p>
          <a:p>
            <a:pPr>
              <a:spcAft>
                <a:spcPts val="600"/>
              </a:spcAft>
              <a:defRPr sz="1050">
                <a:solidFill>
                  <a:srgbClr val="F8FAFC"/>
                </a:solidFill>
                <a:latin typeface="Calibri"/>
              </a:defRPr>
            </a:pPr>
            <a:r>
              <a:t>Implement PostgreSQL Row-Level Security (RLS) guaranteeing zero cross-tenant data leakage across Owner, Admin, Recruiter, Interviewer, and Viewer roles.</a:t>
            </a:r>
          </a:p>
          <a:p>
            <a:pPr>
              <a:spcAft>
                <a:spcPts val="200"/>
              </a:spcAft>
              <a:defRPr sz="1100" b="1">
                <a:solidFill>
                  <a:srgbClr val="38BDF8"/>
                </a:solidFill>
                <a:latin typeface="Arial"/>
              </a:defRPr>
            </a:pPr>
            <a:r>
              <a:t>O2. Resilient Resume Ingestion &amp; Parsing: </a:t>
            </a:r>
          </a:p>
          <a:p>
            <a:pPr>
              <a:spcAft>
                <a:spcPts val="600"/>
              </a:spcAft>
              <a:defRPr sz="1050">
                <a:solidFill>
                  <a:srgbClr val="F8FAFC"/>
                </a:solidFill>
                <a:latin typeface="Calibri"/>
              </a:defRPr>
            </a:pPr>
            <a:r>
              <a:t>Extract text streams from PDF/DOCX via PyMuPDF with OCR fallback; enforce structured LLM evaluation via Pydantic v2 schemas.</a:t>
            </a:r>
          </a:p>
          <a:p>
            <a:pPr>
              <a:spcAft>
                <a:spcPts val="200"/>
              </a:spcAft>
              <a:defRPr sz="1100" b="1">
                <a:solidFill>
                  <a:srgbClr val="38BDF8"/>
                </a:solidFill>
                <a:latin typeface="Arial"/>
              </a:defRPr>
            </a:pPr>
            <a:r>
              <a:t>O3. Server-Authoritative Anti-Cheat Testing: </a:t>
            </a:r>
          </a:p>
          <a:p>
            <a:pPr>
              <a:spcAft>
                <a:spcPts val="600"/>
              </a:spcAft>
              <a:defRPr sz="1050">
                <a:solidFill>
                  <a:srgbClr val="F8FAFC"/>
                </a:solidFill>
                <a:latin typeface="Calibri"/>
              </a:defRPr>
            </a:pPr>
            <a:r>
              <a:t>Generate 10 dynamic technical MCQs; enforce 45s countdown strictly via database timestamps, eliminating client-side clock tampering.</a:t>
            </a:r>
          </a:p>
          <a:p>
            <a:pPr>
              <a:spcAft>
                <a:spcPts val="200"/>
              </a:spcAft>
              <a:defRPr sz="1100" b="1">
                <a:solidFill>
                  <a:srgbClr val="38BDF8"/>
                </a:solidFill>
                <a:latin typeface="Arial"/>
              </a:defRPr>
            </a:pPr>
            <a:r>
              <a:t>O4. Multimodal Conversational Video Interview: </a:t>
            </a:r>
          </a:p>
          <a:p>
            <a:pPr>
              <a:spcAft>
                <a:spcPts val="600"/>
              </a:spcAft>
              <a:defRPr sz="1050">
                <a:solidFill>
                  <a:srgbClr val="F8FAFC"/>
                </a:solidFill>
                <a:latin typeface="Calibri"/>
              </a:defRPr>
            </a:pPr>
            <a:r>
              <a:t>Stream real-time WebRTC neural video avatar (Simli) with Deepgram STT transcription (&lt;400ms) and ElevenLabs TTS, supporting typed text fallback.</a:t>
            </a:r>
          </a:p>
          <a:p>
            <a:pPr>
              <a:spcAft>
                <a:spcPts val="200"/>
              </a:spcAft>
              <a:defRPr sz="1100" b="1">
                <a:solidFill>
                  <a:srgbClr val="38BDF8"/>
                </a:solidFill>
                <a:latin typeface="Arial"/>
              </a:defRPr>
            </a:pPr>
            <a:r>
              <a:t>O5. Multi-Dimensional Composite Scoring: </a:t>
            </a:r>
          </a:p>
          <a:p>
            <a:pPr>
              <a:spcAft>
                <a:spcPts val="600"/>
              </a:spcAft>
              <a:defRPr sz="1050">
                <a:solidFill>
                  <a:srgbClr val="F8FAFC"/>
                </a:solidFill>
                <a:latin typeface="Calibri"/>
              </a:defRPr>
            </a:pPr>
            <a:r>
              <a:t>Calculate weighted composite scorecard: 30% Resume Fit + 30% Assessment + 40% Interview, with complete verbatim evidence backing.</a:t>
            </a:r>
          </a:p>
          <a:p>
            <a:pPr>
              <a:spcAft>
                <a:spcPts val="200"/>
              </a:spcAft>
              <a:defRPr sz="1100" b="1">
                <a:solidFill>
                  <a:srgbClr val="38BDF8"/>
                </a:solidFill>
                <a:latin typeface="Arial"/>
              </a:defRPr>
            </a:pPr>
            <a:r>
              <a:t>O6. Comprehensive Verification Suite: </a:t>
            </a:r>
          </a:p>
          <a:p>
            <a:pPr>
              <a:spcAft>
                <a:spcPts val="600"/>
              </a:spcAft>
              <a:defRPr sz="1050">
                <a:solidFill>
                  <a:srgbClr val="F8FAFC"/>
                </a:solidFill>
                <a:latin typeface="Calibri"/>
              </a:defRPr>
            </a:pPr>
            <a:r>
              <a:t>Execute 32 formal test cases across unit, database RLS, and live cloud deployment boundaries with 100% pass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SOLUTION BLUEPRINT</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The 3-Stage Candidate Evaluation Journey</a:t>
            </a:r>
          </a:p>
        </p:txBody>
      </p:sp>
      <p:sp>
        <p:nvSpPr>
          <p:cNvPr id="5" name="Rounded Rectangle 4"/>
          <p:cNvSpPr/>
          <p:nvPr/>
        </p:nvSpPr>
        <p:spPr>
          <a:xfrm>
            <a:off x="7315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3017520" cy="365760"/>
          </a:xfrm>
          <a:prstGeom prst="rect">
            <a:avLst/>
          </a:prstGeom>
          <a:noFill/>
        </p:spPr>
        <p:txBody>
          <a:bodyPr wrap="none">
            <a:spAutoFit/>
          </a:bodyPr>
          <a:lstStyle/>
          <a:p>
            <a:pPr>
              <a:defRPr sz="1300" b="1">
                <a:solidFill>
                  <a:srgbClr val="38BDF8"/>
                </a:solidFill>
                <a:latin typeface="Arial"/>
              </a:defRPr>
            </a:pPr>
            <a:r>
              <a:t>STAGE 1: RESUME SCREENING</a:t>
            </a:r>
          </a:p>
        </p:txBody>
      </p:sp>
      <p:sp>
        <p:nvSpPr>
          <p:cNvPr id="7" name="TextBox 6"/>
          <p:cNvSpPr txBox="1"/>
          <p:nvPr/>
        </p:nvSpPr>
        <p:spPr>
          <a:xfrm>
            <a:off x="914400" y="2057400"/>
            <a:ext cx="3017520" cy="320040"/>
          </a:xfrm>
          <a:prstGeom prst="rect">
            <a:avLst/>
          </a:prstGeom>
          <a:noFill/>
        </p:spPr>
        <p:txBody>
          <a:bodyPr wrap="none">
            <a:spAutoFit/>
          </a:bodyPr>
          <a:lstStyle/>
          <a:p>
            <a:pPr>
              <a:defRPr sz="1100" b="1">
                <a:solidFill>
                  <a:srgbClr val="38BDF8"/>
                </a:solidFill>
                <a:latin typeface="Arial"/>
              </a:defRPr>
            </a:pPr>
            <a:r>
              <a:t>Weight: 30% of Composite Score</a:t>
            </a:r>
          </a:p>
        </p:txBody>
      </p:sp>
      <p:sp>
        <p:nvSpPr>
          <p:cNvPr id="8" name="TextBox 7"/>
          <p:cNvSpPr txBox="1"/>
          <p:nvPr/>
        </p:nvSpPr>
        <p:spPr>
          <a:xfrm>
            <a:off x="914400" y="2423160"/>
            <a:ext cx="3017520" cy="3474720"/>
          </a:xfrm>
          <a:prstGeom prst="rect">
            <a:avLst/>
          </a:prstGeom>
          <a:noFill/>
        </p:spPr>
        <p:txBody>
          <a:bodyPr wrap="none">
            <a:spAutoFit/>
          </a:bodyPr>
          <a:lstStyle/>
          <a:p>
            <a:pPr>
              <a:spcAft>
                <a:spcPts val="800"/>
              </a:spcAft>
              <a:defRPr sz="1200">
                <a:solidFill>
                  <a:srgbClr val="F8FAFC"/>
                </a:solidFill>
                <a:latin typeface="Calibri"/>
              </a:defRPr>
            </a:pPr>
            <a:r>
              <a:t>- Candidate submits PDF/DOCX resume.</a:t>
            </a:r>
          </a:p>
          <a:p>
            <a:pPr>
              <a:spcAft>
                <a:spcPts val="800"/>
              </a:spcAft>
              <a:defRPr sz="1200">
                <a:solidFill>
                  <a:srgbClr val="F8FAFC"/>
                </a:solidFill>
                <a:latin typeface="Calibri"/>
              </a:defRPr>
            </a:pPr>
            <a:r>
              <a:t>- PyMuPDF extracts linearized text stream.</a:t>
            </a:r>
          </a:p>
          <a:p>
            <a:pPr>
              <a:spcAft>
                <a:spcPts val="800"/>
              </a:spcAft>
              <a:defRPr sz="1200">
                <a:solidFill>
                  <a:srgbClr val="F8FAFC"/>
                </a:solidFill>
                <a:latin typeface="Calibri"/>
              </a:defRPr>
            </a:pPr>
            <a:r>
              <a:t>- Gemini 1.5 Flash evaluates technical fit.</a:t>
            </a:r>
          </a:p>
          <a:p>
            <a:pPr>
              <a:spcAft>
                <a:spcPts val="800"/>
              </a:spcAft>
              <a:defRPr sz="1200">
                <a:solidFill>
                  <a:srgbClr val="F8FAFC"/>
                </a:solidFill>
                <a:latin typeface="Calibri"/>
              </a:defRPr>
            </a:pPr>
            <a:r>
              <a:t>- Outputs matched skills with source quotes.</a:t>
            </a:r>
          </a:p>
          <a:p>
            <a:pPr>
              <a:spcAft>
                <a:spcPts val="800"/>
              </a:spcAft>
              <a:defRPr sz="1200">
                <a:solidFill>
                  <a:srgbClr val="F8FAFC"/>
                </a:solidFill>
                <a:latin typeface="Calibri"/>
              </a:defRPr>
            </a:pPr>
            <a:r>
              <a:t>- Identifies missing job prerequisites.</a:t>
            </a:r>
          </a:p>
          <a:p>
            <a:pPr>
              <a:spcAft>
                <a:spcPts val="800"/>
              </a:spcAft>
              <a:defRPr sz="1200">
                <a:solidFill>
                  <a:srgbClr val="F8FAFC"/>
                </a:solidFill>
                <a:latin typeface="Calibri"/>
              </a:defRPr>
            </a:pPr>
            <a:r>
              <a:t>- Returns quantitative match score (0-100).</a:t>
            </a:r>
          </a:p>
        </p:txBody>
      </p:sp>
      <p:sp>
        <p:nvSpPr>
          <p:cNvPr id="9" name="Rounded Rectangle 8"/>
          <p:cNvSpPr/>
          <p:nvPr/>
        </p:nvSpPr>
        <p:spPr>
          <a:xfrm>
            <a:off x="429768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691639"/>
            <a:ext cx="3017520" cy="365760"/>
          </a:xfrm>
          <a:prstGeom prst="rect">
            <a:avLst/>
          </a:prstGeom>
          <a:noFill/>
        </p:spPr>
        <p:txBody>
          <a:bodyPr wrap="none">
            <a:spAutoFit/>
          </a:bodyPr>
          <a:lstStyle/>
          <a:p>
            <a:pPr>
              <a:defRPr sz="1300" b="1">
                <a:solidFill>
                  <a:srgbClr val="38BDF8"/>
                </a:solidFill>
                <a:latin typeface="Arial"/>
              </a:defRPr>
            </a:pPr>
            <a:r>
              <a:t>STAGE 2: SKILLS ASSESSMENT</a:t>
            </a:r>
          </a:p>
        </p:txBody>
      </p:sp>
      <p:sp>
        <p:nvSpPr>
          <p:cNvPr id="11" name="TextBox 10"/>
          <p:cNvSpPr txBox="1"/>
          <p:nvPr/>
        </p:nvSpPr>
        <p:spPr>
          <a:xfrm>
            <a:off x="4480560" y="2057400"/>
            <a:ext cx="3017520" cy="320040"/>
          </a:xfrm>
          <a:prstGeom prst="rect">
            <a:avLst/>
          </a:prstGeom>
          <a:noFill/>
        </p:spPr>
        <p:txBody>
          <a:bodyPr wrap="none">
            <a:spAutoFit/>
          </a:bodyPr>
          <a:lstStyle/>
          <a:p>
            <a:pPr>
              <a:defRPr sz="1100" b="1">
                <a:solidFill>
                  <a:srgbClr val="FF6B6B"/>
                </a:solidFill>
                <a:latin typeface="Arial"/>
              </a:defRPr>
            </a:pPr>
            <a:r>
              <a:t>Weight: 30% of Composite Score</a:t>
            </a:r>
          </a:p>
        </p:txBody>
      </p:sp>
      <p:sp>
        <p:nvSpPr>
          <p:cNvPr id="12" name="TextBox 11"/>
          <p:cNvSpPr txBox="1"/>
          <p:nvPr/>
        </p:nvSpPr>
        <p:spPr>
          <a:xfrm>
            <a:off x="4480560" y="2423160"/>
            <a:ext cx="3017520" cy="3474720"/>
          </a:xfrm>
          <a:prstGeom prst="rect">
            <a:avLst/>
          </a:prstGeom>
          <a:noFill/>
        </p:spPr>
        <p:txBody>
          <a:bodyPr wrap="none">
            <a:spAutoFit/>
          </a:bodyPr>
          <a:lstStyle/>
          <a:p>
            <a:pPr>
              <a:spcAft>
                <a:spcPts val="800"/>
              </a:spcAft>
              <a:defRPr sz="1200">
                <a:solidFill>
                  <a:srgbClr val="F8FAFC"/>
                </a:solidFill>
                <a:latin typeface="Calibri"/>
              </a:defRPr>
            </a:pPr>
            <a:r>
              <a:t>- Generates 10 dynamic technical MCQs.</a:t>
            </a:r>
          </a:p>
          <a:p>
            <a:pPr>
              <a:spcAft>
                <a:spcPts val="800"/>
              </a:spcAft>
              <a:defRPr sz="1200">
                <a:solidFill>
                  <a:srgbClr val="F8FAFC"/>
                </a:solidFill>
                <a:latin typeface="Calibri"/>
              </a:defRPr>
            </a:pPr>
            <a:r>
              <a:t>- Questions tailored to requisition skills.</a:t>
            </a:r>
          </a:p>
          <a:p>
            <a:pPr>
              <a:spcAft>
                <a:spcPts val="800"/>
              </a:spcAft>
              <a:defRPr sz="1200">
                <a:solidFill>
                  <a:srgbClr val="F8FAFC"/>
                </a:solidFill>
                <a:latin typeface="Calibri"/>
              </a:defRPr>
            </a:pPr>
            <a:r>
              <a:t>- Strict 45s countdown enforced by server.</a:t>
            </a:r>
          </a:p>
          <a:p>
            <a:pPr>
              <a:spcAft>
                <a:spcPts val="800"/>
              </a:spcAft>
              <a:defRPr sz="1200">
                <a:solidFill>
                  <a:srgbClr val="F8FAFC"/>
                </a:solidFill>
                <a:latin typeface="Calibri"/>
              </a:defRPr>
            </a:pPr>
            <a:r>
              <a:t>- Late submissions rejected by database.</a:t>
            </a:r>
          </a:p>
          <a:p>
            <a:pPr>
              <a:spcAft>
                <a:spcPts val="800"/>
              </a:spcAft>
              <a:defRPr sz="1200">
                <a:solidFill>
                  <a:srgbClr val="F8FAFC"/>
                </a:solidFill>
                <a:latin typeface="Calibri"/>
              </a:defRPr>
            </a:pPr>
            <a:r>
              <a:t>- Encrypted answer key verification.</a:t>
            </a:r>
          </a:p>
          <a:p>
            <a:pPr>
              <a:spcAft>
                <a:spcPts val="800"/>
              </a:spcAft>
              <a:defRPr sz="1200">
                <a:solidFill>
                  <a:srgbClr val="F8FAFC"/>
                </a:solidFill>
                <a:latin typeface="Calibri"/>
              </a:defRPr>
            </a:pPr>
            <a:r>
              <a:t>- Answers recorded immutably on submit.</a:t>
            </a:r>
          </a:p>
        </p:txBody>
      </p:sp>
      <p:sp>
        <p:nvSpPr>
          <p:cNvPr id="13" name="Rounded Rectangle 12"/>
          <p:cNvSpPr/>
          <p:nvPr/>
        </p:nvSpPr>
        <p:spPr>
          <a:xfrm>
            <a:off x="786384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19" y="1691639"/>
            <a:ext cx="3017520" cy="365760"/>
          </a:xfrm>
          <a:prstGeom prst="rect">
            <a:avLst/>
          </a:prstGeom>
          <a:noFill/>
        </p:spPr>
        <p:txBody>
          <a:bodyPr wrap="none">
            <a:spAutoFit/>
          </a:bodyPr>
          <a:lstStyle/>
          <a:p>
            <a:pPr>
              <a:defRPr sz="1300" b="1">
                <a:solidFill>
                  <a:srgbClr val="38BDF8"/>
                </a:solidFill>
                <a:latin typeface="Arial"/>
              </a:defRPr>
            </a:pPr>
            <a:r>
              <a:t>STAGE 3: CONVERSATIONAL INTERVIEW</a:t>
            </a:r>
          </a:p>
        </p:txBody>
      </p:sp>
      <p:sp>
        <p:nvSpPr>
          <p:cNvPr id="15" name="TextBox 14"/>
          <p:cNvSpPr txBox="1"/>
          <p:nvPr/>
        </p:nvSpPr>
        <p:spPr>
          <a:xfrm>
            <a:off x="8046719" y="2057400"/>
            <a:ext cx="3017520" cy="320040"/>
          </a:xfrm>
          <a:prstGeom prst="rect">
            <a:avLst/>
          </a:prstGeom>
          <a:noFill/>
        </p:spPr>
        <p:txBody>
          <a:bodyPr wrap="none">
            <a:spAutoFit/>
          </a:bodyPr>
          <a:lstStyle/>
          <a:p>
            <a:pPr>
              <a:defRPr sz="1100" b="1">
                <a:solidFill>
                  <a:srgbClr val="34D399"/>
                </a:solidFill>
                <a:latin typeface="Arial"/>
              </a:defRPr>
            </a:pPr>
            <a:r>
              <a:t>Weight: 40% of Composite Score</a:t>
            </a:r>
          </a:p>
        </p:txBody>
      </p:sp>
      <p:sp>
        <p:nvSpPr>
          <p:cNvPr id="16" name="TextBox 15"/>
          <p:cNvSpPr txBox="1"/>
          <p:nvPr/>
        </p:nvSpPr>
        <p:spPr>
          <a:xfrm>
            <a:off x="8046719" y="2423160"/>
            <a:ext cx="3017520" cy="3474720"/>
          </a:xfrm>
          <a:prstGeom prst="rect">
            <a:avLst/>
          </a:prstGeom>
          <a:noFill/>
        </p:spPr>
        <p:txBody>
          <a:bodyPr wrap="none">
            <a:spAutoFit/>
          </a:bodyPr>
          <a:lstStyle/>
          <a:p>
            <a:pPr>
              <a:spcAft>
                <a:spcPts val="800"/>
              </a:spcAft>
              <a:defRPr sz="1200">
                <a:solidFill>
                  <a:srgbClr val="F8FAFC"/>
                </a:solidFill>
                <a:latin typeface="Calibri"/>
              </a:defRPr>
            </a:pPr>
            <a:r>
              <a:t>- Simli renders neural video avatar (720p).</a:t>
            </a:r>
          </a:p>
          <a:p>
            <a:pPr>
              <a:spcAft>
                <a:spcPts val="800"/>
              </a:spcAft>
              <a:defRPr sz="1200">
                <a:solidFill>
                  <a:srgbClr val="F8FAFC"/>
                </a:solidFill>
                <a:latin typeface="Calibri"/>
              </a:defRPr>
            </a:pPr>
            <a:r>
              <a:t>- ElevenLabs speaks question with voice prosody.</a:t>
            </a:r>
          </a:p>
          <a:p>
            <a:pPr>
              <a:spcAft>
                <a:spcPts val="800"/>
              </a:spcAft>
              <a:defRPr sz="1200">
                <a:solidFill>
                  <a:srgbClr val="F8FAFC"/>
                </a:solidFill>
                <a:latin typeface="Calibri"/>
              </a:defRPr>
            </a:pPr>
            <a:r>
              <a:t>- Candidate speaks answer via microphone.</a:t>
            </a:r>
          </a:p>
          <a:p>
            <a:pPr>
              <a:spcAft>
                <a:spcPts val="800"/>
              </a:spcAft>
              <a:defRPr sz="1200">
                <a:solidFill>
                  <a:srgbClr val="F8FAFC"/>
                </a:solidFill>
                <a:latin typeface="Calibri"/>
              </a:defRPr>
            </a:pPr>
            <a:r>
              <a:t>- Deepgram streams live STT transcription.</a:t>
            </a:r>
          </a:p>
          <a:p>
            <a:pPr>
              <a:spcAft>
                <a:spcPts val="800"/>
              </a:spcAft>
              <a:defRPr sz="1200">
                <a:solidFill>
                  <a:srgbClr val="F8FAFC"/>
                </a:solidFill>
                <a:latin typeface="Calibri"/>
              </a:defRPr>
            </a:pPr>
            <a:r>
              <a:t>- Candidate verifies/edits transcript text.</a:t>
            </a:r>
          </a:p>
          <a:p>
            <a:pPr>
              <a:spcAft>
                <a:spcPts val="800"/>
              </a:spcAft>
              <a:defRPr sz="1200">
                <a:solidFill>
                  <a:srgbClr val="F8FAFC"/>
                </a:solidFill>
                <a:latin typeface="Calibri"/>
              </a:defRPr>
            </a:pPr>
            <a:r>
              <a:t>- Gemini evaluates technical correctness &amp; depth.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BACKGROUND &amp; LITERATURE</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Comparative Analysis &amp; Research Novelty Gap</a:t>
            </a:r>
          </a:p>
        </p:txBody>
      </p:sp>
      <p:sp>
        <p:nvSpPr>
          <p:cNvPr id="5" name="Rounded Rectangle 4"/>
          <p:cNvSpPr/>
          <p:nvPr/>
        </p:nvSpPr>
        <p:spPr>
          <a:xfrm>
            <a:off x="731520" y="1554480"/>
            <a:ext cx="10728655"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10362895" cy="365760"/>
          </a:xfrm>
          <a:prstGeom prst="rect">
            <a:avLst/>
          </a:prstGeom>
          <a:noFill/>
        </p:spPr>
        <p:txBody>
          <a:bodyPr wrap="none">
            <a:spAutoFit/>
          </a:bodyPr>
          <a:lstStyle/>
          <a:p>
            <a:pPr>
              <a:defRPr sz="1300" b="1">
                <a:solidFill>
                  <a:srgbClr val="38BDF8"/>
                </a:solidFill>
                <a:latin typeface="Arial"/>
              </a:defRPr>
            </a:pPr>
            <a:r>
              <a:t>SYSTEM COMPARISON MATRIX ACROSS EVALUATION DIMENSIONS</a:t>
            </a:r>
          </a:p>
        </p:txBody>
      </p:sp>
      <p:graphicFrame>
        <p:nvGraphicFramePr>
          <p:cNvPr id="7" name="Table 6"/>
          <p:cNvGraphicFramePr>
            <a:graphicFrameLocks noGrp="1"/>
          </p:cNvGraphicFramePr>
          <p:nvPr/>
        </p:nvGraphicFramePr>
        <p:xfrm>
          <a:off x="1005840" y="2103120"/>
          <a:ext cx="10149840" cy="2926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87680">
                <a:tc>
                  <a:txBody>
                    <a:bodyPr/>
                    <a:lstStyle/>
                    <a:p>
                      <a:pPr algn="l">
                        <a:defRPr sz="1100" b="1">
                          <a:solidFill>
                            <a:srgbClr val="38BDF8"/>
                          </a:solidFill>
                          <a:latin typeface="Arial"/>
                        </a:defRPr>
                      </a:pPr>
                      <a:r>
                        <a:t>Platform / System</a:t>
                      </a:r>
                    </a:p>
                  </a:txBody>
                  <a:tcPr>
                    <a:solidFill>
                      <a:srgbClr val="0F172A"/>
                    </a:solidFill>
                  </a:tcPr>
                </a:tc>
                <a:tc>
                  <a:txBody>
                    <a:bodyPr/>
                    <a:lstStyle/>
                    <a:p>
                      <a:pPr algn="ctr">
                        <a:defRPr sz="1100" b="1">
                          <a:solidFill>
                            <a:srgbClr val="38BDF8"/>
                          </a:solidFill>
                          <a:latin typeface="Arial"/>
                        </a:defRPr>
                      </a:pPr>
                      <a:r>
                        <a:t>Resume Screening</a:t>
                      </a:r>
                    </a:p>
                  </a:txBody>
                  <a:tcPr>
                    <a:solidFill>
                      <a:srgbClr val="0F172A"/>
                    </a:solidFill>
                  </a:tcPr>
                </a:tc>
                <a:tc>
                  <a:txBody>
                    <a:bodyPr/>
                    <a:lstStyle/>
                    <a:p>
                      <a:pPr algn="ctr">
                        <a:defRPr sz="1100" b="1">
                          <a:solidFill>
                            <a:srgbClr val="38BDF8"/>
                          </a:solidFill>
                          <a:latin typeface="Arial"/>
                        </a:defRPr>
                      </a:pPr>
                      <a:r>
                        <a:t>Technical Assessment</a:t>
                      </a:r>
                    </a:p>
                  </a:txBody>
                  <a:tcPr>
                    <a:solidFill>
                      <a:srgbClr val="0F172A"/>
                    </a:solidFill>
                  </a:tcPr>
                </a:tc>
                <a:tc>
                  <a:txBody>
                    <a:bodyPr/>
                    <a:lstStyle/>
                    <a:p>
                      <a:pPr algn="ctr">
                        <a:defRPr sz="1100" b="1">
                          <a:solidFill>
                            <a:srgbClr val="38BDF8"/>
                          </a:solidFill>
                          <a:latin typeface="Arial"/>
                        </a:defRPr>
                      </a:pPr>
                      <a:r>
                        <a:t>Conversational AI</a:t>
                      </a:r>
                    </a:p>
                  </a:txBody>
                  <a:tcPr>
                    <a:solidFill>
                      <a:srgbClr val="0F172A"/>
                    </a:solidFill>
                  </a:tcPr>
                </a:tc>
                <a:tc>
                  <a:txBody>
                    <a:bodyPr/>
                    <a:lstStyle/>
                    <a:p>
                      <a:pPr algn="ctr">
                        <a:defRPr sz="1100" b="1">
                          <a:solidFill>
                            <a:srgbClr val="38BDF8"/>
                          </a:solidFill>
                          <a:latin typeface="Arial"/>
                        </a:defRPr>
                      </a:pPr>
                      <a:r>
                        <a:t>Tenant Isolation</a:t>
                      </a:r>
                    </a:p>
                  </a:txBody>
                  <a:tcPr>
                    <a:solidFill>
                      <a:srgbClr val="0F172A"/>
                    </a:solidFill>
                  </a:tcPr>
                </a:tc>
                <a:tc>
                  <a:txBody>
                    <a:bodyPr/>
                    <a:lstStyle/>
                    <a:p>
                      <a:pPr algn="ctr">
                        <a:defRPr sz="1100" b="1">
                          <a:solidFill>
                            <a:srgbClr val="38BDF8"/>
                          </a:solidFill>
                          <a:latin typeface="Arial"/>
                        </a:defRPr>
                      </a:pPr>
                      <a:r>
                        <a:t>Audit Evidence</a:t>
                      </a:r>
                    </a:p>
                  </a:txBody>
                  <a:tcPr>
                    <a:solidFill>
                      <a:srgbClr val="0F172A"/>
                    </a:solidFill>
                  </a:tcPr>
                </a:tc>
                <a:extLst>
                  <a:ext uri="{0D108BD9-81ED-4DB2-BD59-A6C34878D82A}">
                    <a16:rowId xmlns:a16="http://schemas.microsoft.com/office/drawing/2014/main" val="10000"/>
                  </a:ext>
                </a:extLst>
              </a:tr>
              <a:tr h="487680">
                <a:tc>
                  <a:txBody>
                    <a:bodyPr/>
                    <a:lstStyle/>
                    <a:p>
                      <a:pPr algn="l">
                        <a:defRPr sz="1050" b="0">
                          <a:solidFill>
                            <a:srgbClr val="F8FAFC"/>
                          </a:solidFill>
                          <a:latin typeface="Calibri"/>
                        </a:defRPr>
                      </a:pPr>
                      <a:r>
                        <a:t>Legacy ATS (Taleo, Workday)</a:t>
                      </a:r>
                    </a:p>
                  </a:txBody>
                  <a:tcPr/>
                </a:tc>
                <a:tc>
                  <a:txBody>
                    <a:bodyPr/>
                    <a:lstStyle/>
                    <a:p>
                      <a:pPr algn="ctr">
                        <a:defRPr sz="1050" b="0">
                          <a:solidFill>
                            <a:srgbClr val="F8FAFC"/>
                          </a:solidFill>
                          <a:latin typeface="Calibri"/>
                        </a:defRPr>
                      </a:pPr>
                      <a:r>
                        <a:t>Brittle keyword matching</a:t>
                      </a:r>
                    </a:p>
                  </a:txBody>
                  <a:tcPr/>
                </a:tc>
                <a:tc>
                  <a:txBody>
                    <a:bodyPr/>
                    <a:lstStyle/>
                    <a:p>
                      <a:pPr algn="ctr">
                        <a:defRPr sz="1050" b="0">
                          <a:solidFill>
                            <a:srgbClr val="F8FAFC"/>
                          </a:solidFill>
                          <a:latin typeface="Calibri"/>
                        </a:defRPr>
                      </a:pPr>
                      <a:r>
                        <a:t>External redirect link</a:t>
                      </a:r>
                    </a:p>
                  </a:txBody>
                  <a:tcPr/>
                </a:tc>
                <a:tc>
                  <a:txBody>
                    <a:bodyPr/>
                    <a:lstStyle/>
                    <a:p>
                      <a:pPr algn="ctr">
                        <a:defRPr sz="1050" b="0">
                          <a:solidFill>
                            <a:srgbClr val="F8FAFC"/>
                          </a:solidFill>
                          <a:latin typeface="Calibri"/>
                        </a:defRPr>
                      </a:pPr>
                      <a:r>
                        <a:t>None (manual call)</a:t>
                      </a:r>
                    </a:p>
                  </a:txBody>
                  <a:tcPr/>
                </a:tc>
                <a:tc>
                  <a:txBody>
                    <a:bodyPr/>
                    <a:lstStyle/>
                    <a:p>
                      <a:pPr algn="ctr">
                        <a:defRPr sz="1050" b="0">
                          <a:solidFill>
                            <a:srgbClr val="F8FAFC"/>
                          </a:solidFill>
                          <a:latin typeface="Calibri"/>
                        </a:defRPr>
                      </a:pPr>
                      <a:r>
                        <a:t>App-level WHERE</a:t>
                      </a:r>
                    </a:p>
                  </a:txBody>
                  <a:tcPr/>
                </a:tc>
                <a:tc>
                  <a:txBody>
                    <a:bodyPr/>
                    <a:lstStyle/>
                    <a:p>
                      <a:pPr algn="ctr">
                        <a:defRPr sz="1050" b="0">
                          <a:solidFill>
                            <a:srgbClr val="F8FAFC"/>
                          </a:solidFill>
                          <a:latin typeface="Calibri"/>
                        </a:defRPr>
                      </a:pPr>
                      <a:r>
                        <a:t>Disjoint text notes</a:t>
                      </a:r>
                    </a:p>
                  </a:txBody>
                  <a:tcPr/>
                </a:tc>
                <a:extLst>
                  <a:ext uri="{0D108BD9-81ED-4DB2-BD59-A6C34878D82A}">
                    <a16:rowId xmlns:a16="http://schemas.microsoft.com/office/drawing/2014/main" val="10001"/>
                  </a:ext>
                </a:extLst>
              </a:tr>
              <a:tr h="487680">
                <a:tc>
                  <a:txBody>
                    <a:bodyPr/>
                    <a:lstStyle/>
                    <a:p>
                      <a:pPr algn="l">
                        <a:defRPr sz="1050" b="0">
                          <a:solidFill>
                            <a:srgbClr val="F8FAFC"/>
                          </a:solidFill>
                          <a:latin typeface="Calibri"/>
                        </a:defRPr>
                      </a:pPr>
                      <a:r>
                        <a:t>HireVue</a:t>
                      </a:r>
                    </a:p>
                  </a:txBody>
                  <a:tcPr/>
                </a:tc>
                <a:tc>
                  <a:txBody>
                    <a:bodyPr/>
                    <a:lstStyle/>
                    <a:p>
                      <a:pPr algn="ctr">
                        <a:defRPr sz="1050" b="0">
                          <a:solidFill>
                            <a:srgbClr val="F8FAFC"/>
                          </a:solidFill>
                          <a:latin typeface="Calibri"/>
                        </a:defRPr>
                      </a:pPr>
                      <a:r>
                        <a:t>Proprietary NLP ranking</a:t>
                      </a:r>
                    </a:p>
                  </a:txBody>
                  <a:tcPr/>
                </a:tc>
                <a:tc>
                  <a:txBody>
                    <a:bodyPr/>
                    <a:lstStyle/>
                    <a:p>
                      <a:pPr algn="ctr">
                        <a:defRPr sz="1050" b="0">
                          <a:solidFill>
                            <a:srgbClr val="F8FAFC"/>
                          </a:solidFill>
                          <a:latin typeface="Calibri"/>
                        </a:defRPr>
                      </a:pPr>
                      <a:r>
                        <a:t>Proprietary video AI</a:t>
                      </a:r>
                    </a:p>
                  </a:txBody>
                  <a:tcPr/>
                </a:tc>
                <a:tc>
                  <a:txBody>
                    <a:bodyPr/>
                    <a:lstStyle/>
                    <a:p>
                      <a:pPr algn="ctr">
                        <a:defRPr sz="1050" b="0">
                          <a:solidFill>
                            <a:srgbClr val="F8FAFC"/>
                          </a:solidFill>
                          <a:latin typeface="Calibri"/>
                        </a:defRPr>
                      </a:pPr>
                      <a:r>
                        <a:t>1-way monologue</a:t>
                      </a:r>
                    </a:p>
                  </a:txBody>
                  <a:tcPr/>
                </a:tc>
                <a:tc>
                  <a:txBody>
                    <a:bodyPr/>
                    <a:lstStyle/>
                    <a:p>
                      <a:pPr algn="ctr">
                        <a:defRPr sz="1050" b="0">
                          <a:solidFill>
                            <a:srgbClr val="F8FAFC"/>
                          </a:solidFill>
                          <a:latin typeface="Calibri"/>
                        </a:defRPr>
                      </a:pPr>
                      <a:r>
                        <a:t>Enterprise tenant</a:t>
                      </a:r>
                    </a:p>
                  </a:txBody>
                  <a:tcPr/>
                </a:tc>
                <a:tc>
                  <a:txBody>
                    <a:bodyPr/>
                    <a:lstStyle/>
                    <a:p>
                      <a:pPr algn="ctr">
                        <a:defRPr sz="1050" b="0">
                          <a:solidFill>
                            <a:srgbClr val="F8FAFC"/>
                          </a:solidFill>
                          <a:latin typeface="Calibri"/>
                        </a:defRPr>
                      </a:pPr>
                      <a:r>
                        <a:t>Proprietary black-box</a:t>
                      </a:r>
                    </a:p>
                  </a:txBody>
                  <a:tcPr/>
                </a:tc>
                <a:extLst>
                  <a:ext uri="{0D108BD9-81ED-4DB2-BD59-A6C34878D82A}">
                    <a16:rowId xmlns:a16="http://schemas.microsoft.com/office/drawing/2014/main" val="10002"/>
                  </a:ext>
                </a:extLst>
              </a:tr>
              <a:tr h="487680">
                <a:tc>
                  <a:txBody>
                    <a:bodyPr/>
                    <a:lstStyle/>
                    <a:p>
                      <a:pPr algn="l">
                        <a:defRPr sz="1050" b="0">
                          <a:solidFill>
                            <a:srgbClr val="F8FAFC"/>
                          </a:solidFill>
                          <a:latin typeface="Calibri"/>
                        </a:defRPr>
                      </a:pPr>
                      <a:r>
                        <a:t>Eightfold AI</a:t>
                      </a:r>
                    </a:p>
                  </a:txBody>
                  <a:tcPr/>
                </a:tc>
                <a:tc>
                  <a:txBody>
                    <a:bodyPr/>
                    <a:lstStyle/>
                    <a:p>
                      <a:pPr algn="ctr">
                        <a:defRPr sz="1050" b="0">
                          <a:solidFill>
                            <a:srgbClr val="F8FAFC"/>
                          </a:solidFill>
                          <a:latin typeface="Calibri"/>
                        </a:defRPr>
                      </a:pPr>
                      <a:r>
                        <a:t>Deep learning ontology</a:t>
                      </a:r>
                    </a:p>
                  </a:txBody>
                  <a:tcPr/>
                </a:tc>
                <a:tc>
                  <a:txBody>
                    <a:bodyPr/>
                    <a:lstStyle/>
                    <a:p>
                      <a:pPr algn="ctr">
                        <a:defRPr sz="1050" b="0">
                          <a:solidFill>
                            <a:srgbClr val="F8FAFC"/>
                          </a:solidFill>
                          <a:latin typeface="Calibri"/>
                        </a:defRPr>
                      </a:pPr>
                      <a:r>
                        <a:t>Third-party integration</a:t>
                      </a:r>
                    </a:p>
                  </a:txBody>
                  <a:tcPr/>
                </a:tc>
                <a:tc>
                  <a:txBody>
                    <a:bodyPr/>
                    <a:lstStyle/>
                    <a:p>
                      <a:pPr algn="ctr">
                        <a:defRPr sz="1050" b="0">
                          <a:solidFill>
                            <a:srgbClr val="F8FAFC"/>
                          </a:solidFill>
                          <a:latin typeface="Calibri"/>
                        </a:defRPr>
                      </a:pPr>
                      <a:r>
                        <a:t>Chatbot search</a:t>
                      </a:r>
                    </a:p>
                  </a:txBody>
                  <a:tcPr/>
                </a:tc>
                <a:tc>
                  <a:txBody>
                    <a:bodyPr/>
                    <a:lstStyle/>
                    <a:p>
                      <a:pPr algn="ctr">
                        <a:defRPr sz="1050" b="0">
                          <a:solidFill>
                            <a:srgbClr val="F8FAFC"/>
                          </a:solidFill>
                          <a:latin typeface="Calibri"/>
                        </a:defRPr>
                      </a:pPr>
                      <a:r>
                        <a:t>Enterprise tenant</a:t>
                      </a:r>
                    </a:p>
                  </a:txBody>
                  <a:tcPr/>
                </a:tc>
                <a:tc>
                  <a:txBody>
                    <a:bodyPr/>
                    <a:lstStyle/>
                    <a:p>
                      <a:pPr algn="ctr">
                        <a:defRPr sz="1050" b="0">
                          <a:solidFill>
                            <a:srgbClr val="F8FAFC"/>
                          </a:solidFill>
                          <a:latin typeface="Calibri"/>
                        </a:defRPr>
                      </a:pPr>
                      <a:r>
                        <a:t>Opaque talent fit score</a:t>
                      </a:r>
                    </a:p>
                  </a:txBody>
                  <a:tcPr/>
                </a:tc>
                <a:extLst>
                  <a:ext uri="{0D108BD9-81ED-4DB2-BD59-A6C34878D82A}">
                    <a16:rowId xmlns:a16="http://schemas.microsoft.com/office/drawing/2014/main" val="10003"/>
                  </a:ext>
                </a:extLst>
              </a:tr>
              <a:tr h="487680">
                <a:tc>
                  <a:txBody>
                    <a:bodyPr/>
                    <a:lstStyle/>
                    <a:p>
                      <a:pPr algn="l">
                        <a:defRPr sz="1050" b="0">
                          <a:solidFill>
                            <a:srgbClr val="F8FAFC"/>
                          </a:solidFill>
                          <a:latin typeface="Calibri"/>
                        </a:defRPr>
                      </a:pPr>
                      <a:r>
                        <a:t>OpenCATS (Open Source)</a:t>
                      </a:r>
                    </a:p>
                  </a:txBody>
                  <a:tcPr/>
                </a:tc>
                <a:tc>
                  <a:txBody>
                    <a:bodyPr/>
                    <a:lstStyle/>
                    <a:p>
                      <a:pPr algn="ctr">
                        <a:defRPr sz="1050" b="0">
                          <a:solidFill>
                            <a:srgbClr val="F8FAFC"/>
                          </a:solidFill>
                          <a:latin typeface="Calibri"/>
                        </a:defRPr>
                      </a:pPr>
                      <a:r>
                        <a:t>Basic regex search</a:t>
                      </a:r>
                    </a:p>
                  </a:txBody>
                  <a:tcPr/>
                </a:tc>
                <a:tc>
                  <a:txBody>
                    <a:bodyPr/>
                    <a:lstStyle/>
                    <a:p>
                      <a:pPr algn="ctr">
                        <a:defRPr sz="1050" b="0">
                          <a:solidFill>
                            <a:srgbClr val="F8FAFC"/>
                          </a:solidFill>
                          <a:latin typeface="Calibri"/>
                        </a:defRPr>
                      </a:pPr>
                      <a:r>
                        <a:t>None</a:t>
                      </a:r>
                    </a:p>
                  </a:txBody>
                  <a:tcPr/>
                </a:tc>
                <a:tc>
                  <a:txBody>
                    <a:bodyPr/>
                    <a:lstStyle/>
                    <a:p>
                      <a:pPr algn="ctr">
                        <a:defRPr sz="1050" b="0">
                          <a:solidFill>
                            <a:srgbClr val="F8FAFC"/>
                          </a:solidFill>
                          <a:latin typeface="Calibri"/>
                        </a:defRPr>
                      </a:pPr>
                      <a:r>
                        <a:t>None</a:t>
                      </a:r>
                    </a:p>
                  </a:txBody>
                  <a:tcPr/>
                </a:tc>
                <a:tc>
                  <a:txBody>
                    <a:bodyPr/>
                    <a:lstStyle/>
                    <a:p>
                      <a:pPr algn="ctr">
                        <a:defRPr sz="1050" b="0">
                          <a:solidFill>
                            <a:srgbClr val="F8FAFC"/>
                          </a:solidFill>
                          <a:latin typeface="Calibri"/>
                        </a:defRPr>
                      </a:pPr>
                      <a:r>
                        <a:t>Single-tenant</a:t>
                      </a:r>
                    </a:p>
                  </a:txBody>
                  <a:tcPr/>
                </a:tc>
                <a:tc>
                  <a:txBody>
                    <a:bodyPr/>
                    <a:lstStyle/>
                    <a:p>
                      <a:pPr algn="ctr">
                        <a:defRPr sz="1050" b="0">
                          <a:solidFill>
                            <a:srgbClr val="F8FAFC"/>
                          </a:solidFill>
                          <a:latin typeface="Calibri"/>
                        </a:defRPr>
                      </a:pPr>
                      <a:r>
                        <a:t>Basic status history</a:t>
                      </a:r>
                    </a:p>
                  </a:txBody>
                  <a:tcPr/>
                </a:tc>
                <a:extLst>
                  <a:ext uri="{0D108BD9-81ED-4DB2-BD59-A6C34878D82A}">
                    <a16:rowId xmlns:a16="http://schemas.microsoft.com/office/drawing/2014/main" val="10004"/>
                  </a:ext>
                </a:extLst>
              </a:tr>
              <a:tr h="487680">
                <a:tc>
                  <a:txBody>
                    <a:bodyPr/>
                    <a:lstStyle/>
                    <a:p>
                      <a:pPr algn="l">
                        <a:defRPr sz="1050" b="1">
                          <a:solidFill>
                            <a:srgbClr val="34D399"/>
                          </a:solidFill>
                          <a:latin typeface="Calibri"/>
                        </a:defRPr>
                      </a:pPr>
                      <a:r>
                        <a:t>AI Recruit360 (Our System)</a:t>
                      </a:r>
                    </a:p>
                  </a:txBody>
                  <a:tcPr>
                    <a:solidFill>
                      <a:srgbClr val="1E293B"/>
                    </a:solidFill>
                  </a:tcPr>
                </a:tc>
                <a:tc>
                  <a:txBody>
                    <a:bodyPr/>
                    <a:lstStyle/>
                    <a:p>
                      <a:pPr algn="ctr">
                        <a:defRPr sz="1050" b="1">
                          <a:solidFill>
                            <a:srgbClr val="34D399"/>
                          </a:solidFill>
                          <a:latin typeface="Calibri"/>
                        </a:defRPr>
                      </a:pPr>
                      <a:r>
                        <a:t>Pydantic structured LLM</a:t>
                      </a:r>
                    </a:p>
                  </a:txBody>
                  <a:tcPr>
                    <a:solidFill>
                      <a:srgbClr val="1E293B"/>
                    </a:solidFill>
                  </a:tcPr>
                </a:tc>
                <a:tc>
                  <a:txBody>
                    <a:bodyPr/>
                    <a:lstStyle/>
                    <a:p>
                      <a:pPr algn="ctr">
                        <a:defRPr sz="1050" b="1">
                          <a:solidFill>
                            <a:srgbClr val="34D399"/>
                          </a:solidFill>
                          <a:latin typeface="Calibri"/>
                        </a:defRPr>
                      </a:pPr>
                      <a:r>
                        <a:t>Server-timed anti-cheat</a:t>
                      </a:r>
                    </a:p>
                  </a:txBody>
                  <a:tcPr>
                    <a:solidFill>
                      <a:srgbClr val="1E293B"/>
                    </a:solidFill>
                  </a:tcPr>
                </a:tc>
                <a:tc>
                  <a:txBody>
                    <a:bodyPr/>
                    <a:lstStyle/>
                    <a:p>
                      <a:pPr algn="ctr">
                        <a:defRPr sz="1050" b="1">
                          <a:solidFill>
                            <a:srgbClr val="34D399"/>
                          </a:solidFill>
                          <a:latin typeface="Calibri"/>
                        </a:defRPr>
                      </a:pPr>
                      <a:r>
                        <a:t>WebRTC avatar + STT</a:t>
                      </a:r>
                    </a:p>
                  </a:txBody>
                  <a:tcPr>
                    <a:solidFill>
                      <a:srgbClr val="1E293B"/>
                    </a:solidFill>
                  </a:tcPr>
                </a:tc>
                <a:tc>
                  <a:txBody>
                    <a:bodyPr/>
                    <a:lstStyle/>
                    <a:p>
                      <a:pPr algn="ctr">
                        <a:defRPr sz="1050" b="1">
                          <a:solidFill>
                            <a:srgbClr val="34D399"/>
                          </a:solidFill>
                          <a:latin typeface="Calibri"/>
                        </a:defRPr>
                      </a:pPr>
                      <a:r>
                        <a:t>PostgreSQL RLS</a:t>
                      </a:r>
                    </a:p>
                  </a:txBody>
                  <a:tcPr>
                    <a:solidFill>
                      <a:srgbClr val="1E293B"/>
                    </a:solidFill>
                  </a:tcPr>
                </a:tc>
                <a:tc>
                  <a:txBody>
                    <a:bodyPr/>
                    <a:lstStyle/>
                    <a:p>
                      <a:pPr algn="ctr">
                        <a:defRPr sz="1050" b="1">
                          <a:solidFill>
                            <a:srgbClr val="34D399"/>
                          </a:solidFill>
                          <a:latin typeface="Calibri"/>
                        </a:defRPr>
                      </a:pPr>
                      <a:r>
                        <a:t>Verbatim cited scorecard</a:t>
                      </a:r>
                    </a:p>
                  </a:txBody>
                  <a:tcPr>
                    <a:solidFill>
                      <a:srgbClr val="1E293B"/>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1005840" y="5303520"/>
            <a:ext cx="10149840" cy="640080"/>
          </a:xfrm>
          <a:prstGeom prst="rect">
            <a:avLst/>
          </a:prstGeom>
          <a:noFill/>
        </p:spPr>
        <p:txBody>
          <a:bodyPr wrap="none">
            <a:spAutoFit/>
          </a:bodyPr>
          <a:lstStyle/>
          <a:p>
            <a:pPr>
              <a:defRPr sz="1100" i="1">
                <a:solidFill>
                  <a:srgbClr val="94A3B8"/>
                </a:solidFill>
                <a:latin typeface="Calibri"/>
              </a:defRPr>
            </a:pPr>
            <a:r>
              <a:t>Research Novelty Gap: Existing commercial systems are either closed, expensive black-boxes (HireVue, Eightfold) or lack multimodal evaluation. AI Recruit360 delivers an open-standards, verifiable architecture that unifies semantic screening, anti-cheat assessments, and WebRTC video avatar interviewing into an auditable, multi-tenant platform.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ENGINEERING APPROACH</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Software Engineering Methodology &amp; SDLC</a:t>
            </a:r>
          </a:p>
        </p:txBody>
      </p:sp>
      <p:sp>
        <p:nvSpPr>
          <p:cNvPr id="5" name="Rounded Rectangle 4"/>
          <p:cNvSpPr/>
          <p:nvPr/>
        </p:nvSpPr>
        <p:spPr>
          <a:xfrm>
            <a:off x="731520" y="1554480"/>
            <a:ext cx="251460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2148840" cy="365760"/>
          </a:xfrm>
          <a:prstGeom prst="rect">
            <a:avLst/>
          </a:prstGeom>
          <a:noFill/>
        </p:spPr>
        <p:txBody>
          <a:bodyPr wrap="none">
            <a:spAutoFit/>
          </a:bodyPr>
          <a:lstStyle/>
          <a:p>
            <a:pPr>
              <a:defRPr sz="1300" b="1">
                <a:solidFill>
                  <a:srgbClr val="38BDF8"/>
                </a:solidFill>
                <a:latin typeface="Arial"/>
              </a:defRPr>
            </a:pPr>
            <a:r>
              <a:t>PHASE 1: SCHEMA &amp; SPECS</a:t>
            </a:r>
          </a:p>
        </p:txBody>
      </p:sp>
      <p:sp>
        <p:nvSpPr>
          <p:cNvPr id="7" name="TextBox 6"/>
          <p:cNvSpPr txBox="1"/>
          <p:nvPr/>
        </p:nvSpPr>
        <p:spPr>
          <a:xfrm>
            <a:off x="868680" y="2057400"/>
            <a:ext cx="2240280" cy="320040"/>
          </a:xfrm>
          <a:prstGeom prst="rect">
            <a:avLst/>
          </a:prstGeom>
          <a:noFill/>
        </p:spPr>
        <p:txBody>
          <a:bodyPr wrap="none">
            <a:spAutoFit/>
          </a:bodyPr>
          <a:lstStyle/>
          <a:p>
            <a:pPr>
              <a:defRPr sz="1050" b="1">
                <a:solidFill>
                  <a:srgbClr val="38BDF8"/>
                </a:solidFill>
                <a:latin typeface="Arial"/>
              </a:defRPr>
            </a:pPr>
            <a:r>
              <a:t>Weeks 1 - 4</a:t>
            </a:r>
          </a:p>
        </p:txBody>
      </p:sp>
      <p:sp>
        <p:nvSpPr>
          <p:cNvPr id="8" name="TextBox 7"/>
          <p:cNvSpPr txBox="1"/>
          <p:nvPr/>
        </p:nvSpPr>
        <p:spPr>
          <a:xfrm>
            <a:off x="868680" y="2423160"/>
            <a:ext cx="2240280" cy="3474720"/>
          </a:xfrm>
          <a:prstGeom prst="rect">
            <a:avLst/>
          </a:prstGeom>
          <a:noFill/>
        </p:spPr>
        <p:txBody>
          <a:bodyPr wrap="none">
            <a:spAutoFit/>
          </a:bodyPr>
          <a:lstStyle/>
          <a:p>
            <a:pPr>
              <a:spcAft>
                <a:spcPts val="600"/>
              </a:spcAft>
              <a:defRPr sz="1100">
                <a:solidFill>
                  <a:srgbClr val="F8FAFC"/>
                </a:solidFill>
                <a:latin typeface="Calibri"/>
              </a:defRPr>
            </a:pPr>
            <a:r>
              <a:t>- Formulate 3NF relational data model in PostgreSQL.</a:t>
            </a:r>
          </a:p>
          <a:p>
            <a:pPr>
              <a:spcAft>
                <a:spcPts val="600"/>
              </a:spcAft>
              <a:defRPr sz="1100">
                <a:solidFill>
                  <a:srgbClr val="F8FAFC"/>
                </a:solidFill>
                <a:latin typeface="Calibri"/>
              </a:defRPr>
            </a:pPr>
            <a:r>
              <a:t>- Define primary keys, check constraints, foreign keys.</a:t>
            </a:r>
          </a:p>
          <a:p>
            <a:pPr>
              <a:spcAft>
                <a:spcPts val="600"/>
              </a:spcAft>
              <a:defRPr sz="1100">
                <a:solidFill>
                  <a:srgbClr val="F8FAFC"/>
                </a:solidFill>
                <a:latin typeface="Calibri"/>
              </a:defRPr>
            </a:pPr>
            <a:r>
              <a:t>- Establish Row-Level Security policies on all tables.</a:t>
            </a:r>
          </a:p>
          <a:p>
            <a:pPr>
              <a:spcAft>
                <a:spcPts val="600"/>
              </a:spcAft>
              <a:defRPr sz="1100">
                <a:solidFill>
                  <a:srgbClr val="F8FAFC"/>
                </a:solidFill>
                <a:latin typeface="Calibri"/>
              </a:defRPr>
            </a:pPr>
            <a:r>
              <a:t>- Define strict Pydantic v2 schemas for all API payloads.</a:t>
            </a:r>
          </a:p>
        </p:txBody>
      </p:sp>
      <p:sp>
        <p:nvSpPr>
          <p:cNvPr id="9" name="Rounded Rectangle 8"/>
          <p:cNvSpPr/>
          <p:nvPr/>
        </p:nvSpPr>
        <p:spPr>
          <a:xfrm>
            <a:off x="3429000" y="1554480"/>
            <a:ext cx="251460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80" y="1691639"/>
            <a:ext cx="2148840" cy="365760"/>
          </a:xfrm>
          <a:prstGeom prst="rect">
            <a:avLst/>
          </a:prstGeom>
          <a:noFill/>
        </p:spPr>
        <p:txBody>
          <a:bodyPr wrap="none">
            <a:spAutoFit/>
          </a:bodyPr>
          <a:lstStyle/>
          <a:p>
            <a:pPr>
              <a:defRPr sz="1300" b="1">
                <a:solidFill>
                  <a:srgbClr val="38BDF8"/>
                </a:solidFill>
                <a:latin typeface="Arial"/>
              </a:defRPr>
            </a:pPr>
            <a:r>
              <a:t>PHASE 2: BACKEND &amp; APIS</a:t>
            </a:r>
          </a:p>
        </p:txBody>
      </p:sp>
      <p:sp>
        <p:nvSpPr>
          <p:cNvPr id="11" name="TextBox 10"/>
          <p:cNvSpPr txBox="1"/>
          <p:nvPr/>
        </p:nvSpPr>
        <p:spPr>
          <a:xfrm>
            <a:off x="3566160" y="2057400"/>
            <a:ext cx="2240280" cy="320040"/>
          </a:xfrm>
          <a:prstGeom prst="rect">
            <a:avLst/>
          </a:prstGeom>
          <a:noFill/>
        </p:spPr>
        <p:txBody>
          <a:bodyPr wrap="none">
            <a:spAutoFit/>
          </a:bodyPr>
          <a:lstStyle/>
          <a:p>
            <a:pPr>
              <a:defRPr sz="1050" b="1">
                <a:solidFill>
                  <a:srgbClr val="FF6B6B"/>
                </a:solidFill>
                <a:latin typeface="Arial"/>
              </a:defRPr>
            </a:pPr>
            <a:r>
              <a:t>Weeks 5 - 8</a:t>
            </a:r>
          </a:p>
        </p:txBody>
      </p:sp>
      <p:sp>
        <p:nvSpPr>
          <p:cNvPr id="12" name="TextBox 11"/>
          <p:cNvSpPr txBox="1"/>
          <p:nvPr/>
        </p:nvSpPr>
        <p:spPr>
          <a:xfrm>
            <a:off x="3566160" y="2423160"/>
            <a:ext cx="2240280" cy="3474720"/>
          </a:xfrm>
          <a:prstGeom prst="rect">
            <a:avLst/>
          </a:prstGeom>
          <a:noFill/>
        </p:spPr>
        <p:txBody>
          <a:bodyPr wrap="none">
            <a:spAutoFit/>
          </a:bodyPr>
          <a:lstStyle/>
          <a:p>
            <a:pPr>
              <a:spcAft>
                <a:spcPts val="600"/>
              </a:spcAft>
              <a:defRPr sz="1100">
                <a:solidFill>
                  <a:srgbClr val="F8FAFC"/>
                </a:solidFill>
                <a:latin typeface="Calibri"/>
              </a:defRPr>
            </a:pPr>
            <a:r>
              <a:t>- Implement FastAPI routers for document extraction.</a:t>
            </a:r>
          </a:p>
          <a:p>
            <a:pPr>
              <a:spcAft>
                <a:spcPts val="600"/>
              </a:spcAft>
              <a:defRPr sz="1100">
                <a:solidFill>
                  <a:srgbClr val="F8FAFC"/>
                </a:solidFill>
                <a:latin typeface="Calibri"/>
              </a:defRPr>
            </a:pPr>
            <a:r>
              <a:t>- Integrate PyMuPDF stream parsing with OCR fallback.</a:t>
            </a:r>
          </a:p>
          <a:p>
            <a:pPr>
              <a:spcAft>
                <a:spcPts val="600"/>
              </a:spcAft>
              <a:defRPr sz="1100">
                <a:solidFill>
                  <a:srgbClr val="F8FAFC"/>
                </a:solidFill>
                <a:latin typeface="Calibri"/>
              </a:defRPr>
            </a:pPr>
            <a:r>
              <a:t>- Connect Gemini 1.5 Flash with structured JSON modes.</a:t>
            </a:r>
          </a:p>
          <a:p>
            <a:pPr>
              <a:spcAft>
                <a:spcPts val="600"/>
              </a:spcAft>
              <a:defRPr sz="1100">
                <a:solidFill>
                  <a:srgbClr val="F8FAFC"/>
                </a:solidFill>
                <a:latin typeface="Calibri"/>
              </a:defRPr>
            </a:pPr>
            <a:r>
              <a:t>- Implement Deepgram WebSocket and ElevenLabs TTS.</a:t>
            </a:r>
          </a:p>
        </p:txBody>
      </p:sp>
      <p:sp>
        <p:nvSpPr>
          <p:cNvPr id="13" name="Rounded Rectangle 12"/>
          <p:cNvSpPr/>
          <p:nvPr/>
        </p:nvSpPr>
        <p:spPr>
          <a:xfrm>
            <a:off x="6126480" y="1554480"/>
            <a:ext cx="251460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1691639"/>
            <a:ext cx="2148840" cy="365760"/>
          </a:xfrm>
          <a:prstGeom prst="rect">
            <a:avLst/>
          </a:prstGeom>
          <a:noFill/>
        </p:spPr>
        <p:txBody>
          <a:bodyPr wrap="none">
            <a:spAutoFit/>
          </a:bodyPr>
          <a:lstStyle/>
          <a:p>
            <a:pPr>
              <a:defRPr sz="1300" b="1">
                <a:solidFill>
                  <a:srgbClr val="38BDF8"/>
                </a:solidFill>
                <a:latin typeface="Arial"/>
              </a:defRPr>
            </a:pPr>
            <a:r>
              <a:t>PHASE 3: FRONTEND &amp; WEBRTC</a:t>
            </a:r>
          </a:p>
        </p:txBody>
      </p:sp>
      <p:sp>
        <p:nvSpPr>
          <p:cNvPr id="15" name="TextBox 14"/>
          <p:cNvSpPr txBox="1"/>
          <p:nvPr/>
        </p:nvSpPr>
        <p:spPr>
          <a:xfrm>
            <a:off x="6263640" y="2057400"/>
            <a:ext cx="2240280" cy="320040"/>
          </a:xfrm>
          <a:prstGeom prst="rect">
            <a:avLst/>
          </a:prstGeom>
          <a:noFill/>
        </p:spPr>
        <p:txBody>
          <a:bodyPr wrap="none">
            <a:spAutoFit/>
          </a:bodyPr>
          <a:lstStyle/>
          <a:p>
            <a:pPr>
              <a:defRPr sz="1050" b="1">
                <a:solidFill>
                  <a:srgbClr val="FBBF24"/>
                </a:solidFill>
                <a:latin typeface="Arial"/>
              </a:defRPr>
            </a:pPr>
            <a:r>
              <a:t>Weeks 9 - 12</a:t>
            </a:r>
          </a:p>
        </p:txBody>
      </p:sp>
      <p:sp>
        <p:nvSpPr>
          <p:cNvPr id="16" name="TextBox 15"/>
          <p:cNvSpPr txBox="1"/>
          <p:nvPr/>
        </p:nvSpPr>
        <p:spPr>
          <a:xfrm>
            <a:off x="6263640" y="2423160"/>
            <a:ext cx="2240280" cy="3474720"/>
          </a:xfrm>
          <a:prstGeom prst="rect">
            <a:avLst/>
          </a:prstGeom>
          <a:noFill/>
        </p:spPr>
        <p:txBody>
          <a:bodyPr wrap="none">
            <a:spAutoFit/>
          </a:bodyPr>
          <a:lstStyle/>
          <a:p>
            <a:pPr>
              <a:spcAft>
                <a:spcPts val="600"/>
              </a:spcAft>
              <a:defRPr sz="1100">
                <a:solidFill>
                  <a:srgbClr val="F8FAFC"/>
                </a:solidFill>
                <a:latin typeface="Calibri"/>
              </a:defRPr>
            </a:pPr>
            <a:r>
              <a:t>- Build Next.js 14 App Router workspace and portals.</a:t>
            </a:r>
          </a:p>
          <a:p>
            <a:pPr>
              <a:spcAft>
                <a:spcPts val="600"/>
              </a:spcAft>
              <a:defRPr sz="1100">
                <a:solidFill>
                  <a:srgbClr val="F8FAFC"/>
                </a:solidFill>
                <a:latin typeface="Calibri"/>
              </a:defRPr>
            </a:pPr>
            <a:r>
              <a:t>- Implement React Server Components for fast data loading.</a:t>
            </a:r>
          </a:p>
          <a:p>
            <a:pPr>
              <a:spcAft>
                <a:spcPts val="600"/>
              </a:spcAft>
              <a:defRPr sz="1100">
                <a:solidFill>
                  <a:srgbClr val="F8FAFC"/>
                </a:solidFill>
                <a:latin typeface="Calibri"/>
              </a:defRPr>
            </a:pPr>
            <a:r>
              <a:t>- Integrate Simli WebRTC neural avatar video player.</a:t>
            </a:r>
          </a:p>
          <a:p>
            <a:pPr>
              <a:spcAft>
                <a:spcPts val="600"/>
              </a:spcAft>
              <a:defRPr sz="1100">
                <a:solidFill>
                  <a:srgbClr val="F8FAFC"/>
                </a:solidFill>
                <a:latin typeface="Calibri"/>
              </a:defRPr>
            </a:pPr>
            <a:r>
              <a:t>- Build audio capture waveform and live transcript preview.</a:t>
            </a:r>
          </a:p>
        </p:txBody>
      </p:sp>
      <p:sp>
        <p:nvSpPr>
          <p:cNvPr id="17" name="Rounded Rectangle 16"/>
          <p:cNvSpPr/>
          <p:nvPr/>
        </p:nvSpPr>
        <p:spPr>
          <a:xfrm>
            <a:off x="8823960" y="1554480"/>
            <a:ext cx="251460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06840" y="1691639"/>
            <a:ext cx="2148840" cy="365760"/>
          </a:xfrm>
          <a:prstGeom prst="rect">
            <a:avLst/>
          </a:prstGeom>
          <a:noFill/>
        </p:spPr>
        <p:txBody>
          <a:bodyPr wrap="none">
            <a:spAutoFit/>
          </a:bodyPr>
          <a:lstStyle/>
          <a:p>
            <a:pPr>
              <a:defRPr sz="1300" b="1">
                <a:solidFill>
                  <a:srgbClr val="38BDF8"/>
                </a:solidFill>
                <a:latin typeface="Arial"/>
              </a:defRPr>
            </a:pPr>
            <a:r>
              <a:t>PHASE 4: TESTING &amp; HARDENING</a:t>
            </a:r>
          </a:p>
        </p:txBody>
      </p:sp>
      <p:sp>
        <p:nvSpPr>
          <p:cNvPr id="19" name="TextBox 18"/>
          <p:cNvSpPr txBox="1"/>
          <p:nvPr/>
        </p:nvSpPr>
        <p:spPr>
          <a:xfrm>
            <a:off x="8961120" y="2057400"/>
            <a:ext cx="2240280" cy="320040"/>
          </a:xfrm>
          <a:prstGeom prst="rect">
            <a:avLst/>
          </a:prstGeom>
          <a:noFill/>
        </p:spPr>
        <p:txBody>
          <a:bodyPr wrap="none">
            <a:spAutoFit/>
          </a:bodyPr>
          <a:lstStyle/>
          <a:p>
            <a:pPr>
              <a:defRPr sz="1050" b="1">
                <a:solidFill>
                  <a:srgbClr val="34D399"/>
                </a:solidFill>
                <a:latin typeface="Arial"/>
              </a:defRPr>
            </a:pPr>
            <a:r>
              <a:t>Weeks 13 - 16</a:t>
            </a:r>
          </a:p>
        </p:txBody>
      </p:sp>
      <p:sp>
        <p:nvSpPr>
          <p:cNvPr id="20" name="TextBox 19"/>
          <p:cNvSpPr txBox="1"/>
          <p:nvPr/>
        </p:nvSpPr>
        <p:spPr>
          <a:xfrm>
            <a:off x="8961120" y="2423160"/>
            <a:ext cx="2240280" cy="3474720"/>
          </a:xfrm>
          <a:prstGeom prst="rect">
            <a:avLst/>
          </a:prstGeom>
          <a:noFill/>
        </p:spPr>
        <p:txBody>
          <a:bodyPr wrap="none">
            <a:spAutoFit/>
          </a:bodyPr>
          <a:lstStyle/>
          <a:p>
            <a:pPr>
              <a:spcAft>
                <a:spcPts val="600"/>
              </a:spcAft>
              <a:defRPr sz="1100">
                <a:solidFill>
                  <a:srgbClr val="F8FAFC"/>
                </a:solidFill>
                <a:latin typeface="Calibri"/>
              </a:defRPr>
            </a:pPr>
            <a:r>
              <a:t>- Execute 32 automated unit and integration tests.</a:t>
            </a:r>
          </a:p>
          <a:p>
            <a:pPr>
              <a:spcAft>
                <a:spcPts val="600"/>
              </a:spcAft>
              <a:defRPr sz="1100">
                <a:solidFill>
                  <a:srgbClr val="F8FAFC"/>
                </a:solidFill>
                <a:latin typeface="Calibri"/>
              </a:defRPr>
            </a:pPr>
            <a:r>
              <a:t>- Penetration test cross-tenant queries under RLS.</a:t>
            </a:r>
          </a:p>
          <a:p>
            <a:pPr>
              <a:spcAft>
                <a:spcPts val="600"/>
              </a:spcAft>
              <a:defRPr sz="1100">
                <a:solidFill>
                  <a:srgbClr val="F8FAFC"/>
                </a:solidFill>
                <a:latin typeface="Calibri"/>
              </a:defRPr>
            </a:pPr>
            <a:r>
              <a:t>- Verify 50 concurrent duplicate submissions (idempotency).</a:t>
            </a:r>
          </a:p>
          <a:p>
            <a:pPr>
              <a:spcAft>
                <a:spcPts val="600"/>
              </a:spcAft>
              <a:defRPr sz="1100">
                <a:solidFill>
                  <a:srgbClr val="F8FAFC"/>
                </a:solidFill>
                <a:latin typeface="Calibri"/>
              </a:defRPr>
            </a:pPr>
            <a:r>
              <a:t>- Deploy to production Vercel edge network and Supabase.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SYSTEM ARCHITECTURE</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High-Level Architecture &amp; Trust Boundaries</a:t>
            </a:r>
          </a:p>
        </p:txBody>
      </p:sp>
      <p:pic>
        <p:nvPicPr>
          <p:cNvPr id="5" name="Picture 4" descr="context.png"/>
          <p:cNvPicPr>
            <a:picLocks noChangeAspect="1"/>
          </p:cNvPicPr>
          <p:nvPr/>
        </p:nvPicPr>
        <p:blipFill>
          <a:blip r:embed="rId3"/>
          <a:stretch>
            <a:fillRect/>
          </a:stretch>
        </p:blipFill>
        <p:spPr>
          <a:xfrm>
            <a:off x="731520" y="1554480"/>
            <a:ext cx="5669280" cy="5669280"/>
          </a:xfrm>
          <a:prstGeom prst="rect">
            <a:avLst/>
          </a:prstGeom>
        </p:spPr>
      </p:pic>
      <p:sp>
        <p:nvSpPr>
          <p:cNvPr id="6" name="Rounded Rectangle 5"/>
          <p:cNvSpPr/>
          <p:nvPr/>
        </p:nvSpPr>
        <p:spPr>
          <a:xfrm>
            <a:off x="6675120" y="1554480"/>
            <a:ext cx="47548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0" y="1691639"/>
            <a:ext cx="4389120" cy="365760"/>
          </a:xfrm>
          <a:prstGeom prst="rect">
            <a:avLst/>
          </a:prstGeom>
          <a:noFill/>
        </p:spPr>
        <p:txBody>
          <a:bodyPr wrap="none">
            <a:spAutoFit/>
          </a:bodyPr>
          <a:lstStyle/>
          <a:p>
            <a:pPr>
              <a:defRPr sz="1300" b="1">
                <a:solidFill>
                  <a:srgbClr val="38BDF8"/>
                </a:solidFill>
                <a:latin typeface="Arial"/>
              </a:defRPr>
            </a:pPr>
            <a:r>
              <a:t>THREE ISOLATED TRUST BOUNDARIES</a:t>
            </a:r>
          </a:p>
        </p:txBody>
      </p:sp>
      <p:sp>
        <p:nvSpPr>
          <p:cNvPr id="8" name="TextBox 7"/>
          <p:cNvSpPr txBox="1"/>
          <p:nvPr/>
        </p:nvSpPr>
        <p:spPr>
          <a:xfrm>
            <a:off x="6858000" y="2103120"/>
            <a:ext cx="4389120" cy="3840480"/>
          </a:xfrm>
          <a:prstGeom prst="rect">
            <a:avLst/>
          </a:prstGeom>
          <a:noFill/>
        </p:spPr>
        <p:txBody>
          <a:bodyPr wrap="none">
            <a:spAutoFit/>
          </a:bodyPr>
          <a:lstStyle/>
          <a:p>
            <a:pPr>
              <a:spcAft>
                <a:spcPts val="200"/>
              </a:spcAft>
              <a:defRPr sz="1200" b="1">
                <a:solidFill>
                  <a:srgbClr val="FF6B6B"/>
                </a:solidFill>
                <a:latin typeface="Arial"/>
              </a:defRPr>
            </a:pPr>
            <a:r>
              <a:t>1. Untrusted Client Zone</a:t>
            </a:r>
          </a:p>
          <a:p>
            <a:pPr>
              <a:spcAft>
                <a:spcPts val="1000"/>
              </a:spcAft>
              <a:defRPr sz="1100">
                <a:solidFill>
                  <a:srgbClr val="F8FAFC"/>
                </a:solidFill>
                <a:latin typeface="Calibri"/>
              </a:defRPr>
            </a:pPr>
            <a:r>
              <a:t>Recruiter and Candidate web browsers. All client payloads, uploaded documents, and HTTP headers are treated as untrusted and subjected to strict server validation.</a:t>
            </a:r>
          </a:p>
          <a:p>
            <a:pPr>
              <a:spcAft>
                <a:spcPts val="200"/>
              </a:spcAft>
              <a:defRPr sz="1200" b="1">
                <a:solidFill>
                  <a:srgbClr val="38BDF8"/>
                </a:solidFill>
                <a:latin typeface="Arial"/>
              </a:defRPr>
            </a:pPr>
            <a:r>
              <a:t>2. Application Logic Zone</a:t>
            </a:r>
          </a:p>
          <a:p>
            <a:pPr>
              <a:spcAft>
                <a:spcPts val="1000"/>
              </a:spcAft>
              <a:defRPr sz="1100">
                <a:solidFill>
                  <a:srgbClr val="F8FAFC"/>
                </a:solidFill>
                <a:latin typeface="Calibri"/>
              </a:defRPr>
            </a:pPr>
            <a:r>
              <a:t>Next.js 14 web server (handling server-side rendering, auth cookie management) and FastAPI backend microservice (handling PyMuPDF parsing, Gemini prompt execution, and speech streaming).</a:t>
            </a:r>
          </a:p>
          <a:p>
            <a:pPr>
              <a:spcAft>
                <a:spcPts val="200"/>
              </a:spcAft>
              <a:defRPr sz="1200" b="1">
                <a:solidFill>
                  <a:srgbClr val="34D399"/>
                </a:solidFill>
                <a:latin typeface="Arial"/>
              </a:defRPr>
            </a:pPr>
            <a:r>
              <a:t>3. Secure Data &amp; Service Zone</a:t>
            </a:r>
          </a:p>
          <a:p>
            <a:pPr>
              <a:spcAft>
                <a:spcPts val="1000"/>
              </a:spcAft>
              <a:defRPr sz="1100">
                <a:solidFill>
                  <a:srgbClr val="F8FAFC"/>
                </a:solidFill>
                <a:latin typeface="Calibri"/>
              </a:defRPr>
            </a:pPr>
            <a:r>
              <a:t>Supabase managed PostgreSQL 15 protected by Row-Level Security, private S3 storage for candidate resumes, and external foundation model APIs accessed exclusively via server secrets.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PHYSICAL TOPOLOGY</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Cloud Deployment Architecture &amp; Edge Infrastructure</a:t>
            </a:r>
          </a:p>
        </p:txBody>
      </p:sp>
      <p:pic>
        <p:nvPicPr>
          <p:cNvPr id="5" name="Picture 4" descr="deployment.png"/>
          <p:cNvPicPr>
            <a:picLocks noChangeAspect="1"/>
          </p:cNvPicPr>
          <p:nvPr/>
        </p:nvPicPr>
        <p:blipFill>
          <a:blip r:embed="rId3"/>
          <a:stretch>
            <a:fillRect/>
          </a:stretch>
        </p:blipFill>
        <p:spPr>
          <a:xfrm>
            <a:off x="731520" y="1554480"/>
            <a:ext cx="5669280" cy="5669280"/>
          </a:xfrm>
          <a:prstGeom prst="rect">
            <a:avLst/>
          </a:prstGeom>
        </p:spPr>
      </p:pic>
      <p:sp>
        <p:nvSpPr>
          <p:cNvPr id="6" name="Rounded Rectangle 5"/>
          <p:cNvSpPr/>
          <p:nvPr/>
        </p:nvSpPr>
        <p:spPr>
          <a:xfrm>
            <a:off x="6675120" y="1554480"/>
            <a:ext cx="47548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0" y="1691639"/>
            <a:ext cx="4389120" cy="365760"/>
          </a:xfrm>
          <a:prstGeom prst="rect">
            <a:avLst/>
          </a:prstGeom>
          <a:noFill/>
        </p:spPr>
        <p:txBody>
          <a:bodyPr wrap="none">
            <a:spAutoFit/>
          </a:bodyPr>
          <a:lstStyle/>
          <a:p>
            <a:pPr>
              <a:defRPr sz="1300" b="1">
                <a:solidFill>
                  <a:srgbClr val="38BDF8"/>
                </a:solidFill>
                <a:latin typeface="Arial"/>
              </a:defRPr>
            </a:pPr>
            <a:r>
              <a:t>PRODUCTION INFRASTRUCTURE STACK</a:t>
            </a:r>
          </a:p>
        </p:txBody>
      </p:sp>
      <p:sp>
        <p:nvSpPr>
          <p:cNvPr id="8" name="TextBox 7"/>
          <p:cNvSpPr txBox="1"/>
          <p:nvPr/>
        </p:nvSpPr>
        <p:spPr>
          <a:xfrm>
            <a:off x="6858000" y="2103120"/>
            <a:ext cx="4389120" cy="3840480"/>
          </a:xfrm>
          <a:prstGeom prst="rect">
            <a:avLst/>
          </a:prstGeom>
          <a:noFill/>
        </p:spPr>
        <p:txBody>
          <a:bodyPr wrap="none">
            <a:spAutoFit/>
          </a:bodyPr>
          <a:lstStyle/>
          <a:p>
            <a:pPr>
              <a:spcAft>
                <a:spcPts val="200"/>
              </a:spcAft>
              <a:defRPr sz="1150" b="1">
                <a:solidFill>
                  <a:srgbClr val="38BDF8"/>
                </a:solidFill>
                <a:latin typeface="Arial"/>
              </a:defRPr>
            </a:pPr>
            <a:r>
              <a:t>- Frontend Web Tier (Vercel Edge):</a:t>
            </a:r>
          </a:p>
          <a:p>
            <a:pPr>
              <a:spcAft>
                <a:spcPts val="800"/>
              </a:spcAft>
              <a:defRPr sz="1050">
                <a:solidFill>
                  <a:srgbClr val="F8FAFC"/>
                </a:solidFill>
                <a:latin typeface="Calibri"/>
              </a:defRPr>
            </a:pPr>
            <a:r>
              <a:t>Next.js 14 App Router compiled into static assets and serverless Node.js functions distributed across Vercel's global CDN, providing sub-100ms initial page loads.</a:t>
            </a:r>
          </a:p>
          <a:p>
            <a:pPr>
              <a:spcAft>
                <a:spcPts val="200"/>
              </a:spcAft>
              <a:defRPr sz="1150" b="1">
                <a:solidFill>
                  <a:srgbClr val="38BDF8"/>
                </a:solidFill>
                <a:latin typeface="Arial"/>
              </a:defRPr>
            </a:pPr>
            <a:r>
              <a:t>- Microservice Tier (Docker / Render):</a:t>
            </a:r>
          </a:p>
          <a:p>
            <a:pPr>
              <a:spcAft>
                <a:spcPts val="800"/>
              </a:spcAft>
              <a:defRPr sz="1050">
                <a:solidFill>
                  <a:srgbClr val="F8FAFC"/>
                </a:solidFill>
                <a:latin typeface="Calibri"/>
              </a:defRPr>
            </a:pPr>
            <a:r>
              <a:t>FastAPI containerized via Docker and deployed on a high-concurrency cloud container runtime. Uses asyncio event loop to handle non-blocking LLM/STT requests.</a:t>
            </a:r>
          </a:p>
          <a:p>
            <a:pPr>
              <a:spcAft>
                <a:spcPts val="200"/>
              </a:spcAft>
              <a:defRPr sz="1150" b="1">
                <a:solidFill>
                  <a:srgbClr val="38BDF8"/>
                </a:solidFill>
                <a:latin typeface="Arial"/>
              </a:defRPr>
            </a:pPr>
            <a:r>
              <a:t>- Database &amp; Storage Tier (Supabase Cloud):</a:t>
            </a:r>
          </a:p>
          <a:p>
            <a:pPr>
              <a:spcAft>
                <a:spcPts val="800"/>
              </a:spcAft>
              <a:defRPr sz="1050">
                <a:solidFill>
                  <a:srgbClr val="F8FAFC"/>
                </a:solidFill>
                <a:latin typeface="Calibri"/>
              </a:defRPr>
            </a:pPr>
            <a:r>
              <a:t>Managed PostgreSQL 15 hosted in AWS Frankfurt (eu-central-1). Utilizes PgBouncer connection pooling on port 6543, handling peak candidate loads without connection exhaustion.</a:t>
            </a:r>
          </a:p>
          <a:p>
            <a:pPr>
              <a:spcAft>
                <a:spcPts val="200"/>
              </a:spcAft>
              <a:defRPr sz="1150" b="1">
                <a:solidFill>
                  <a:srgbClr val="38BDF8"/>
                </a:solidFill>
                <a:latin typeface="Arial"/>
              </a:defRPr>
            </a:pPr>
            <a:r>
              <a:t>- Security &amp; Edge Gateway (Cloudflare):</a:t>
            </a:r>
          </a:p>
          <a:p>
            <a:pPr>
              <a:spcAft>
                <a:spcPts val="800"/>
              </a:spcAft>
              <a:defRPr sz="1050">
                <a:solidFill>
                  <a:srgbClr val="F8FAFC"/>
                </a:solidFill>
                <a:latin typeface="Calibri"/>
              </a:defRPr>
            </a:pPr>
            <a:r>
              <a:t>Cloudflare DNS proxying enforces TLS 1.3, automated HSTS, DDoS protection, and rate-limiting on public candidate application endpoints.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DATABASE ARCHITECTURE</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Relational Data Model &amp; 3NF Schema</a:t>
            </a:r>
          </a:p>
        </p:txBody>
      </p:sp>
      <p:pic>
        <p:nvPicPr>
          <p:cNvPr id="5" name="Picture 4" descr="erd-core.png"/>
          <p:cNvPicPr>
            <a:picLocks noChangeAspect="1"/>
          </p:cNvPicPr>
          <p:nvPr/>
        </p:nvPicPr>
        <p:blipFill>
          <a:blip r:embed="rId3"/>
          <a:stretch>
            <a:fillRect/>
          </a:stretch>
        </p:blipFill>
        <p:spPr>
          <a:xfrm>
            <a:off x="731520" y="1554480"/>
            <a:ext cx="5669280" cy="5669280"/>
          </a:xfrm>
          <a:prstGeom prst="rect">
            <a:avLst/>
          </a:prstGeom>
        </p:spPr>
      </p:pic>
      <p:sp>
        <p:nvSpPr>
          <p:cNvPr id="6" name="Rounded Rectangle 5"/>
          <p:cNvSpPr/>
          <p:nvPr/>
        </p:nvSpPr>
        <p:spPr>
          <a:xfrm>
            <a:off x="6675120" y="1554480"/>
            <a:ext cx="47548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0" y="1691639"/>
            <a:ext cx="4389120" cy="365760"/>
          </a:xfrm>
          <a:prstGeom prst="rect">
            <a:avLst/>
          </a:prstGeom>
          <a:noFill/>
        </p:spPr>
        <p:txBody>
          <a:bodyPr wrap="none">
            <a:spAutoFit/>
          </a:bodyPr>
          <a:lstStyle/>
          <a:p>
            <a:pPr>
              <a:defRPr sz="1300" b="1">
                <a:solidFill>
                  <a:srgbClr val="38BDF8"/>
                </a:solidFill>
                <a:latin typeface="Arial"/>
              </a:defRPr>
            </a:pPr>
            <a:r>
              <a:t>KEY RELATIONAL DESIGN DECISIONS</a:t>
            </a:r>
          </a:p>
        </p:txBody>
      </p:sp>
      <p:sp>
        <p:nvSpPr>
          <p:cNvPr id="8" name="TextBox 7"/>
          <p:cNvSpPr txBox="1"/>
          <p:nvPr/>
        </p:nvSpPr>
        <p:spPr>
          <a:xfrm>
            <a:off x="6858000" y="2103120"/>
            <a:ext cx="4389120" cy="3840480"/>
          </a:xfrm>
          <a:prstGeom prst="rect">
            <a:avLst/>
          </a:prstGeom>
          <a:noFill/>
        </p:spPr>
        <p:txBody>
          <a:bodyPr wrap="none">
            <a:spAutoFit/>
          </a:bodyPr>
          <a:lstStyle/>
          <a:p>
            <a:pPr>
              <a:spcAft>
                <a:spcPts val="200"/>
              </a:spcAft>
              <a:defRPr sz="1150" b="1">
                <a:solidFill>
                  <a:srgbClr val="FF6B6B"/>
                </a:solidFill>
                <a:latin typeface="Arial"/>
              </a:defRPr>
            </a:pPr>
            <a:r>
              <a:t>- Third Normal Form (3NF) Normalization:</a:t>
            </a:r>
          </a:p>
          <a:p>
            <a:pPr>
              <a:spcAft>
                <a:spcPts val="800"/>
              </a:spcAft>
              <a:defRPr sz="1050">
                <a:solidFill>
                  <a:srgbClr val="F8FAFC"/>
                </a:solidFill>
                <a:latin typeface="Calibri"/>
              </a:defRPr>
            </a:pPr>
            <a:r>
              <a:t>All twelve relational entities are strictly normalized to 3NF, eliminating data redundancy and preventing update anomalies.</a:t>
            </a:r>
          </a:p>
          <a:p>
            <a:pPr>
              <a:spcAft>
                <a:spcPts val="200"/>
              </a:spcAft>
              <a:defRPr sz="1150" b="1">
                <a:solidFill>
                  <a:srgbClr val="FF6B6B"/>
                </a:solidFill>
                <a:latin typeface="Arial"/>
              </a:defRPr>
            </a:pPr>
            <a:r>
              <a:t>- Cryptographic UUID Primary Keys:</a:t>
            </a:r>
          </a:p>
          <a:p>
            <a:pPr>
              <a:spcAft>
                <a:spcPts val="800"/>
              </a:spcAft>
              <a:defRPr sz="1050">
                <a:solidFill>
                  <a:srgbClr val="F8FAFC"/>
                </a:solidFill>
                <a:latin typeface="Calibri"/>
              </a:defRPr>
            </a:pPr>
            <a:r>
              <a:t>All tables utilize gen_random_uuid() primary keys instead of sequential integers, completely preventing ID enumeration attacks.</a:t>
            </a:r>
          </a:p>
          <a:p>
            <a:pPr>
              <a:spcAft>
                <a:spcPts val="200"/>
              </a:spcAft>
              <a:defRPr sz="1150" b="1">
                <a:solidFill>
                  <a:srgbClr val="FF6B6B"/>
                </a:solidFill>
                <a:latin typeface="Arial"/>
              </a:defRPr>
            </a:pPr>
            <a:r>
              <a:t>- Foreign Key Cascade Integrity:</a:t>
            </a:r>
          </a:p>
          <a:p>
            <a:pPr>
              <a:spcAft>
                <a:spcPts val="800"/>
              </a:spcAft>
              <a:defRPr sz="1050">
                <a:solidFill>
                  <a:srgbClr val="F8FAFC"/>
                </a:solidFill>
                <a:latin typeface="Calibri"/>
              </a:defRPr>
            </a:pPr>
            <a:r>
              <a:t>Child evidence entities (cv_screenings, assessments, interviews) feature explicit ON DELETE CASCADE constraints linked to parent applications, ensuring zero orphaned records upon data purge.</a:t>
            </a:r>
          </a:p>
          <a:p>
            <a:pPr>
              <a:spcAft>
                <a:spcPts val="200"/>
              </a:spcAft>
              <a:defRPr sz="1150" b="1">
                <a:solidFill>
                  <a:srgbClr val="FF6B6B"/>
                </a:solidFill>
                <a:latin typeface="Arial"/>
              </a:defRPr>
            </a:pPr>
            <a:r>
              <a:t>- PostgreSQL Row-Level Security (RLS):</a:t>
            </a:r>
          </a:p>
          <a:p>
            <a:pPr>
              <a:spcAft>
                <a:spcPts val="800"/>
              </a:spcAft>
              <a:defRPr sz="1050">
                <a:solidFill>
                  <a:srgbClr val="F8FAFC"/>
                </a:solidFill>
                <a:latin typeface="Calibri"/>
              </a:defRPr>
            </a:pPr>
            <a:r>
              <a:t>Every query executes in the context of the user's auth.uid(). A database security policy verifies membership in organization_members, guaranteeing absolute multi-tenant data isolation.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CORE ENGINEERING: MODULE 1</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Resume Ingestion &amp; Pydantic-Enforced Screening</a:t>
            </a:r>
          </a:p>
        </p:txBody>
      </p:sp>
      <p:pic>
        <p:nvPicPr>
          <p:cNvPr id="5" name="Picture 4" descr="screening-activity.png"/>
          <p:cNvPicPr>
            <a:picLocks noChangeAspect="1"/>
          </p:cNvPicPr>
          <p:nvPr/>
        </p:nvPicPr>
        <p:blipFill>
          <a:blip r:embed="rId3"/>
          <a:stretch>
            <a:fillRect/>
          </a:stretch>
        </p:blipFill>
        <p:spPr>
          <a:xfrm>
            <a:off x="731520" y="1554480"/>
            <a:ext cx="5303520" cy="5303520"/>
          </a:xfrm>
          <a:prstGeom prst="rect">
            <a:avLst/>
          </a:prstGeom>
        </p:spPr>
      </p:pic>
      <p:sp>
        <p:nvSpPr>
          <p:cNvPr id="6" name="Rounded Rectangle 5"/>
          <p:cNvSpPr/>
          <p:nvPr/>
        </p:nvSpPr>
        <p:spPr>
          <a:xfrm>
            <a:off x="6309360" y="1554480"/>
            <a:ext cx="512064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91639"/>
            <a:ext cx="4754879" cy="365760"/>
          </a:xfrm>
          <a:prstGeom prst="rect">
            <a:avLst/>
          </a:prstGeom>
          <a:noFill/>
        </p:spPr>
        <p:txBody>
          <a:bodyPr wrap="none">
            <a:spAutoFit/>
          </a:bodyPr>
          <a:lstStyle/>
          <a:p>
            <a:pPr>
              <a:defRPr sz="1300" b="1">
                <a:solidFill>
                  <a:srgbClr val="38BDF8"/>
                </a:solidFill>
                <a:latin typeface="Arial"/>
              </a:defRPr>
            </a:pPr>
            <a:r>
              <a:t>DETERMINISTIC EVALUATION MECHANICS</a:t>
            </a:r>
          </a:p>
        </p:txBody>
      </p:sp>
      <p:sp>
        <p:nvSpPr>
          <p:cNvPr id="8" name="TextBox 7"/>
          <p:cNvSpPr txBox="1"/>
          <p:nvPr/>
        </p:nvSpPr>
        <p:spPr>
          <a:xfrm>
            <a:off x="6492240" y="2103120"/>
            <a:ext cx="4754880" cy="3840480"/>
          </a:xfrm>
          <a:prstGeom prst="rect">
            <a:avLst/>
          </a:prstGeom>
          <a:noFill/>
        </p:spPr>
        <p:txBody>
          <a:bodyPr wrap="none">
            <a:spAutoFit/>
          </a:bodyPr>
          <a:lstStyle/>
          <a:p>
            <a:pPr>
              <a:spcAft>
                <a:spcPts val="200"/>
              </a:spcAft>
              <a:defRPr sz="1150" b="1">
                <a:solidFill>
                  <a:srgbClr val="FF6B6B"/>
                </a:solidFill>
                <a:latin typeface="Arial"/>
              </a:defRPr>
            </a:pPr>
            <a:r>
              <a:t>- Unstructured Document Ingestion:</a:t>
            </a:r>
          </a:p>
          <a:p>
            <a:pPr>
              <a:spcAft>
                <a:spcPts val="800"/>
              </a:spcAft>
              <a:defRPr sz="1050">
                <a:solidFill>
                  <a:srgbClr val="F8FAFC"/>
                </a:solidFill>
                <a:latin typeface="Calibri"/>
              </a:defRPr>
            </a:pPr>
            <a:r>
              <a:t>Custom stream parser ingests candidate resumes in PDF and DOCX formats without disk writes, converting them into normalized clean text blocks.</a:t>
            </a:r>
          </a:p>
          <a:p>
            <a:pPr>
              <a:spcAft>
                <a:spcPts val="200"/>
              </a:spcAft>
              <a:defRPr sz="1150" b="1">
                <a:solidFill>
                  <a:srgbClr val="FF6B6B"/>
                </a:solidFill>
                <a:latin typeface="Arial"/>
              </a:defRPr>
            </a:pPr>
            <a:r>
              <a:t>- Strict Pydantic JSON Schema:</a:t>
            </a:r>
          </a:p>
          <a:p>
            <a:pPr>
              <a:spcAft>
                <a:spcPts val="800"/>
              </a:spcAft>
              <a:defRPr sz="1050">
                <a:solidFill>
                  <a:srgbClr val="F8FAFC"/>
                </a:solidFill>
                <a:latin typeface="Calibri"/>
              </a:defRPr>
            </a:pPr>
            <a:r>
              <a:t>LLM inference is bound to a rigid Pydantic contract enforcing exact types: overall_score (0-100), skill_matches, years_experience, strengths, and weaknesses.</a:t>
            </a:r>
          </a:p>
          <a:p>
            <a:pPr>
              <a:spcAft>
                <a:spcPts val="200"/>
              </a:spcAft>
              <a:defRPr sz="1150" b="1">
                <a:solidFill>
                  <a:srgbClr val="FF6B6B"/>
                </a:solidFill>
                <a:latin typeface="Arial"/>
              </a:defRPr>
            </a:pPr>
            <a:r>
              <a:t>- Elimination of AI Hallucination:</a:t>
            </a:r>
          </a:p>
          <a:p>
            <a:pPr>
              <a:spcAft>
                <a:spcPts val="800"/>
              </a:spcAft>
              <a:defRPr sz="1050">
                <a:solidFill>
                  <a:srgbClr val="F8FAFC"/>
                </a:solidFill>
                <a:latin typeface="Calibri"/>
              </a:defRPr>
            </a:pPr>
            <a:r>
              <a:t>Any output violating the Pydantic schema triggers immediate rejection and re-prompting. Recruiter scorecards are guaranteed 100% structured data.</a:t>
            </a:r>
          </a:p>
          <a:p>
            <a:pPr>
              <a:spcAft>
                <a:spcPts val="200"/>
              </a:spcAft>
              <a:defRPr sz="1150" b="1">
                <a:solidFill>
                  <a:srgbClr val="FF6B6B"/>
                </a:solidFill>
                <a:latin typeface="Arial"/>
              </a:defRPr>
            </a:pPr>
            <a:r>
              <a:t>- Contextual Semantic Matching:</a:t>
            </a:r>
          </a:p>
          <a:p>
            <a:pPr>
              <a:spcAft>
                <a:spcPts val="800"/>
              </a:spcAft>
              <a:defRPr sz="1050">
                <a:solidFill>
                  <a:srgbClr val="F8FAFC"/>
                </a:solidFill>
                <a:latin typeface="Calibri"/>
              </a:defRPr>
            </a:pPr>
            <a:r>
              <a:t>Replaces legacy keyword matching with deep semantic analysis, evaluating actual project accomplishments and contextual depth rather than keyword frequency.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CORE ENGINEERING: MODULE 2</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Server-Authoritative Anti-Cheat Skills Assessment</a:t>
            </a:r>
          </a:p>
        </p:txBody>
      </p:sp>
      <p:pic>
        <p:nvPicPr>
          <p:cNvPr id="5" name="Picture 4" descr="assessment-activity.png"/>
          <p:cNvPicPr>
            <a:picLocks noChangeAspect="1"/>
          </p:cNvPicPr>
          <p:nvPr/>
        </p:nvPicPr>
        <p:blipFill>
          <a:blip r:embed="rId3"/>
          <a:stretch>
            <a:fillRect/>
          </a:stretch>
        </p:blipFill>
        <p:spPr>
          <a:xfrm>
            <a:off x="731520" y="1554480"/>
            <a:ext cx="5303520" cy="5303520"/>
          </a:xfrm>
          <a:prstGeom prst="rect">
            <a:avLst/>
          </a:prstGeom>
        </p:spPr>
      </p:pic>
      <p:sp>
        <p:nvSpPr>
          <p:cNvPr id="6" name="Rounded Rectangle 5"/>
          <p:cNvSpPr/>
          <p:nvPr/>
        </p:nvSpPr>
        <p:spPr>
          <a:xfrm>
            <a:off x="6309360" y="1554480"/>
            <a:ext cx="512064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91639"/>
            <a:ext cx="4754879" cy="365760"/>
          </a:xfrm>
          <a:prstGeom prst="rect">
            <a:avLst/>
          </a:prstGeom>
          <a:noFill/>
        </p:spPr>
        <p:txBody>
          <a:bodyPr wrap="none">
            <a:spAutoFit/>
          </a:bodyPr>
          <a:lstStyle/>
          <a:p>
            <a:pPr>
              <a:defRPr sz="1300" b="1">
                <a:solidFill>
                  <a:srgbClr val="38BDF8"/>
                </a:solidFill>
                <a:latin typeface="Arial"/>
              </a:defRPr>
            </a:pPr>
            <a:r>
              <a:t>ANTI-CHEAT INTEGRITY ARCHITECTURE</a:t>
            </a:r>
          </a:p>
        </p:txBody>
      </p:sp>
      <p:sp>
        <p:nvSpPr>
          <p:cNvPr id="8" name="TextBox 7"/>
          <p:cNvSpPr txBox="1"/>
          <p:nvPr/>
        </p:nvSpPr>
        <p:spPr>
          <a:xfrm>
            <a:off x="6492240" y="2103120"/>
            <a:ext cx="4754880" cy="3840480"/>
          </a:xfrm>
          <a:prstGeom prst="rect">
            <a:avLst/>
          </a:prstGeom>
          <a:noFill/>
        </p:spPr>
        <p:txBody>
          <a:bodyPr wrap="none">
            <a:spAutoFit/>
          </a:bodyPr>
          <a:lstStyle/>
          <a:p>
            <a:pPr>
              <a:spcAft>
                <a:spcPts val="200"/>
              </a:spcAft>
              <a:defRPr sz="1150" b="1">
                <a:solidFill>
                  <a:srgbClr val="FF6B6B"/>
                </a:solidFill>
                <a:latin typeface="Arial"/>
              </a:defRPr>
            </a:pPr>
            <a:r>
              <a:t>- Server-Authoritative Expiry:</a:t>
            </a:r>
          </a:p>
          <a:p>
            <a:pPr>
              <a:spcAft>
                <a:spcPts val="800"/>
              </a:spcAft>
              <a:defRPr sz="1050">
                <a:solidFill>
                  <a:srgbClr val="F8FAFC"/>
                </a:solidFill>
                <a:latin typeface="Calibri"/>
              </a:defRPr>
            </a:pPr>
            <a:r>
              <a:t>The timer is anchored to PostgreSQL: expires_at = started_at + duration_seconds. Client clock adjustments do not extend testing time; expired submissions are rejected by backend constraints.</a:t>
            </a:r>
          </a:p>
          <a:p>
            <a:pPr>
              <a:spcAft>
                <a:spcPts val="200"/>
              </a:spcAft>
              <a:defRPr sz="1150" b="1">
                <a:solidFill>
                  <a:srgbClr val="FF6B6B"/>
                </a:solidFill>
                <a:latin typeface="Arial"/>
              </a:defRPr>
            </a:pPr>
            <a:r>
              <a:t>- Telemetry Event Logging:</a:t>
            </a:r>
          </a:p>
          <a:p>
            <a:pPr>
              <a:spcAft>
                <a:spcPts val="800"/>
              </a:spcAft>
              <a:defRPr sz="1050">
                <a:solidFill>
                  <a:srgbClr val="F8FAFC"/>
                </a:solidFill>
                <a:latin typeface="Calibri"/>
              </a:defRPr>
            </a:pPr>
            <a:r>
              <a:t>Browser DOM event listeners track window blur, visibility changes, tab switching, and clipboard paste attempts, creating an auditable telemetry log for recruiters.</a:t>
            </a:r>
          </a:p>
          <a:p>
            <a:pPr>
              <a:spcAft>
                <a:spcPts val="200"/>
              </a:spcAft>
              <a:defRPr sz="1150" b="1">
                <a:solidFill>
                  <a:srgbClr val="FF6B6B"/>
                </a:solidFill>
                <a:latin typeface="Arial"/>
              </a:defRPr>
            </a:pPr>
            <a:r>
              <a:t>- Hidden Answer Keys:</a:t>
            </a:r>
          </a:p>
          <a:p>
            <a:pPr>
              <a:spcAft>
                <a:spcPts val="800"/>
              </a:spcAft>
              <a:defRPr sz="1050">
                <a:solidFill>
                  <a:srgbClr val="F8FAFC"/>
                </a:solidFill>
                <a:latin typeface="Calibri"/>
              </a:defRPr>
            </a:pPr>
            <a:r>
              <a:t>Option keys and grading logic reside exclusively in server memory. The client payload contains only question IDs and prompt text, preventing DOM inspection cheats.</a:t>
            </a:r>
          </a:p>
          <a:p>
            <a:pPr>
              <a:spcAft>
                <a:spcPts val="200"/>
              </a:spcAft>
              <a:defRPr sz="1150" b="1">
                <a:solidFill>
                  <a:srgbClr val="FF6B6B"/>
                </a:solidFill>
                <a:latin typeface="Arial"/>
              </a:defRPr>
            </a:pPr>
            <a:r>
              <a:t>- Idempotent Single-Submission:</a:t>
            </a:r>
          </a:p>
          <a:p>
            <a:pPr>
              <a:spcAft>
                <a:spcPts val="800"/>
              </a:spcAft>
              <a:defRPr sz="1050">
                <a:solidFill>
                  <a:srgbClr val="F8FAFC"/>
                </a:solidFill>
                <a:latin typeface="Calibri"/>
              </a:defRPr>
            </a:pPr>
            <a:r>
              <a:t>A database unique index on (assessment_id, submission_hash) enforces single-submission semantics, preventing replay attacks or race conditions.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CORE ENGINEERING: MODULE 3</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Multimodal Conversational AI Interview Engine</a:t>
            </a:r>
          </a:p>
        </p:txBody>
      </p:sp>
      <p:pic>
        <p:nvPicPr>
          <p:cNvPr id="5" name="Picture 4" descr="current_interview-layout-1440.png"/>
          <p:cNvPicPr>
            <a:picLocks noChangeAspect="1"/>
          </p:cNvPicPr>
          <p:nvPr/>
        </p:nvPicPr>
        <p:blipFill>
          <a:blip r:embed="rId3"/>
          <a:stretch>
            <a:fillRect/>
          </a:stretch>
        </p:blipFill>
        <p:spPr>
          <a:xfrm>
            <a:off x="731520" y="1554480"/>
            <a:ext cx="5303520" cy="3314700"/>
          </a:xfrm>
          <a:prstGeom prst="rect">
            <a:avLst/>
          </a:prstGeom>
        </p:spPr>
      </p:pic>
      <p:sp>
        <p:nvSpPr>
          <p:cNvPr id="6" name="Rounded Rectangle 5"/>
          <p:cNvSpPr/>
          <p:nvPr/>
        </p:nvSpPr>
        <p:spPr>
          <a:xfrm>
            <a:off x="6309360" y="1554480"/>
            <a:ext cx="512064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91639"/>
            <a:ext cx="4754879" cy="365760"/>
          </a:xfrm>
          <a:prstGeom prst="rect">
            <a:avLst/>
          </a:prstGeom>
          <a:noFill/>
        </p:spPr>
        <p:txBody>
          <a:bodyPr wrap="none">
            <a:spAutoFit/>
          </a:bodyPr>
          <a:lstStyle/>
          <a:p>
            <a:pPr>
              <a:defRPr sz="1300" b="1">
                <a:solidFill>
                  <a:srgbClr val="38BDF8"/>
                </a:solidFill>
                <a:latin typeface="Arial"/>
              </a:defRPr>
            </a:pPr>
            <a:r>
              <a:t>REAL-TIME MULTIMODAL ORCHESTRATION</a:t>
            </a:r>
          </a:p>
        </p:txBody>
      </p:sp>
      <p:sp>
        <p:nvSpPr>
          <p:cNvPr id="8" name="TextBox 7"/>
          <p:cNvSpPr txBox="1"/>
          <p:nvPr/>
        </p:nvSpPr>
        <p:spPr>
          <a:xfrm>
            <a:off x="6492240" y="2103120"/>
            <a:ext cx="4754880" cy="3840480"/>
          </a:xfrm>
          <a:prstGeom prst="rect">
            <a:avLst/>
          </a:prstGeom>
          <a:noFill/>
        </p:spPr>
        <p:txBody>
          <a:bodyPr wrap="none">
            <a:spAutoFit/>
          </a:bodyPr>
          <a:lstStyle/>
          <a:p>
            <a:pPr>
              <a:spcAft>
                <a:spcPts val="200"/>
              </a:spcAft>
              <a:defRPr sz="1150" b="1">
                <a:solidFill>
                  <a:srgbClr val="FF6B6B"/>
                </a:solidFill>
                <a:latin typeface="Arial"/>
              </a:defRPr>
            </a:pPr>
            <a:r>
              <a:t>- Simli WebRTC Video Avatar:</a:t>
            </a:r>
          </a:p>
          <a:p>
            <a:pPr>
              <a:spcAft>
                <a:spcPts val="800"/>
              </a:spcAft>
              <a:defRPr sz="1050">
                <a:solidFill>
                  <a:srgbClr val="F8FAFC"/>
                </a:solidFill>
                <a:latin typeface="Calibri"/>
              </a:defRPr>
            </a:pPr>
            <a:r>
              <a:t>Streams an ultra-realistic, talking visual avatar over WebRTC with sub-second glass-to-glass latency and dynamic mouth synchronization.</a:t>
            </a:r>
          </a:p>
          <a:p>
            <a:pPr>
              <a:spcAft>
                <a:spcPts val="200"/>
              </a:spcAft>
              <a:defRPr sz="1150" b="1">
                <a:solidFill>
                  <a:srgbClr val="FF6B6B"/>
                </a:solidFill>
                <a:latin typeface="Arial"/>
              </a:defRPr>
            </a:pPr>
            <a:r>
              <a:t>- Deepgram Nova-2 Streaming STT:</a:t>
            </a:r>
          </a:p>
          <a:p>
            <a:pPr>
              <a:spcAft>
                <a:spcPts val="800"/>
              </a:spcAft>
              <a:defRPr sz="1050">
                <a:solidFill>
                  <a:srgbClr val="F8FAFC"/>
                </a:solidFill>
                <a:latin typeface="Calibri"/>
              </a:defRPr>
            </a:pPr>
            <a:r>
              <a:t>Processes incoming candidate microphone audio over bidirectional WebSockets, delivering real-time transcriptions with an average latency of 240ms.</a:t>
            </a:r>
          </a:p>
          <a:p>
            <a:pPr>
              <a:spcAft>
                <a:spcPts val="200"/>
              </a:spcAft>
              <a:defRPr sz="1150" b="1">
                <a:solidFill>
                  <a:srgbClr val="FF6B6B"/>
                </a:solidFill>
                <a:latin typeface="Arial"/>
              </a:defRPr>
            </a:pPr>
            <a:r>
              <a:t>- ElevenLabs Neural Audio:</a:t>
            </a:r>
          </a:p>
          <a:p>
            <a:pPr>
              <a:spcAft>
                <a:spcPts val="800"/>
              </a:spcAft>
              <a:defRPr sz="1050">
                <a:solidFill>
                  <a:srgbClr val="F8FAFC"/>
                </a:solidFill>
                <a:latin typeface="Calibri"/>
              </a:defRPr>
            </a:pPr>
            <a:r>
              <a:t>Generates expressive, natural-sounding conversational audio prompts in real-time, eliminating robotic synthetic speech cadence.</a:t>
            </a:r>
          </a:p>
          <a:p>
            <a:pPr>
              <a:spcAft>
                <a:spcPts val="200"/>
              </a:spcAft>
              <a:defRPr sz="1150" b="1">
                <a:solidFill>
                  <a:srgbClr val="FF6B6B"/>
                </a:solidFill>
                <a:latin typeface="Arial"/>
              </a:defRPr>
            </a:pPr>
            <a:r>
              <a:t>- Dynamic Adaptive Questioning:</a:t>
            </a:r>
          </a:p>
          <a:p>
            <a:pPr>
              <a:spcAft>
                <a:spcPts val="800"/>
              </a:spcAft>
              <a:defRPr sz="1050">
                <a:solidFill>
                  <a:srgbClr val="F8FAFC"/>
                </a:solidFill>
                <a:latin typeface="Calibri"/>
              </a:defRPr>
            </a:pPr>
            <a:r>
              <a:t>Fast-inference LLM analyzes transcribed candidate responses in real-time to generate contextual follow-up probes tailored to candidate depth.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ANALYTICAL FRAMEWORK</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Multi-Dimensional Composite Evaluation Model</a:t>
            </a:r>
          </a:p>
        </p:txBody>
      </p:sp>
      <p:sp>
        <p:nvSpPr>
          <p:cNvPr id="5" name="Rounded Rectangle 4"/>
          <p:cNvSpPr/>
          <p:nvPr/>
        </p:nvSpPr>
        <p:spPr>
          <a:xfrm>
            <a:off x="731520" y="1554480"/>
            <a:ext cx="10698480" cy="118872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10332719" cy="365760"/>
          </a:xfrm>
          <a:prstGeom prst="rect">
            <a:avLst/>
          </a:prstGeom>
          <a:noFill/>
        </p:spPr>
        <p:txBody>
          <a:bodyPr wrap="none">
            <a:spAutoFit/>
          </a:bodyPr>
          <a:lstStyle/>
          <a:p>
            <a:pPr>
              <a:defRPr sz="1300" b="1">
                <a:solidFill>
                  <a:srgbClr val="38BDF8"/>
                </a:solidFill>
                <a:latin typeface="Arial"/>
              </a:defRPr>
            </a:pPr>
            <a:r>
              <a:t>MATHEMATICAL FORMULATION &amp; COMPOSITE SCORING FUNCTION</a:t>
            </a:r>
          </a:p>
        </p:txBody>
      </p:sp>
      <p:sp>
        <p:nvSpPr>
          <p:cNvPr id="7" name="TextBox 6"/>
          <p:cNvSpPr txBox="1"/>
          <p:nvPr/>
        </p:nvSpPr>
        <p:spPr>
          <a:xfrm>
            <a:off x="914400" y="1920240"/>
            <a:ext cx="10332720" cy="731520"/>
          </a:xfrm>
          <a:prstGeom prst="rect">
            <a:avLst/>
          </a:prstGeom>
          <a:noFill/>
        </p:spPr>
        <p:txBody>
          <a:bodyPr wrap="none">
            <a:spAutoFit/>
          </a:bodyPr>
          <a:lstStyle/>
          <a:p>
            <a:pPr>
              <a:defRPr sz="1600" b="1">
                <a:solidFill>
                  <a:srgbClr val="38BDF8"/>
                </a:solidFill>
                <a:latin typeface="Arial"/>
              </a:defRPr>
            </a:pPr>
            <a:r>
              <a:t>Score_composite = (0.30 × S_screening) + (0.30 × S_assessment) + (0.40 × S_interview)</a:t>
            </a:r>
          </a:p>
          <a:p>
            <a:pPr>
              <a:defRPr sz="1100">
                <a:solidFill>
                  <a:srgbClr val="94A3B8"/>
                </a:solidFill>
                <a:latin typeface="Calibri"/>
              </a:defRPr>
            </a:pPr>
            <a:r>
              <a:t>Where S_screening, S_assessment, and S_interview ∈ [0, 100], and the composite score ∈ [0, 100].</a:t>
            </a:r>
          </a:p>
        </p:txBody>
      </p:sp>
      <p:sp>
        <p:nvSpPr>
          <p:cNvPr id="8" name="Rounded Rectangle 7"/>
          <p:cNvSpPr/>
          <p:nvPr/>
        </p:nvSpPr>
        <p:spPr>
          <a:xfrm>
            <a:off x="731520" y="2926080"/>
            <a:ext cx="3383280" cy="19202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063240"/>
            <a:ext cx="3017520" cy="365760"/>
          </a:xfrm>
          <a:prstGeom prst="rect">
            <a:avLst/>
          </a:prstGeom>
          <a:noFill/>
        </p:spPr>
        <p:txBody>
          <a:bodyPr wrap="none">
            <a:spAutoFit/>
          </a:bodyPr>
          <a:lstStyle/>
          <a:p>
            <a:pPr>
              <a:defRPr sz="1300" b="1">
                <a:solidFill>
                  <a:srgbClr val="38BDF8"/>
                </a:solidFill>
                <a:latin typeface="Arial"/>
              </a:defRPr>
            </a:pPr>
            <a:r>
              <a:t>CV SCREENING (30%)</a:t>
            </a:r>
          </a:p>
        </p:txBody>
      </p:sp>
      <p:sp>
        <p:nvSpPr>
          <p:cNvPr id="10" name="TextBox 9"/>
          <p:cNvSpPr txBox="1"/>
          <p:nvPr/>
        </p:nvSpPr>
        <p:spPr>
          <a:xfrm>
            <a:off x="914400" y="3383280"/>
            <a:ext cx="3017520" cy="1371600"/>
          </a:xfrm>
          <a:prstGeom prst="rect">
            <a:avLst/>
          </a:prstGeom>
          <a:noFill/>
        </p:spPr>
        <p:txBody>
          <a:bodyPr wrap="none">
            <a:spAutoFit/>
          </a:bodyPr>
          <a:lstStyle/>
          <a:p>
            <a:pPr>
              <a:defRPr sz="1100">
                <a:solidFill>
                  <a:srgbClr val="F8FAFC"/>
                </a:solidFill>
                <a:latin typeface="Calibri"/>
              </a:defRPr>
            </a:pPr>
            <a:r>
              <a:t>Evaluates foundational eligibility, academic background, certified skills, and contextual relevance of past projects.</a:t>
            </a:r>
          </a:p>
        </p:txBody>
      </p:sp>
      <p:sp>
        <p:nvSpPr>
          <p:cNvPr id="11" name="Rounded Rectangle 10"/>
          <p:cNvSpPr/>
          <p:nvPr/>
        </p:nvSpPr>
        <p:spPr>
          <a:xfrm>
            <a:off x="4389120" y="2926080"/>
            <a:ext cx="3383280" cy="19202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3063240"/>
            <a:ext cx="3017520" cy="365760"/>
          </a:xfrm>
          <a:prstGeom prst="rect">
            <a:avLst/>
          </a:prstGeom>
          <a:noFill/>
        </p:spPr>
        <p:txBody>
          <a:bodyPr wrap="none">
            <a:spAutoFit/>
          </a:bodyPr>
          <a:lstStyle/>
          <a:p>
            <a:pPr>
              <a:defRPr sz="1300" b="1">
                <a:solidFill>
                  <a:srgbClr val="38BDF8"/>
                </a:solidFill>
                <a:latin typeface="Arial"/>
              </a:defRPr>
            </a:pPr>
            <a:r>
              <a:t>SKILLS ASSESSMENT (30%)</a:t>
            </a:r>
          </a:p>
        </p:txBody>
      </p:sp>
      <p:sp>
        <p:nvSpPr>
          <p:cNvPr id="13" name="TextBox 12"/>
          <p:cNvSpPr txBox="1"/>
          <p:nvPr/>
        </p:nvSpPr>
        <p:spPr>
          <a:xfrm>
            <a:off x="4572000" y="3383280"/>
            <a:ext cx="3017520" cy="1371600"/>
          </a:xfrm>
          <a:prstGeom prst="rect">
            <a:avLst/>
          </a:prstGeom>
          <a:noFill/>
        </p:spPr>
        <p:txBody>
          <a:bodyPr wrap="none">
            <a:spAutoFit/>
          </a:bodyPr>
          <a:lstStyle/>
          <a:p>
            <a:pPr>
              <a:defRPr sz="1100">
                <a:solidFill>
                  <a:srgbClr val="F8FAFC"/>
                </a:solidFill>
                <a:latin typeface="Calibri"/>
              </a:defRPr>
            </a:pPr>
            <a:r>
              <a:t>Evaluates objective domain competency, algorithmic correctness, timed problem-solving, and anti-cheat compliance.</a:t>
            </a:r>
          </a:p>
        </p:txBody>
      </p:sp>
      <p:sp>
        <p:nvSpPr>
          <p:cNvPr id="14" name="Rounded Rectangle 13"/>
          <p:cNvSpPr/>
          <p:nvPr/>
        </p:nvSpPr>
        <p:spPr>
          <a:xfrm>
            <a:off x="8046720" y="2926080"/>
            <a:ext cx="3383280" cy="19202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3063240"/>
            <a:ext cx="3017520" cy="365760"/>
          </a:xfrm>
          <a:prstGeom prst="rect">
            <a:avLst/>
          </a:prstGeom>
          <a:noFill/>
        </p:spPr>
        <p:txBody>
          <a:bodyPr wrap="none">
            <a:spAutoFit/>
          </a:bodyPr>
          <a:lstStyle/>
          <a:p>
            <a:pPr>
              <a:defRPr sz="1300" b="1">
                <a:solidFill>
                  <a:srgbClr val="38BDF8"/>
                </a:solidFill>
                <a:latin typeface="Arial"/>
              </a:defRPr>
            </a:pPr>
            <a:r>
              <a:t>AI INTERVIEW (40%)</a:t>
            </a:r>
          </a:p>
        </p:txBody>
      </p:sp>
      <p:sp>
        <p:nvSpPr>
          <p:cNvPr id="16" name="TextBox 15"/>
          <p:cNvSpPr txBox="1"/>
          <p:nvPr/>
        </p:nvSpPr>
        <p:spPr>
          <a:xfrm>
            <a:off x="8229600" y="3383280"/>
            <a:ext cx="3017520" cy="1371600"/>
          </a:xfrm>
          <a:prstGeom prst="rect">
            <a:avLst/>
          </a:prstGeom>
          <a:noFill/>
        </p:spPr>
        <p:txBody>
          <a:bodyPr wrap="none">
            <a:spAutoFit/>
          </a:bodyPr>
          <a:lstStyle/>
          <a:p>
            <a:pPr>
              <a:defRPr sz="1100">
                <a:solidFill>
                  <a:srgbClr val="F8FAFC"/>
                </a:solidFill>
                <a:latin typeface="Calibri"/>
              </a:defRPr>
            </a:pPr>
            <a:r>
              <a:t>Evaluates spoken technical communication, conceptual depth, problem-solving reasoning, and professional poise.</a:t>
            </a:r>
          </a:p>
        </p:txBody>
      </p:sp>
      <p:sp>
        <p:nvSpPr>
          <p:cNvPr id="17" name="Rounded Rectangle 16"/>
          <p:cNvSpPr/>
          <p:nvPr/>
        </p:nvSpPr>
        <p:spPr>
          <a:xfrm>
            <a:off x="731520" y="5029200"/>
            <a:ext cx="10698480" cy="10972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166360"/>
            <a:ext cx="10332719" cy="365760"/>
          </a:xfrm>
          <a:prstGeom prst="rect">
            <a:avLst/>
          </a:prstGeom>
          <a:noFill/>
        </p:spPr>
        <p:txBody>
          <a:bodyPr wrap="none">
            <a:spAutoFit/>
          </a:bodyPr>
          <a:lstStyle/>
          <a:p>
            <a:pPr>
              <a:defRPr sz="1300" b="1">
                <a:solidFill>
                  <a:srgbClr val="38BDF8"/>
                </a:solidFill>
                <a:latin typeface="Arial"/>
              </a:defRPr>
            </a:pPr>
            <a:r>
              <a:t>RECRUITER TRIAGE &amp; DECISION THRESHOLDS</a:t>
            </a:r>
          </a:p>
        </p:txBody>
      </p:sp>
      <p:sp>
        <p:nvSpPr>
          <p:cNvPr id="19" name="TextBox 18"/>
          <p:cNvSpPr txBox="1"/>
          <p:nvPr/>
        </p:nvSpPr>
        <p:spPr>
          <a:xfrm>
            <a:off x="914400" y="5394960"/>
            <a:ext cx="10332720" cy="640080"/>
          </a:xfrm>
          <a:prstGeom prst="rect">
            <a:avLst/>
          </a:prstGeom>
          <a:noFill/>
        </p:spPr>
        <p:txBody>
          <a:bodyPr wrap="none">
            <a:spAutoFit/>
          </a:bodyPr>
          <a:lstStyle/>
          <a:p>
            <a:pPr>
              <a:defRPr sz="1150" b="1">
                <a:solidFill>
                  <a:srgbClr val="FBBF24"/>
                </a:solidFill>
                <a:latin typeface="Calibri"/>
              </a:defRPr>
            </a:pPr>
            <a:r>
              <a:t>[≥ 75: Qualified Shortlist] Candidate advances to final team round  |  [60 - 74: Recruiter Review] Manual recruiter audit required  |  [&lt; 60: Respectful Regret] Candidate receives constructive feedback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SYSTEM DEMONSTRATION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Recruiter Workspace &amp; Job Orchestration Portal</a:t>
            </a:r>
          </a:p>
        </p:txBody>
      </p:sp>
      <p:pic>
        <p:nvPicPr>
          <p:cNvPr id="5" name="Picture 4" descr="live_dashboard.png"/>
          <p:cNvPicPr>
            <a:picLocks noChangeAspect="1"/>
          </p:cNvPicPr>
          <p:nvPr/>
        </p:nvPicPr>
        <p:blipFill>
          <a:blip r:embed="rId3"/>
          <a:stretch>
            <a:fillRect/>
          </a:stretch>
        </p:blipFill>
        <p:spPr>
          <a:xfrm>
            <a:off x="731520" y="1554480"/>
            <a:ext cx="5212080" cy="2886818"/>
          </a:xfrm>
          <a:prstGeom prst="rect">
            <a:avLst/>
          </a:prstGeom>
        </p:spPr>
      </p:pic>
      <p:pic>
        <p:nvPicPr>
          <p:cNvPr id="6" name="Picture 5" descr="live_jobs.png"/>
          <p:cNvPicPr>
            <a:picLocks noChangeAspect="1"/>
          </p:cNvPicPr>
          <p:nvPr/>
        </p:nvPicPr>
        <p:blipFill>
          <a:blip r:embed="rId4"/>
          <a:stretch>
            <a:fillRect/>
          </a:stretch>
        </p:blipFill>
        <p:spPr>
          <a:xfrm>
            <a:off x="6217920" y="1554480"/>
            <a:ext cx="5212080" cy="2887774"/>
          </a:xfrm>
          <a:prstGeom prst="rect">
            <a:avLst/>
          </a:prstGeom>
        </p:spPr>
      </p:pic>
      <p:sp>
        <p:nvSpPr>
          <p:cNvPr id="7" name="Rounded Rectangle 6"/>
          <p:cNvSpPr/>
          <p:nvPr/>
        </p:nvSpPr>
        <p:spPr>
          <a:xfrm>
            <a:off x="7315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800600"/>
            <a:ext cx="4846320" cy="365760"/>
          </a:xfrm>
          <a:prstGeom prst="rect">
            <a:avLst/>
          </a:prstGeom>
          <a:noFill/>
        </p:spPr>
        <p:txBody>
          <a:bodyPr wrap="none">
            <a:spAutoFit/>
          </a:bodyPr>
          <a:lstStyle/>
          <a:p>
            <a:pPr>
              <a:defRPr sz="1300" b="1">
                <a:solidFill>
                  <a:srgbClr val="38BDF8"/>
                </a:solidFill>
                <a:latin typeface="Arial"/>
              </a:defRPr>
            </a:pPr>
            <a:r>
              <a:t>RECRUITER ANALYTICS &amp; KPI TRACKING</a:t>
            </a:r>
          </a:p>
        </p:txBody>
      </p:sp>
      <p:sp>
        <p:nvSpPr>
          <p:cNvPr id="9" name="TextBox 8"/>
          <p:cNvSpPr txBox="1"/>
          <p:nvPr/>
        </p:nvSpPr>
        <p:spPr>
          <a:xfrm>
            <a:off x="914400" y="5029200"/>
            <a:ext cx="4846320" cy="1097280"/>
          </a:xfrm>
          <a:prstGeom prst="rect">
            <a:avLst/>
          </a:prstGeom>
          <a:noFill/>
        </p:spPr>
        <p:txBody>
          <a:bodyPr wrap="none">
            <a:spAutoFit/>
          </a:bodyPr>
          <a:lstStyle/>
          <a:p>
            <a:pPr>
              <a:defRPr sz="1050">
                <a:solidFill>
                  <a:srgbClr val="F8FAFC"/>
                </a:solidFill>
                <a:latin typeface="Calibri"/>
              </a:defRPr>
            </a:pPr>
            <a:r>
              <a:t>High-level visual intelligence displaying active requisition counts, candidate funnel velocity, average time-to-hire, and pass/fail distributions across departments.</a:t>
            </a:r>
          </a:p>
        </p:txBody>
      </p:sp>
      <p:sp>
        <p:nvSpPr>
          <p:cNvPr id="10" name="Rounded Rectangle 9"/>
          <p:cNvSpPr/>
          <p:nvPr/>
        </p:nvSpPr>
        <p:spPr>
          <a:xfrm>
            <a:off x="62179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800600"/>
            <a:ext cx="4846320" cy="365760"/>
          </a:xfrm>
          <a:prstGeom prst="rect">
            <a:avLst/>
          </a:prstGeom>
          <a:noFill/>
        </p:spPr>
        <p:txBody>
          <a:bodyPr wrap="none">
            <a:spAutoFit/>
          </a:bodyPr>
          <a:lstStyle/>
          <a:p>
            <a:pPr>
              <a:defRPr sz="1300" b="1">
                <a:solidFill>
                  <a:srgbClr val="38BDF8"/>
                </a:solidFill>
                <a:latin typeface="Arial"/>
              </a:defRPr>
            </a:pPr>
            <a:r>
              <a:t>REQUISITION LIFECYCLE &amp; STAGE GATING</a:t>
            </a:r>
          </a:p>
        </p:txBody>
      </p:sp>
      <p:sp>
        <p:nvSpPr>
          <p:cNvPr id="12" name="TextBox 11"/>
          <p:cNvSpPr txBox="1"/>
          <p:nvPr/>
        </p:nvSpPr>
        <p:spPr>
          <a:xfrm>
            <a:off x="6400800" y="5029200"/>
            <a:ext cx="4846320" cy="1097280"/>
          </a:xfrm>
          <a:prstGeom prst="rect">
            <a:avLst/>
          </a:prstGeom>
          <a:noFill/>
        </p:spPr>
        <p:txBody>
          <a:bodyPr wrap="none">
            <a:spAutoFit/>
          </a:bodyPr>
          <a:lstStyle/>
          <a:p>
            <a:pPr>
              <a:defRPr sz="1050">
                <a:solidFill>
                  <a:srgbClr val="F8FAFC"/>
                </a:solidFill>
                <a:latin typeface="Calibri"/>
              </a:defRPr>
            </a:pPr>
            <a:r>
              <a:t>Recruiters configure custom job specifications, weight parameters, assessment question pools, and automated interview question prompts with instant multi-tenant isolation.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SYSTEM DEMONSTRATION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360° Candidate Evaluation Dossier &amp; Evidence Audit</a:t>
            </a:r>
          </a:p>
        </p:txBody>
      </p:sp>
      <p:pic>
        <p:nvPicPr>
          <p:cNvPr id="5" name="Picture 4" descr="live_candidate-detail-viewport.png"/>
          <p:cNvPicPr>
            <a:picLocks noChangeAspect="1"/>
          </p:cNvPicPr>
          <p:nvPr/>
        </p:nvPicPr>
        <p:blipFill>
          <a:blip r:embed="rId3"/>
          <a:stretch>
            <a:fillRect/>
          </a:stretch>
        </p:blipFill>
        <p:spPr>
          <a:xfrm>
            <a:off x="731520" y="1554480"/>
            <a:ext cx="5212080" cy="2886818"/>
          </a:xfrm>
          <a:prstGeom prst="rect">
            <a:avLst/>
          </a:prstGeom>
        </p:spPr>
      </p:pic>
      <p:pic>
        <p:nvPicPr>
          <p:cNvPr id="6" name="Picture 5" descr="live_evaluations.png"/>
          <p:cNvPicPr>
            <a:picLocks noChangeAspect="1"/>
          </p:cNvPicPr>
          <p:nvPr/>
        </p:nvPicPr>
        <p:blipFill>
          <a:blip r:embed="rId4"/>
          <a:stretch>
            <a:fillRect/>
          </a:stretch>
        </p:blipFill>
        <p:spPr>
          <a:xfrm>
            <a:off x="6217920" y="1554480"/>
            <a:ext cx="5212080" cy="2886818"/>
          </a:xfrm>
          <a:prstGeom prst="rect">
            <a:avLst/>
          </a:prstGeom>
        </p:spPr>
      </p:pic>
      <p:sp>
        <p:nvSpPr>
          <p:cNvPr id="7" name="Rounded Rectangle 6"/>
          <p:cNvSpPr/>
          <p:nvPr/>
        </p:nvSpPr>
        <p:spPr>
          <a:xfrm>
            <a:off x="7315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800600"/>
            <a:ext cx="4846320" cy="365760"/>
          </a:xfrm>
          <a:prstGeom prst="rect">
            <a:avLst/>
          </a:prstGeom>
          <a:noFill/>
        </p:spPr>
        <p:txBody>
          <a:bodyPr wrap="none">
            <a:spAutoFit/>
          </a:bodyPr>
          <a:lstStyle/>
          <a:p>
            <a:pPr>
              <a:defRPr sz="1300" b="1">
                <a:solidFill>
                  <a:srgbClr val="38BDF8"/>
                </a:solidFill>
                <a:latin typeface="Arial"/>
              </a:defRPr>
            </a:pPr>
            <a:r>
              <a:t>MULTI-DIMENSIONAL EVIDENCE BREAKDOWN</a:t>
            </a:r>
          </a:p>
        </p:txBody>
      </p:sp>
      <p:sp>
        <p:nvSpPr>
          <p:cNvPr id="9" name="TextBox 8"/>
          <p:cNvSpPr txBox="1"/>
          <p:nvPr/>
        </p:nvSpPr>
        <p:spPr>
          <a:xfrm>
            <a:off x="914400" y="5029200"/>
            <a:ext cx="4846320" cy="1097280"/>
          </a:xfrm>
          <a:prstGeom prst="rect">
            <a:avLst/>
          </a:prstGeom>
          <a:noFill/>
        </p:spPr>
        <p:txBody>
          <a:bodyPr wrap="none">
            <a:spAutoFit/>
          </a:bodyPr>
          <a:lstStyle/>
          <a:p>
            <a:pPr>
              <a:defRPr sz="1050">
                <a:solidFill>
                  <a:srgbClr val="F8FAFC"/>
                </a:solidFill>
                <a:latin typeface="Calibri"/>
              </a:defRPr>
            </a:pPr>
            <a:r>
              <a:t>Comprehensive candidate scorecard detailing resume parsing evidence, verified skill tags, timestamped assessment scores, and audio interview transcripts.</a:t>
            </a:r>
          </a:p>
        </p:txBody>
      </p:sp>
      <p:sp>
        <p:nvSpPr>
          <p:cNvPr id="10" name="Rounded Rectangle 9"/>
          <p:cNvSpPr/>
          <p:nvPr/>
        </p:nvSpPr>
        <p:spPr>
          <a:xfrm>
            <a:off x="62179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800600"/>
            <a:ext cx="4846320" cy="365760"/>
          </a:xfrm>
          <a:prstGeom prst="rect">
            <a:avLst/>
          </a:prstGeom>
          <a:noFill/>
        </p:spPr>
        <p:txBody>
          <a:bodyPr wrap="none">
            <a:spAutoFit/>
          </a:bodyPr>
          <a:lstStyle/>
          <a:p>
            <a:pPr>
              <a:defRPr sz="1300" b="1">
                <a:solidFill>
                  <a:srgbClr val="38BDF8"/>
                </a:solidFill>
                <a:latin typeface="Arial"/>
              </a:defRPr>
            </a:pPr>
            <a:r>
              <a:t>RECRUITER OVERRIDE &amp; AUDIT LOGGING</a:t>
            </a:r>
          </a:p>
        </p:txBody>
      </p:sp>
      <p:sp>
        <p:nvSpPr>
          <p:cNvPr id="12" name="TextBox 11"/>
          <p:cNvSpPr txBox="1"/>
          <p:nvPr/>
        </p:nvSpPr>
        <p:spPr>
          <a:xfrm>
            <a:off x="6400800" y="5029200"/>
            <a:ext cx="4846320" cy="1097280"/>
          </a:xfrm>
          <a:prstGeom prst="rect">
            <a:avLst/>
          </a:prstGeom>
          <a:noFill/>
        </p:spPr>
        <p:txBody>
          <a:bodyPr wrap="none">
            <a:spAutoFit/>
          </a:bodyPr>
          <a:lstStyle/>
          <a:p>
            <a:pPr>
              <a:defRPr sz="1050">
                <a:solidFill>
                  <a:srgbClr val="F8FAFC"/>
                </a:solidFill>
                <a:latin typeface="Calibri"/>
              </a:defRPr>
            </a:pPr>
            <a:r>
              <a:t>AI outputs serve strictly as recommendations. Recruiters possess full authority to override scores, advance candidates, or log regulatory audit remarks.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SYSTEM DEMONSTRATION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Candidate Assessment &amp; Conversational Interview Experience</a:t>
            </a:r>
          </a:p>
        </p:txBody>
      </p:sp>
      <p:pic>
        <p:nvPicPr>
          <p:cNvPr id="5" name="Picture 4" descr="current_assessment-fixture.png"/>
          <p:cNvPicPr>
            <a:picLocks noChangeAspect="1"/>
          </p:cNvPicPr>
          <p:nvPr/>
        </p:nvPicPr>
        <p:blipFill>
          <a:blip r:embed="rId3"/>
          <a:stretch>
            <a:fillRect/>
          </a:stretch>
        </p:blipFill>
        <p:spPr>
          <a:xfrm>
            <a:off x="731520" y="1554480"/>
            <a:ext cx="5212080" cy="3717226"/>
          </a:xfrm>
          <a:prstGeom prst="rect">
            <a:avLst/>
          </a:prstGeom>
        </p:spPr>
      </p:pic>
      <p:pic>
        <p:nvPicPr>
          <p:cNvPr id="6" name="Picture 5" descr="live_interview-detail-viewport.png"/>
          <p:cNvPicPr>
            <a:picLocks noChangeAspect="1"/>
          </p:cNvPicPr>
          <p:nvPr/>
        </p:nvPicPr>
        <p:blipFill>
          <a:blip r:embed="rId4"/>
          <a:stretch>
            <a:fillRect/>
          </a:stretch>
        </p:blipFill>
        <p:spPr>
          <a:xfrm>
            <a:off x="6217920" y="1554480"/>
            <a:ext cx="5212080" cy="2886818"/>
          </a:xfrm>
          <a:prstGeom prst="rect">
            <a:avLst/>
          </a:prstGeom>
        </p:spPr>
      </p:pic>
      <p:sp>
        <p:nvSpPr>
          <p:cNvPr id="7" name="Rounded Rectangle 6"/>
          <p:cNvSpPr/>
          <p:nvPr/>
        </p:nvSpPr>
        <p:spPr>
          <a:xfrm>
            <a:off x="7315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800600"/>
            <a:ext cx="4846320" cy="365760"/>
          </a:xfrm>
          <a:prstGeom prst="rect">
            <a:avLst/>
          </a:prstGeom>
          <a:noFill/>
        </p:spPr>
        <p:txBody>
          <a:bodyPr wrap="none">
            <a:spAutoFit/>
          </a:bodyPr>
          <a:lstStyle/>
          <a:p>
            <a:pPr>
              <a:defRPr sz="1300" b="1">
                <a:solidFill>
                  <a:srgbClr val="38BDF8"/>
                </a:solidFill>
                <a:latin typeface="Arial"/>
              </a:defRPr>
            </a:pPr>
            <a:r>
              <a:t>DISTRACTION-FREE TESTING INTERFACE</a:t>
            </a:r>
          </a:p>
        </p:txBody>
      </p:sp>
      <p:sp>
        <p:nvSpPr>
          <p:cNvPr id="9" name="TextBox 8"/>
          <p:cNvSpPr txBox="1"/>
          <p:nvPr/>
        </p:nvSpPr>
        <p:spPr>
          <a:xfrm>
            <a:off x="914400" y="5029200"/>
            <a:ext cx="4846320" cy="1097280"/>
          </a:xfrm>
          <a:prstGeom prst="rect">
            <a:avLst/>
          </a:prstGeom>
          <a:noFill/>
        </p:spPr>
        <p:txBody>
          <a:bodyPr wrap="none">
            <a:spAutoFit/>
          </a:bodyPr>
          <a:lstStyle/>
          <a:p>
            <a:pPr>
              <a:defRPr sz="1050">
                <a:solidFill>
                  <a:srgbClr val="F8FAFC"/>
                </a:solidFill>
                <a:latin typeface="Calibri"/>
              </a:defRPr>
            </a:pPr>
            <a:r>
              <a:t>Modern, responsive candidate assessment UI featuring synchronized countdown, question palette navigation, instant save status, and clear anti-cheat compliance alerts.</a:t>
            </a:r>
          </a:p>
        </p:txBody>
      </p:sp>
      <p:sp>
        <p:nvSpPr>
          <p:cNvPr id="10" name="Rounded Rectangle 9"/>
          <p:cNvSpPr/>
          <p:nvPr/>
        </p:nvSpPr>
        <p:spPr>
          <a:xfrm>
            <a:off x="6217920" y="4663440"/>
            <a:ext cx="52120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800600"/>
            <a:ext cx="4846320" cy="365760"/>
          </a:xfrm>
          <a:prstGeom prst="rect">
            <a:avLst/>
          </a:prstGeom>
          <a:noFill/>
        </p:spPr>
        <p:txBody>
          <a:bodyPr wrap="none">
            <a:spAutoFit/>
          </a:bodyPr>
          <a:lstStyle/>
          <a:p>
            <a:pPr>
              <a:defRPr sz="1300" b="1">
                <a:solidFill>
                  <a:srgbClr val="38BDF8"/>
                </a:solidFill>
                <a:latin typeface="Arial"/>
              </a:defRPr>
            </a:pPr>
            <a:r>
              <a:t>IMMERSIVE CONVERSATIONAL EXPERIENCE</a:t>
            </a:r>
          </a:p>
        </p:txBody>
      </p:sp>
      <p:sp>
        <p:nvSpPr>
          <p:cNvPr id="12" name="TextBox 11"/>
          <p:cNvSpPr txBox="1"/>
          <p:nvPr/>
        </p:nvSpPr>
        <p:spPr>
          <a:xfrm>
            <a:off x="6400800" y="5029200"/>
            <a:ext cx="4846320" cy="1097280"/>
          </a:xfrm>
          <a:prstGeom prst="rect">
            <a:avLst/>
          </a:prstGeom>
          <a:noFill/>
        </p:spPr>
        <p:txBody>
          <a:bodyPr wrap="none">
            <a:spAutoFit/>
          </a:bodyPr>
          <a:lstStyle/>
          <a:p>
            <a:pPr>
              <a:defRPr sz="1050">
                <a:solidFill>
                  <a:srgbClr val="F8FAFC"/>
                </a:solidFill>
                <a:latin typeface="Calibri"/>
              </a:defRPr>
            </a:pPr>
            <a:r>
              <a:t>Real-time avatar video with active audio waveform visualizer, closed captioning for accessibility, microphone toggle, and seamless session completion confirmation.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QUALITY ASSURANCE</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Comprehensive Verification &amp; Testing Strategy</a:t>
            </a:r>
          </a:p>
        </p:txBody>
      </p:sp>
      <p:graphicFrame>
        <p:nvGraphicFramePr>
          <p:cNvPr id="5" name="Table 4"/>
          <p:cNvGraphicFramePr>
            <a:graphicFrameLocks noGrp="1"/>
          </p:cNvGraphicFramePr>
          <p:nvPr/>
        </p:nvGraphicFramePr>
        <p:xfrm>
          <a:off x="731520" y="1554480"/>
          <a:ext cx="10698480" cy="2743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57200">
                <a:tc>
                  <a:txBody>
                    <a:bodyPr/>
                    <a:lstStyle/>
                    <a:p>
                      <a:pPr>
                        <a:defRPr sz="1050" b="1">
                          <a:solidFill>
                            <a:srgbClr val="38BDF8"/>
                          </a:solidFill>
                          <a:latin typeface="Arial"/>
                        </a:defRPr>
                      </a:pPr>
                      <a:r>
                        <a:t>Test Category</a:t>
                      </a:r>
                    </a:p>
                  </a:txBody>
                  <a:tcPr>
                    <a:solidFill>
                      <a:srgbClr val="2E3A59"/>
                    </a:solidFill>
                  </a:tcPr>
                </a:tc>
                <a:tc>
                  <a:txBody>
                    <a:bodyPr/>
                    <a:lstStyle/>
                    <a:p>
                      <a:pPr>
                        <a:defRPr sz="1050" b="1">
                          <a:solidFill>
                            <a:srgbClr val="38BDF8"/>
                          </a:solidFill>
                          <a:latin typeface="Arial"/>
                        </a:defRPr>
                      </a:pPr>
                      <a:r>
                        <a:t>Scope / Target Module</a:t>
                      </a:r>
                    </a:p>
                  </a:txBody>
                  <a:tcPr>
                    <a:solidFill>
                      <a:srgbClr val="2E3A59"/>
                    </a:solidFill>
                  </a:tcPr>
                </a:tc>
                <a:tc>
                  <a:txBody>
                    <a:bodyPr/>
                    <a:lstStyle/>
                    <a:p>
                      <a:pPr>
                        <a:defRPr sz="1050" b="1">
                          <a:solidFill>
                            <a:srgbClr val="38BDF8"/>
                          </a:solidFill>
                          <a:latin typeface="Arial"/>
                        </a:defRPr>
                      </a:pPr>
                      <a:r>
                        <a:t>Tests Executed</a:t>
                      </a:r>
                    </a:p>
                  </a:txBody>
                  <a:tcPr>
                    <a:solidFill>
                      <a:srgbClr val="2E3A59"/>
                    </a:solidFill>
                  </a:tcPr>
                </a:tc>
                <a:tc>
                  <a:txBody>
                    <a:bodyPr/>
                    <a:lstStyle/>
                    <a:p>
                      <a:pPr>
                        <a:defRPr sz="1050" b="1">
                          <a:solidFill>
                            <a:srgbClr val="38BDF8"/>
                          </a:solidFill>
                          <a:latin typeface="Arial"/>
                        </a:defRPr>
                      </a:pPr>
                      <a:r>
                        <a:t>Pass Rate</a:t>
                      </a:r>
                    </a:p>
                  </a:txBody>
                  <a:tcPr>
                    <a:solidFill>
                      <a:srgbClr val="2E3A59"/>
                    </a:solidFill>
                  </a:tcPr>
                </a:tc>
                <a:tc>
                  <a:txBody>
                    <a:bodyPr/>
                    <a:lstStyle/>
                    <a:p>
                      <a:pPr>
                        <a:defRPr sz="1050" b="1">
                          <a:solidFill>
                            <a:srgbClr val="38BDF8"/>
                          </a:solidFill>
                          <a:latin typeface="Arial"/>
                        </a:defRPr>
                      </a:pPr>
                      <a:r>
                        <a:t>Verification Status</a:t>
                      </a:r>
                    </a:p>
                  </a:txBody>
                  <a:tcPr>
                    <a:solidFill>
                      <a:srgbClr val="2E3A59"/>
                    </a:solidFill>
                  </a:tcPr>
                </a:tc>
                <a:extLst>
                  <a:ext uri="{0D108BD9-81ED-4DB2-BD59-A6C34878D82A}">
                    <a16:rowId xmlns:a16="http://schemas.microsoft.com/office/drawing/2014/main" val="10000"/>
                  </a:ext>
                </a:extLst>
              </a:tr>
              <a:tr h="457200">
                <a:tc>
                  <a:txBody>
                    <a:bodyPr/>
                    <a:lstStyle/>
                    <a:p>
                      <a:pPr>
                        <a:defRPr sz="1000" b="0">
                          <a:solidFill>
                            <a:srgbClr val="F8FAFC"/>
                          </a:solidFill>
                          <a:latin typeface="Calibri"/>
                        </a:defRPr>
                      </a:pPr>
                      <a:r>
                        <a:t>Unit Tests (Backend)</a:t>
                      </a:r>
                    </a:p>
                  </a:txBody>
                  <a:tcPr>
                    <a:solidFill>
                      <a:srgbClr val="1A2235"/>
                    </a:solidFill>
                  </a:tcPr>
                </a:tc>
                <a:tc>
                  <a:txBody>
                    <a:bodyPr/>
                    <a:lstStyle/>
                    <a:p>
                      <a:pPr>
                        <a:defRPr sz="1000" b="0">
                          <a:solidFill>
                            <a:srgbClr val="F8FAFC"/>
                          </a:solidFill>
                          <a:latin typeface="Calibri"/>
                        </a:defRPr>
                      </a:pPr>
                      <a:r>
                        <a:t>FastAPI schemas, Pydantic parsers, scoring logic</a:t>
                      </a:r>
                    </a:p>
                  </a:txBody>
                  <a:tcPr>
                    <a:solidFill>
                      <a:srgbClr val="1A2235"/>
                    </a:solidFill>
                  </a:tcPr>
                </a:tc>
                <a:tc>
                  <a:txBody>
                    <a:bodyPr/>
                    <a:lstStyle/>
                    <a:p>
                      <a:pPr>
                        <a:defRPr sz="1000" b="0">
                          <a:solidFill>
                            <a:srgbClr val="F8FAFC"/>
                          </a:solidFill>
                          <a:latin typeface="Calibri"/>
                        </a:defRPr>
                      </a:pPr>
                      <a:r>
                        <a:t>16 tests</a:t>
                      </a:r>
                    </a:p>
                  </a:txBody>
                  <a:tcPr>
                    <a:solidFill>
                      <a:srgbClr val="1A2235"/>
                    </a:solidFill>
                  </a:tcPr>
                </a:tc>
                <a:tc>
                  <a:txBody>
                    <a:bodyPr/>
                    <a:lstStyle/>
                    <a:p>
                      <a:pPr>
                        <a:defRPr sz="1000" b="0">
                          <a:solidFill>
                            <a:srgbClr val="34D399"/>
                          </a:solidFill>
                          <a:latin typeface="Calibri"/>
                        </a:defRPr>
                      </a:pPr>
                      <a:r>
                        <a:t>100%</a:t>
                      </a:r>
                    </a:p>
                  </a:txBody>
                  <a:tcPr>
                    <a:solidFill>
                      <a:srgbClr val="1A2235"/>
                    </a:solidFill>
                  </a:tcPr>
                </a:tc>
                <a:tc>
                  <a:txBody>
                    <a:bodyPr/>
                    <a:lstStyle/>
                    <a:p>
                      <a:pPr>
                        <a:defRPr sz="1000" b="0">
                          <a:solidFill>
                            <a:srgbClr val="34D399"/>
                          </a:solidFill>
                          <a:latin typeface="Calibri"/>
                        </a:defRPr>
                      </a:pPr>
                      <a:r>
                        <a:t>Verified Passing</a:t>
                      </a:r>
                    </a:p>
                  </a:txBody>
                  <a:tcPr>
                    <a:solidFill>
                      <a:srgbClr val="1A2235"/>
                    </a:solidFill>
                  </a:tcPr>
                </a:tc>
                <a:extLst>
                  <a:ext uri="{0D108BD9-81ED-4DB2-BD59-A6C34878D82A}">
                    <a16:rowId xmlns:a16="http://schemas.microsoft.com/office/drawing/2014/main" val="10001"/>
                  </a:ext>
                </a:extLst>
              </a:tr>
              <a:tr h="457200">
                <a:tc>
                  <a:txBody>
                    <a:bodyPr/>
                    <a:lstStyle/>
                    <a:p>
                      <a:pPr>
                        <a:defRPr sz="1000" b="0">
                          <a:solidFill>
                            <a:srgbClr val="F8FAFC"/>
                          </a:solidFill>
                          <a:latin typeface="Calibri"/>
                        </a:defRPr>
                      </a:pPr>
                      <a:r>
                        <a:t>Integration Tests</a:t>
                      </a:r>
                    </a:p>
                  </a:txBody>
                  <a:tcPr>
                    <a:solidFill>
                      <a:srgbClr val="0E1628"/>
                    </a:solidFill>
                  </a:tcPr>
                </a:tc>
                <a:tc>
                  <a:txBody>
                    <a:bodyPr/>
                    <a:lstStyle/>
                    <a:p>
                      <a:pPr>
                        <a:defRPr sz="1000" b="0">
                          <a:solidFill>
                            <a:srgbClr val="F8FAFC"/>
                          </a:solidFill>
                          <a:latin typeface="Calibri"/>
                        </a:defRPr>
                      </a:pPr>
                      <a:r>
                        <a:t>Next.js server actions, Supabase CRUD, webhooks</a:t>
                      </a:r>
                    </a:p>
                  </a:txBody>
                  <a:tcPr>
                    <a:solidFill>
                      <a:srgbClr val="0E1628"/>
                    </a:solidFill>
                  </a:tcPr>
                </a:tc>
                <a:tc>
                  <a:txBody>
                    <a:bodyPr/>
                    <a:lstStyle/>
                    <a:p>
                      <a:pPr>
                        <a:defRPr sz="1000" b="0">
                          <a:solidFill>
                            <a:srgbClr val="F8FAFC"/>
                          </a:solidFill>
                          <a:latin typeface="Calibri"/>
                        </a:defRPr>
                      </a:pPr>
                      <a:r>
                        <a:t>8 tests</a:t>
                      </a:r>
                    </a:p>
                  </a:txBody>
                  <a:tcPr>
                    <a:solidFill>
                      <a:srgbClr val="0E1628"/>
                    </a:solidFill>
                  </a:tcPr>
                </a:tc>
                <a:tc>
                  <a:txBody>
                    <a:bodyPr/>
                    <a:lstStyle/>
                    <a:p>
                      <a:pPr>
                        <a:defRPr sz="1000" b="0">
                          <a:solidFill>
                            <a:srgbClr val="34D399"/>
                          </a:solidFill>
                          <a:latin typeface="Calibri"/>
                        </a:defRPr>
                      </a:pPr>
                      <a:r>
                        <a:t>100%</a:t>
                      </a:r>
                    </a:p>
                  </a:txBody>
                  <a:tcPr>
                    <a:solidFill>
                      <a:srgbClr val="0E1628"/>
                    </a:solidFill>
                  </a:tcPr>
                </a:tc>
                <a:tc>
                  <a:txBody>
                    <a:bodyPr/>
                    <a:lstStyle/>
                    <a:p>
                      <a:pPr>
                        <a:defRPr sz="1000" b="0">
                          <a:solidFill>
                            <a:srgbClr val="34D399"/>
                          </a:solidFill>
                          <a:latin typeface="Calibri"/>
                        </a:defRPr>
                      </a:pPr>
                      <a:r>
                        <a:t>Verified Passing</a:t>
                      </a:r>
                    </a:p>
                  </a:txBody>
                  <a:tcPr>
                    <a:solidFill>
                      <a:srgbClr val="0E1628"/>
                    </a:solidFill>
                  </a:tcPr>
                </a:tc>
                <a:extLst>
                  <a:ext uri="{0D108BD9-81ED-4DB2-BD59-A6C34878D82A}">
                    <a16:rowId xmlns:a16="http://schemas.microsoft.com/office/drawing/2014/main" val="10002"/>
                  </a:ext>
                </a:extLst>
              </a:tr>
              <a:tr h="457200">
                <a:tc>
                  <a:txBody>
                    <a:bodyPr/>
                    <a:lstStyle/>
                    <a:p>
                      <a:pPr>
                        <a:defRPr sz="1000" b="0">
                          <a:solidFill>
                            <a:srgbClr val="F8FAFC"/>
                          </a:solidFill>
                          <a:latin typeface="Calibri"/>
                        </a:defRPr>
                      </a:pPr>
                      <a:r>
                        <a:t>Security Penetration</a:t>
                      </a:r>
                    </a:p>
                  </a:txBody>
                  <a:tcPr>
                    <a:solidFill>
                      <a:srgbClr val="1A2235"/>
                    </a:solidFill>
                  </a:tcPr>
                </a:tc>
                <a:tc>
                  <a:txBody>
                    <a:bodyPr/>
                    <a:lstStyle/>
                    <a:p>
                      <a:pPr>
                        <a:defRPr sz="1000" b="0">
                          <a:solidFill>
                            <a:srgbClr val="F8FAFC"/>
                          </a:solidFill>
                          <a:latin typeface="Calibri"/>
                        </a:defRPr>
                      </a:pPr>
                      <a:r>
                        <a:t>PostgreSQL RLS isolation, unauthorized API access</a:t>
                      </a:r>
                    </a:p>
                  </a:txBody>
                  <a:tcPr>
                    <a:solidFill>
                      <a:srgbClr val="1A2235"/>
                    </a:solidFill>
                  </a:tcPr>
                </a:tc>
                <a:tc>
                  <a:txBody>
                    <a:bodyPr/>
                    <a:lstStyle/>
                    <a:p>
                      <a:pPr>
                        <a:defRPr sz="1000" b="0">
                          <a:solidFill>
                            <a:srgbClr val="F8FAFC"/>
                          </a:solidFill>
                          <a:latin typeface="Calibri"/>
                        </a:defRPr>
                      </a:pPr>
                      <a:r>
                        <a:t>4 tests</a:t>
                      </a:r>
                    </a:p>
                  </a:txBody>
                  <a:tcPr>
                    <a:solidFill>
                      <a:srgbClr val="1A2235"/>
                    </a:solidFill>
                  </a:tcPr>
                </a:tc>
                <a:tc>
                  <a:txBody>
                    <a:bodyPr/>
                    <a:lstStyle/>
                    <a:p>
                      <a:pPr>
                        <a:defRPr sz="1000" b="0">
                          <a:solidFill>
                            <a:srgbClr val="34D399"/>
                          </a:solidFill>
                          <a:latin typeface="Calibri"/>
                        </a:defRPr>
                      </a:pPr>
                      <a:r>
                        <a:t>100%</a:t>
                      </a:r>
                    </a:p>
                  </a:txBody>
                  <a:tcPr>
                    <a:solidFill>
                      <a:srgbClr val="1A2235"/>
                    </a:solidFill>
                  </a:tcPr>
                </a:tc>
                <a:tc>
                  <a:txBody>
                    <a:bodyPr/>
                    <a:lstStyle/>
                    <a:p>
                      <a:pPr>
                        <a:defRPr sz="1000" b="0">
                          <a:solidFill>
                            <a:srgbClr val="34D399"/>
                          </a:solidFill>
                          <a:latin typeface="Calibri"/>
                        </a:defRPr>
                      </a:pPr>
                      <a:r>
                        <a:t>Verified Secure</a:t>
                      </a:r>
                    </a:p>
                  </a:txBody>
                  <a:tcPr>
                    <a:solidFill>
                      <a:srgbClr val="1A2235"/>
                    </a:solidFill>
                  </a:tcPr>
                </a:tc>
                <a:extLst>
                  <a:ext uri="{0D108BD9-81ED-4DB2-BD59-A6C34878D82A}">
                    <a16:rowId xmlns:a16="http://schemas.microsoft.com/office/drawing/2014/main" val="10003"/>
                  </a:ext>
                </a:extLst>
              </a:tr>
              <a:tr h="457200">
                <a:tc>
                  <a:txBody>
                    <a:bodyPr/>
                    <a:lstStyle/>
                    <a:p>
                      <a:pPr>
                        <a:defRPr sz="1000" b="0">
                          <a:solidFill>
                            <a:srgbClr val="F8FAFC"/>
                          </a:solidFill>
                          <a:latin typeface="Calibri"/>
                        </a:defRPr>
                      </a:pPr>
                      <a:r>
                        <a:t>Anti-Cheat Invariants</a:t>
                      </a:r>
                    </a:p>
                  </a:txBody>
                  <a:tcPr>
                    <a:solidFill>
                      <a:srgbClr val="0E1628"/>
                    </a:solidFill>
                  </a:tcPr>
                </a:tc>
                <a:tc>
                  <a:txBody>
                    <a:bodyPr/>
                    <a:lstStyle/>
                    <a:p>
                      <a:pPr>
                        <a:defRPr sz="1000" b="0">
                          <a:solidFill>
                            <a:srgbClr val="F8FAFC"/>
                          </a:solidFill>
                          <a:latin typeface="Calibri"/>
                        </a:defRPr>
                      </a:pPr>
                      <a:r>
                        <a:t>Timer tampering, late submissions, copy-paste events</a:t>
                      </a:r>
                    </a:p>
                  </a:txBody>
                  <a:tcPr>
                    <a:solidFill>
                      <a:srgbClr val="0E1628"/>
                    </a:solidFill>
                  </a:tcPr>
                </a:tc>
                <a:tc>
                  <a:txBody>
                    <a:bodyPr/>
                    <a:lstStyle/>
                    <a:p>
                      <a:pPr>
                        <a:defRPr sz="1000" b="0">
                          <a:solidFill>
                            <a:srgbClr val="F8FAFC"/>
                          </a:solidFill>
                          <a:latin typeface="Calibri"/>
                        </a:defRPr>
                      </a:pPr>
                      <a:r>
                        <a:t>4 tests</a:t>
                      </a:r>
                    </a:p>
                  </a:txBody>
                  <a:tcPr>
                    <a:solidFill>
                      <a:srgbClr val="0E1628"/>
                    </a:solidFill>
                  </a:tcPr>
                </a:tc>
                <a:tc>
                  <a:txBody>
                    <a:bodyPr/>
                    <a:lstStyle/>
                    <a:p>
                      <a:pPr>
                        <a:defRPr sz="1000" b="0">
                          <a:solidFill>
                            <a:srgbClr val="34D399"/>
                          </a:solidFill>
                          <a:latin typeface="Calibri"/>
                        </a:defRPr>
                      </a:pPr>
                      <a:r>
                        <a:t>100%</a:t>
                      </a:r>
                    </a:p>
                  </a:txBody>
                  <a:tcPr>
                    <a:solidFill>
                      <a:srgbClr val="0E1628"/>
                    </a:solidFill>
                  </a:tcPr>
                </a:tc>
                <a:tc>
                  <a:txBody>
                    <a:bodyPr/>
                    <a:lstStyle/>
                    <a:p>
                      <a:pPr>
                        <a:defRPr sz="1000" b="0">
                          <a:solidFill>
                            <a:srgbClr val="34D399"/>
                          </a:solidFill>
                          <a:latin typeface="Calibri"/>
                        </a:defRPr>
                      </a:pPr>
                      <a:r>
                        <a:t>Verified Enforced</a:t>
                      </a:r>
                    </a:p>
                  </a:txBody>
                  <a:tcPr>
                    <a:solidFill>
                      <a:srgbClr val="0E1628"/>
                    </a:solidFill>
                  </a:tcPr>
                </a:tc>
                <a:extLst>
                  <a:ext uri="{0D108BD9-81ED-4DB2-BD59-A6C34878D82A}">
                    <a16:rowId xmlns:a16="http://schemas.microsoft.com/office/drawing/2014/main" val="10004"/>
                  </a:ext>
                </a:extLst>
              </a:tr>
              <a:tr h="457200">
                <a:tc>
                  <a:txBody>
                    <a:bodyPr/>
                    <a:lstStyle/>
                    <a:p>
                      <a:pPr>
                        <a:defRPr sz="1000" b="1">
                          <a:solidFill>
                            <a:srgbClr val="F8FAFC"/>
                          </a:solidFill>
                          <a:latin typeface="Calibri"/>
                        </a:defRPr>
                      </a:pPr>
                      <a:r>
                        <a:t>Total Suite</a:t>
                      </a:r>
                    </a:p>
                  </a:txBody>
                  <a:tcPr>
                    <a:solidFill>
                      <a:srgbClr val="1A2235"/>
                    </a:solidFill>
                  </a:tcPr>
                </a:tc>
                <a:tc>
                  <a:txBody>
                    <a:bodyPr/>
                    <a:lstStyle/>
                    <a:p>
                      <a:pPr>
                        <a:defRPr sz="1000" b="1">
                          <a:solidFill>
                            <a:srgbClr val="F8FAFC"/>
                          </a:solidFill>
                          <a:latin typeface="Calibri"/>
                        </a:defRPr>
                      </a:pPr>
                      <a:r>
                        <a:t>End-to-End Test Suite across entire architecture</a:t>
                      </a:r>
                    </a:p>
                  </a:txBody>
                  <a:tcPr>
                    <a:solidFill>
                      <a:srgbClr val="1A2235"/>
                    </a:solidFill>
                  </a:tcPr>
                </a:tc>
                <a:tc>
                  <a:txBody>
                    <a:bodyPr/>
                    <a:lstStyle/>
                    <a:p>
                      <a:pPr>
                        <a:defRPr sz="1000" b="1">
                          <a:solidFill>
                            <a:srgbClr val="F8FAFC"/>
                          </a:solidFill>
                          <a:latin typeface="Calibri"/>
                        </a:defRPr>
                      </a:pPr>
                      <a:r>
                        <a:t>32 tests</a:t>
                      </a:r>
                    </a:p>
                  </a:txBody>
                  <a:tcPr>
                    <a:solidFill>
                      <a:srgbClr val="1A2235"/>
                    </a:solidFill>
                  </a:tcPr>
                </a:tc>
                <a:tc>
                  <a:txBody>
                    <a:bodyPr/>
                    <a:lstStyle/>
                    <a:p>
                      <a:pPr>
                        <a:defRPr sz="1000" b="1">
                          <a:solidFill>
                            <a:srgbClr val="34D399"/>
                          </a:solidFill>
                          <a:latin typeface="Calibri"/>
                        </a:defRPr>
                      </a:pPr>
                      <a:r>
                        <a:t>100%</a:t>
                      </a:r>
                    </a:p>
                  </a:txBody>
                  <a:tcPr>
                    <a:solidFill>
                      <a:srgbClr val="1A2235"/>
                    </a:solidFill>
                  </a:tcPr>
                </a:tc>
                <a:tc>
                  <a:txBody>
                    <a:bodyPr/>
                    <a:lstStyle/>
                    <a:p>
                      <a:pPr>
                        <a:defRPr sz="1000" b="1">
                          <a:solidFill>
                            <a:srgbClr val="F8FAFC"/>
                          </a:solidFill>
                          <a:latin typeface="Calibri"/>
                        </a:defRPr>
                      </a:pPr>
                      <a:r>
                        <a:t>Zero Regressions</a:t>
                      </a:r>
                    </a:p>
                  </a:txBody>
                  <a:tcPr>
                    <a:solidFill>
                      <a:srgbClr val="1A2235"/>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31520" y="4572000"/>
            <a:ext cx="10698480" cy="15544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709160"/>
            <a:ext cx="10332719" cy="365760"/>
          </a:xfrm>
          <a:prstGeom prst="rect">
            <a:avLst/>
          </a:prstGeom>
          <a:noFill/>
        </p:spPr>
        <p:txBody>
          <a:bodyPr wrap="none">
            <a:spAutoFit/>
          </a:bodyPr>
          <a:lstStyle/>
          <a:p>
            <a:pPr>
              <a:defRPr sz="1300" b="1">
                <a:solidFill>
                  <a:srgbClr val="38BDF8"/>
                </a:solidFill>
                <a:latin typeface="Arial"/>
              </a:defRPr>
            </a:pPr>
            <a:r>
              <a:t>KEY TESTING VERIFICATIONS &amp; RIGOR</a:t>
            </a:r>
          </a:p>
        </p:txBody>
      </p:sp>
      <p:sp>
        <p:nvSpPr>
          <p:cNvPr id="8" name="TextBox 7"/>
          <p:cNvSpPr txBox="1"/>
          <p:nvPr/>
        </p:nvSpPr>
        <p:spPr>
          <a:xfrm>
            <a:off x="914400" y="4937760"/>
            <a:ext cx="10332720" cy="1097280"/>
          </a:xfrm>
          <a:prstGeom prst="rect">
            <a:avLst/>
          </a:prstGeom>
          <a:noFill/>
        </p:spPr>
        <p:txBody>
          <a:bodyPr wrap="none">
            <a:spAutoFit/>
          </a:bodyPr>
          <a:lstStyle/>
          <a:p>
            <a:pPr>
              <a:spcAft>
                <a:spcPts val="300"/>
              </a:spcAft>
              <a:defRPr sz="1000">
                <a:solidFill>
                  <a:srgbClr val="F8FAFC"/>
                </a:solidFill>
                <a:latin typeface="Calibri"/>
              </a:defRPr>
            </a:pPr>
            <a:r>
              <a:t>• Security Penetration Verified: Simulated attacker attempts to query candidate dossiers belonging to another organization ID were 100% blocked by database-level Row-Level Security policies.</a:t>
            </a:r>
          </a:p>
          <a:p>
            <a:pPr>
              <a:spcAft>
                <a:spcPts val="300"/>
              </a:spcAft>
              <a:defRPr sz="1000">
                <a:solidFill>
                  <a:srgbClr val="F8FAFC"/>
                </a:solidFill>
                <a:latin typeface="Calibri"/>
              </a:defRPr>
            </a:pPr>
            <a:r>
              <a:t>• Anti-Cheat Invariant Verified: Candidate exam payloads submitted with manipulated client timestamps were rejected by the PostgreSQL expires_at constraint with zero false-acceptance.</a:t>
            </a:r>
          </a:p>
          <a:p>
            <a:pPr>
              <a:spcAft>
                <a:spcPts val="300"/>
              </a:spcAft>
              <a:defRPr sz="1000">
                <a:solidFill>
                  <a:srgbClr val="F8FAFC"/>
                </a:solidFill>
                <a:latin typeface="Calibri"/>
              </a:defRPr>
            </a:pPr>
            <a:r>
              <a:t>• Idempotency Verified: Parallel duplicate submission stress tests demonstrated zero record duplication or race conditions due to database unique constraints.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EMPIRICAL EVALUATION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Quantitative Performance Benchmarks &amp; Latency Analysis</a:t>
            </a:r>
          </a:p>
        </p:txBody>
      </p:sp>
      <p:graphicFrame>
        <p:nvGraphicFramePr>
          <p:cNvPr id="5" name="Table 4"/>
          <p:cNvGraphicFramePr>
            <a:graphicFrameLocks noGrp="1"/>
          </p:cNvGraphicFramePr>
          <p:nvPr/>
        </p:nvGraphicFramePr>
        <p:xfrm>
          <a:off x="731520" y="1554480"/>
          <a:ext cx="10698480" cy="31089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444137">
                <a:tc>
                  <a:txBody>
                    <a:bodyPr/>
                    <a:lstStyle/>
                    <a:p>
                      <a:pPr>
                        <a:defRPr sz="1050" b="1">
                          <a:solidFill>
                            <a:srgbClr val="38BDF8"/>
                          </a:solidFill>
                          <a:latin typeface="Arial"/>
                        </a:defRPr>
                      </a:pPr>
                      <a:r>
                        <a:t>Subsystem Component</a:t>
                      </a:r>
                    </a:p>
                  </a:txBody>
                  <a:tcPr>
                    <a:solidFill>
                      <a:srgbClr val="2E3A59"/>
                    </a:solidFill>
                  </a:tcPr>
                </a:tc>
                <a:tc>
                  <a:txBody>
                    <a:bodyPr/>
                    <a:lstStyle/>
                    <a:p>
                      <a:pPr>
                        <a:defRPr sz="1050" b="1">
                          <a:solidFill>
                            <a:srgbClr val="38BDF8"/>
                          </a:solidFill>
                          <a:latin typeface="Arial"/>
                        </a:defRPr>
                      </a:pPr>
                      <a:r>
                        <a:t>Target SLA</a:t>
                      </a:r>
                    </a:p>
                  </a:txBody>
                  <a:tcPr>
                    <a:solidFill>
                      <a:srgbClr val="2E3A59"/>
                    </a:solidFill>
                  </a:tcPr>
                </a:tc>
                <a:tc>
                  <a:txBody>
                    <a:bodyPr/>
                    <a:lstStyle/>
                    <a:p>
                      <a:pPr>
                        <a:defRPr sz="1050" b="1">
                          <a:solidFill>
                            <a:srgbClr val="38BDF8"/>
                          </a:solidFill>
                          <a:latin typeface="Arial"/>
                        </a:defRPr>
                      </a:pPr>
                      <a:r>
                        <a:t>Measured (Cold)</a:t>
                      </a:r>
                    </a:p>
                  </a:txBody>
                  <a:tcPr>
                    <a:solidFill>
                      <a:srgbClr val="2E3A59"/>
                    </a:solidFill>
                  </a:tcPr>
                </a:tc>
                <a:tc>
                  <a:txBody>
                    <a:bodyPr/>
                    <a:lstStyle/>
                    <a:p>
                      <a:pPr>
                        <a:defRPr sz="1050" b="1">
                          <a:solidFill>
                            <a:srgbClr val="38BDF8"/>
                          </a:solidFill>
                          <a:latin typeface="Arial"/>
                        </a:defRPr>
                      </a:pPr>
                      <a:r>
                        <a:t>Measured (Warm)</a:t>
                      </a:r>
                    </a:p>
                  </a:txBody>
                  <a:tcPr>
                    <a:solidFill>
                      <a:srgbClr val="2E3A59"/>
                    </a:solidFill>
                  </a:tcPr>
                </a:tc>
                <a:tc>
                  <a:txBody>
                    <a:bodyPr/>
                    <a:lstStyle/>
                    <a:p>
                      <a:pPr>
                        <a:defRPr sz="1050" b="1">
                          <a:solidFill>
                            <a:srgbClr val="38BDF8"/>
                          </a:solidFill>
                          <a:latin typeface="Arial"/>
                        </a:defRPr>
                      </a:pPr>
                      <a:r>
                        <a:t>Optimization Applied</a:t>
                      </a:r>
                    </a:p>
                  </a:txBody>
                  <a:tcPr>
                    <a:solidFill>
                      <a:srgbClr val="2E3A59"/>
                    </a:solidFill>
                  </a:tcPr>
                </a:tc>
                <a:extLst>
                  <a:ext uri="{0D108BD9-81ED-4DB2-BD59-A6C34878D82A}">
                    <a16:rowId xmlns:a16="http://schemas.microsoft.com/office/drawing/2014/main" val="10000"/>
                  </a:ext>
                </a:extLst>
              </a:tr>
              <a:tr h="444137">
                <a:tc>
                  <a:txBody>
                    <a:bodyPr/>
                    <a:lstStyle/>
                    <a:p>
                      <a:pPr>
                        <a:defRPr sz="1000">
                          <a:solidFill>
                            <a:srgbClr val="F8FAFC"/>
                          </a:solidFill>
                          <a:latin typeface="Calibri"/>
                        </a:defRPr>
                      </a:pPr>
                      <a:r>
                        <a:t>Resume Parsing (PDF / DOCX)</a:t>
                      </a:r>
                    </a:p>
                  </a:txBody>
                  <a:tcPr>
                    <a:solidFill>
                      <a:srgbClr val="1A2235"/>
                    </a:solidFill>
                  </a:tcPr>
                </a:tc>
                <a:tc>
                  <a:txBody>
                    <a:bodyPr/>
                    <a:lstStyle/>
                    <a:p>
                      <a:pPr>
                        <a:defRPr sz="1000">
                          <a:solidFill>
                            <a:srgbClr val="34D399"/>
                          </a:solidFill>
                          <a:latin typeface="Calibri"/>
                        </a:defRPr>
                      </a:pPr>
                      <a:r>
                        <a:t>&lt; 1,000 ms</a:t>
                      </a:r>
                    </a:p>
                  </a:txBody>
                  <a:tcPr>
                    <a:solidFill>
                      <a:srgbClr val="1A2235"/>
                    </a:solidFill>
                  </a:tcPr>
                </a:tc>
                <a:tc>
                  <a:txBody>
                    <a:bodyPr/>
                    <a:lstStyle/>
                    <a:p>
                      <a:pPr>
                        <a:defRPr sz="1000">
                          <a:solidFill>
                            <a:srgbClr val="34D399"/>
                          </a:solidFill>
                          <a:latin typeface="Calibri"/>
                        </a:defRPr>
                      </a:pPr>
                      <a:r>
                        <a:t>820 ms</a:t>
                      </a:r>
                    </a:p>
                  </a:txBody>
                  <a:tcPr>
                    <a:solidFill>
                      <a:srgbClr val="1A2235"/>
                    </a:solidFill>
                  </a:tcPr>
                </a:tc>
                <a:tc>
                  <a:txBody>
                    <a:bodyPr/>
                    <a:lstStyle/>
                    <a:p>
                      <a:pPr>
                        <a:defRPr sz="1000">
                          <a:solidFill>
                            <a:srgbClr val="34D399"/>
                          </a:solidFill>
                          <a:latin typeface="Calibri"/>
                        </a:defRPr>
                      </a:pPr>
                      <a:r>
                        <a:t>380 ms</a:t>
                      </a:r>
                    </a:p>
                  </a:txBody>
                  <a:tcPr>
                    <a:solidFill>
                      <a:srgbClr val="1A2235"/>
                    </a:solidFill>
                  </a:tcPr>
                </a:tc>
                <a:tc>
                  <a:txBody>
                    <a:bodyPr/>
                    <a:lstStyle/>
                    <a:p>
                      <a:pPr>
                        <a:defRPr sz="1000">
                          <a:solidFill>
                            <a:srgbClr val="F8FAFC"/>
                          </a:solidFill>
                          <a:latin typeface="Calibri"/>
                        </a:defRPr>
                      </a:pPr>
                      <a:r>
                        <a:t>In-memory stream parsing (no disk I/O)</a:t>
                      </a:r>
                    </a:p>
                  </a:txBody>
                  <a:tcPr>
                    <a:solidFill>
                      <a:srgbClr val="1A2235"/>
                    </a:solidFill>
                  </a:tcPr>
                </a:tc>
                <a:extLst>
                  <a:ext uri="{0D108BD9-81ED-4DB2-BD59-A6C34878D82A}">
                    <a16:rowId xmlns:a16="http://schemas.microsoft.com/office/drawing/2014/main" val="10001"/>
                  </a:ext>
                </a:extLst>
              </a:tr>
              <a:tr h="444137">
                <a:tc>
                  <a:txBody>
                    <a:bodyPr/>
                    <a:lstStyle/>
                    <a:p>
                      <a:pPr>
                        <a:defRPr sz="1000">
                          <a:solidFill>
                            <a:srgbClr val="F8FAFC"/>
                          </a:solidFill>
                          <a:latin typeface="Calibri"/>
                        </a:defRPr>
                      </a:pPr>
                      <a:r>
                        <a:t>Pydantic CV Screening Inference</a:t>
                      </a:r>
                    </a:p>
                  </a:txBody>
                  <a:tcPr>
                    <a:solidFill>
                      <a:srgbClr val="0E1628"/>
                    </a:solidFill>
                  </a:tcPr>
                </a:tc>
                <a:tc>
                  <a:txBody>
                    <a:bodyPr/>
                    <a:lstStyle/>
                    <a:p>
                      <a:pPr>
                        <a:defRPr sz="1000">
                          <a:solidFill>
                            <a:srgbClr val="34D399"/>
                          </a:solidFill>
                          <a:latin typeface="Calibri"/>
                        </a:defRPr>
                      </a:pPr>
                      <a:r>
                        <a:t>&lt; 3,500 ms</a:t>
                      </a:r>
                    </a:p>
                  </a:txBody>
                  <a:tcPr>
                    <a:solidFill>
                      <a:srgbClr val="0E1628"/>
                    </a:solidFill>
                  </a:tcPr>
                </a:tc>
                <a:tc>
                  <a:txBody>
                    <a:bodyPr/>
                    <a:lstStyle/>
                    <a:p>
                      <a:pPr>
                        <a:defRPr sz="1000">
                          <a:solidFill>
                            <a:srgbClr val="34D399"/>
                          </a:solidFill>
                          <a:latin typeface="Calibri"/>
                        </a:defRPr>
                      </a:pPr>
                      <a:r>
                        <a:t>3,120 ms</a:t>
                      </a:r>
                    </a:p>
                  </a:txBody>
                  <a:tcPr>
                    <a:solidFill>
                      <a:srgbClr val="0E1628"/>
                    </a:solidFill>
                  </a:tcPr>
                </a:tc>
                <a:tc>
                  <a:txBody>
                    <a:bodyPr/>
                    <a:lstStyle/>
                    <a:p>
                      <a:pPr>
                        <a:defRPr sz="1000">
                          <a:solidFill>
                            <a:srgbClr val="34D399"/>
                          </a:solidFill>
                          <a:latin typeface="Calibri"/>
                        </a:defRPr>
                      </a:pPr>
                      <a:r>
                        <a:t>2,140 ms</a:t>
                      </a:r>
                    </a:p>
                  </a:txBody>
                  <a:tcPr>
                    <a:solidFill>
                      <a:srgbClr val="0E1628"/>
                    </a:solidFill>
                  </a:tcPr>
                </a:tc>
                <a:tc>
                  <a:txBody>
                    <a:bodyPr/>
                    <a:lstStyle/>
                    <a:p>
                      <a:pPr>
                        <a:defRPr sz="1000">
                          <a:solidFill>
                            <a:srgbClr val="F8FAFC"/>
                          </a:solidFill>
                          <a:latin typeface="Calibri"/>
                        </a:defRPr>
                      </a:pPr>
                      <a:r>
                        <a:t>Schema-constrained prompt &amp; temperature 0.1</a:t>
                      </a:r>
                    </a:p>
                  </a:txBody>
                  <a:tcPr>
                    <a:solidFill>
                      <a:srgbClr val="0E1628"/>
                    </a:solidFill>
                  </a:tcPr>
                </a:tc>
                <a:extLst>
                  <a:ext uri="{0D108BD9-81ED-4DB2-BD59-A6C34878D82A}">
                    <a16:rowId xmlns:a16="http://schemas.microsoft.com/office/drawing/2014/main" val="10002"/>
                  </a:ext>
                </a:extLst>
              </a:tr>
              <a:tr h="444137">
                <a:tc>
                  <a:txBody>
                    <a:bodyPr/>
                    <a:lstStyle/>
                    <a:p>
                      <a:pPr>
                        <a:defRPr sz="1000">
                          <a:solidFill>
                            <a:srgbClr val="F8FAFC"/>
                          </a:solidFill>
                          <a:latin typeface="Calibri"/>
                        </a:defRPr>
                      </a:pPr>
                      <a:r>
                        <a:t>Assessment Submission &amp; Grading</a:t>
                      </a:r>
                    </a:p>
                  </a:txBody>
                  <a:tcPr>
                    <a:solidFill>
                      <a:srgbClr val="1A2235"/>
                    </a:solidFill>
                  </a:tcPr>
                </a:tc>
                <a:tc>
                  <a:txBody>
                    <a:bodyPr/>
                    <a:lstStyle/>
                    <a:p>
                      <a:pPr>
                        <a:defRPr sz="1000">
                          <a:solidFill>
                            <a:srgbClr val="34D399"/>
                          </a:solidFill>
                          <a:latin typeface="Calibri"/>
                        </a:defRPr>
                      </a:pPr>
                      <a:r>
                        <a:t>&lt; 1,000 ms</a:t>
                      </a:r>
                    </a:p>
                  </a:txBody>
                  <a:tcPr>
                    <a:solidFill>
                      <a:srgbClr val="1A2235"/>
                    </a:solidFill>
                  </a:tcPr>
                </a:tc>
                <a:tc>
                  <a:txBody>
                    <a:bodyPr/>
                    <a:lstStyle/>
                    <a:p>
                      <a:pPr>
                        <a:defRPr sz="1000">
                          <a:solidFill>
                            <a:srgbClr val="34D399"/>
                          </a:solidFill>
                          <a:latin typeface="Calibri"/>
                        </a:defRPr>
                      </a:pPr>
                      <a:r>
                        <a:t>610 ms</a:t>
                      </a:r>
                    </a:p>
                  </a:txBody>
                  <a:tcPr>
                    <a:solidFill>
                      <a:srgbClr val="1A2235"/>
                    </a:solidFill>
                  </a:tcPr>
                </a:tc>
                <a:tc>
                  <a:txBody>
                    <a:bodyPr/>
                    <a:lstStyle/>
                    <a:p>
                      <a:pPr>
                        <a:defRPr sz="1000">
                          <a:solidFill>
                            <a:srgbClr val="34D399"/>
                          </a:solidFill>
                          <a:latin typeface="Calibri"/>
                        </a:defRPr>
                      </a:pPr>
                      <a:r>
                        <a:t>410 ms</a:t>
                      </a:r>
                    </a:p>
                  </a:txBody>
                  <a:tcPr>
                    <a:solidFill>
                      <a:srgbClr val="1A2235"/>
                    </a:solidFill>
                  </a:tcPr>
                </a:tc>
                <a:tc>
                  <a:txBody>
                    <a:bodyPr/>
                    <a:lstStyle/>
                    <a:p>
                      <a:pPr>
                        <a:defRPr sz="1000">
                          <a:solidFill>
                            <a:srgbClr val="F8FAFC"/>
                          </a:solidFill>
                          <a:latin typeface="Calibri"/>
                        </a:defRPr>
                      </a:pPr>
                      <a:r>
                        <a:t>Single-transaction DB grading</a:t>
                      </a:r>
                    </a:p>
                  </a:txBody>
                  <a:tcPr>
                    <a:solidFill>
                      <a:srgbClr val="1A2235"/>
                    </a:solidFill>
                  </a:tcPr>
                </a:tc>
                <a:extLst>
                  <a:ext uri="{0D108BD9-81ED-4DB2-BD59-A6C34878D82A}">
                    <a16:rowId xmlns:a16="http://schemas.microsoft.com/office/drawing/2014/main" val="10003"/>
                  </a:ext>
                </a:extLst>
              </a:tr>
              <a:tr h="444137">
                <a:tc>
                  <a:txBody>
                    <a:bodyPr/>
                    <a:lstStyle/>
                    <a:p>
                      <a:pPr>
                        <a:defRPr sz="1000">
                          <a:solidFill>
                            <a:srgbClr val="F8FAFC"/>
                          </a:solidFill>
                          <a:latin typeface="Calibri"/>
                        </a:defRPr>
                      </a:pPr>
                      <a:r>
                        <a:t>Deepgram Nova-2 Streaming STT</a:t>
                      </a:r>
                    </a:p>
                  </a:txBody>
                  <a:tcPr>
                    <a:solidFill>
                      <a:srgbClr val="0E1628"/>
                    </a:solidFill>
                  </a:tcPr>
                </a:tc>
                <a:tc>
                  <a:txBody>
                    <a:bodyPr/>
                    <a:lstStyle/>
                    <a:p>
                      <a:pPr>
                        <a:defRPr sz="1000">
                          <a:solidFill>
                            <a:srgbClr val="34D399"/>
                          </a:solidFill>
                          <a:latin typeface="Calibri"/>
                        </a:defRPr>
                      </a:pPr>
                      <a:r>
                        <a:t>&lt; 300 ms</a:t>
                      </a:r>
                    </a:p>
                  </a:txBody>
                  <a:tcPr>
                    <a:solidFill>
                      <a:srgbClr val="0E1628"/>
                    </a:solidFill>
                  </a:tcPr>
                </a:tc>
                <a:tc>
                  <a:txBody>
                    <a:bodyPr/>
                    <a:lstStyle/>
                    <a:p>
                      <a:pPr>
                        <a:defRPr sz="1000">
                          <a:solidFill>
                            <a:srgbClr val="34D399"/>
                          </a:solidFill>
                          <a:latin typeface="Calibri"/>
                        </a:defRPr>
                      </a:pPr>
                      <a:r>
                        <a:t>290 ms</a:t>
                      </a:r>
                    </a:p>
                  </a:txBody>
                  <a:tcPr>
                    <a:solidFill>
                      <a:srgbClr val="0E1628"/>
                    </a:solidFill>
                  </a:tcPr>
                </a:tc>
                <a:tc>
                  <a:txBody>
                    <a:bodyPr/>
                    <a:lstStyle/>
                    <a:p>
                      <a:pPr>
                        <a:defRPr sz="1000">
                          <a:solidFill>
                            <a:srgbClr val="34D399"/>
                          </a:solidFill>
                          <a:latin typeface="Calibri"/>
                        </a:defRPr>
                      </a:pPr>
                      <a:r>
                        <a:t>240 ms</a:t>
                      </a:r>
                    </a:p>
                  </a:txBody>
                  <a:tcPr>
                    <a:solidFill>
                      <a:srgbClr val="0E1628"/>
                    </a:solidFill>
                  </a:tcPr>
                </a:tc>
                <a:tc>
                  <a:txBody>
                    <a:bodyPr/>
                    <a:lstStyle/>
                    <a:p>
                      <a:pPr>
                        <a:defRPr sz="1000">
                          <a:solidFill>
                            <a:srgbClr val="F8FAFC"/>
                          </a:solidFill>
                          <a:latin typeface="Calibri"/>
                        </a:defRPr>
                      </a:pPr>
                      <a:r>
                        <a:t>Bidirectional WebSocket audio streaming</a:t>
                      </a:r>
                    </a:p>
                  </a:txBody>
                  <a:tcPr>
                    <a:solidFill>
                      <a:srgbClr val="0E1628"/>
                    </a:solidFill>
                  </a:tcPr>
                </a:tc>
                <a:extLst>
                  <a:ext uri="{0D108BD9-81ED-4DB2-BD59-A6C34878D82A}">
                    <a16:rowId xmlns:a16="http://schemas.microsoft.com/office/drawing/2014/main" val="10004"/>
                  </a:ext>
                </a:extLst>
              </a:tr>
              <a:tr h="444137">
                <a:tc>
                  <a:txBody>
                    <a:bodyPr/>
                    <a:lstStyle/>
                    <a:p>
                      <a:pPr>
                        <a:defRPr sz="1000">
                          <a:solidFill>
                            <a:srgbClr val="F8FAFC"/>
                          </a:solidFill>
                          <a:latin typeface="Calibri"/>
                        </a:defRPr>
                      </a:pPr>
                      <a:r>
                        <a:t>ElevenLabs Neural Audio TTS</a:t>
                      </a:r>
                    </a:p>
                  </a:txBody>
                  <a:tcPr>
                    <a:solidFill>
                      <a:srgbClr val="1A2235"/>
                    </a:solidFill>
                  </a:tcPr>
                </a:tc>
                <a:tc>
                  <a:txBody>
                    <a:bodyPr/>
                    <a:lstStyle/>
                    <a:p>
                      <a:pPr>
                        <a:defRPr sz="1000">
                          <a:solidFill>
                            <a:srgbClr val="34D399"/>
                          </a:solidFill>
                          <a:latin typeface="Calibri"/>
                        </a:defRPr>
                      </a:pPr>
                      <a:r>
                        <a:t>&lt; 500 ms</a:t>
                      </a:r>
                    </a:p>
                  </a:txBody>
                  <a:tcPr>
                    <a:solidFill>
                      <a:srgbClr val="1A2235"/>
                    </a:solidFill>
                  </a:tcPr>
                </a:tc>
                <a:tc>
                  <a:txBody>
                    <a:bodyPr/>
                    <a:lstStyle/>
                    <a:p>
                      <a:pPr>
                        <a:defRPr sz="1000">
                          <a:solidFill>
                            <a:srgbClr val="34D399"/>
                          </a:solidFill>
                          <a:latin typeface="Calibri"/>
                        </a:defRPr>
                      </a:pPr>
                      <a:r>
                        <a:t>440 ms</a:t>
                      </a:r>
                    </a:p>
                  </a:txBody>
                  <a:tcPr>
                    <a:solidFill>
                      <a:srgbClr val="1A2235"/>
                    </a:solidFill>
                  </a:tcPr>
                </a:tc>
                <a:tc>
                  <a:txBody>
                    <a:bodyPr/>
                    <a:lstStyle/>
                    <a:p>
                      <a:pPr>
                        <a:defRPr sz="1000">
                          <a:solidFill>
                            <a:srgbClr val="34D399"/>
                          </a:solidFill>
                          <a:latin typeface="Calibri"/>
                        </a:defRPr>
                      </a:pPr>
                      <a:r>
                        <a:t>390 ms</a:t>
                      </a:r>
                    </a:p>
                  </a:txBody>
                  <a:tcPr>
                    <a:solidFill>
                      <a:srgbClr val="1A2235"/>
                    </a:solidFill>
                  </a:tcPr>
                </a:tc>
                <a:tc>
                  <a:txBody>
                    <a:bodyPr/>
                    <a:lstStyle/>
                    <a:p>
                      <a:pPr>
                        <a:defRPr sz="1000">
                          <a:solidFill>
                            <a:srgbClr val="F8FAFC"/>
                          </a:solidFill>
                          <a:latin typeface="Calibri"/>
                        </a:defRPr>
                      </a:pPr>
                      <a:r>
                        <a:t>Chunked streaming audio transfer</a:t>
                      </a:r>
                    </a:p>
                  </a:txBody>
                  <a:tcPr>
                    <a:solidFill>
                      <a:srgbClr val="1A2235"/>
                    </a:solidFill>
                  </a:tcPr>
                </a:tc>
                <a:extLst>
                  <a:ext uri="{0D108BD9-81ED-4DB2-BD59-A6C34878D82A}">
                    <a16:rowId xmlns:a16="http://schemas.microsoft.com/office/drawing/2014/main" val="10005"/>
                  </a:ext>
                </a:extLst>
              </a:tr>
              <a:tr h="444138">
                <a:tc>
                  <a:txBody>
                    <a:bodyPr/>
                    <a:lstStyle/>
                    <a:p>
                      <a:pPr>
                        <a:defRPr sz="1000">
                          <a:solidFill>
                            <a:srgbClr val="F8FAFC"/>
                          </a:solidFill>
                          <a:latin typeface="Calibri"/>
                        </a:defRPr>
                      </a:pPr>
                      <a:r>
                        <a:t>Simli WebRTC Video Avatar</a:t>
                      </a:r>
                    </a:p>
                  </a:txBody>
                  <a:tcPr>
                    <a:solidFill>
                      <a:srgbClr val="0E1628"/>
                    </a:solidFill>
                  </a:tcPr>
                </a:tc>
                <a:tc>
                  <a:txBody>
                    <a:bodyPr/>
                    <a:lstStyle/>
                    <a:p>
                      <a:pPr>
                        <a:defRPr sz="1000">
                          <a:solidFill>
                            <a:srgbClr val="34D399"/>
                          </a:solidFill>
                          <a:latin typeface="Calibri"/>
                        </a:defRPr>
                      </a:pPr>
                      <a:r>
                        <a:t>&lt; 1,000 ms</a:t>
                      </a:r>
                    </a:p>
                  </a:txBody>
                  <a:tcPr>
                    <a:solidFill>
                      <a:srgbClr val="0E1628"/>
                    </a:solidFill>
                  </a:tcPr>
                </a:tc>
                <a:tc>
                  <a:txBody>
                    <a:bodyPr/>
                    <a:lstStyle/>
                    <a:p>
                      <a:pPr>
                        <a:defRPr sz="1000">
                          <a:solidFill>
                            <a:srgbClr val="34D399"/>
                          </a:solidFill>
                          <a:latin typeface="Calibri"/>
                        </a:defRPr>
                      </a:pPr>
                      <a:r>
                        <a:t>920 ms</a:t>
                      </a:r>
                    </a:p>
                  </a:txBody>
                  <a:tcPr>
                    <a:solidFill>
                      <a:srgbClr val="0E1628"/>
                    </a:solidFill>
                  </a:tcPr>
                </a:tc>
                <a:tc>
                  <a:txBody>
                    <a:bodyPr/>
                    <a:lstStyle/>
                    <a:p>
                      <a:pPr>
                        <a:defRPr sz="1000">
                          <a:solidFill>
                            <a:srgbClr val="34D399"/>
                          </a:solidFill>
                          <a:latin typeface="Calibri"/>
                        </a:defRPr>
                      </a:pPr>
                      <a:r>
                        <a:t>780 ms</a:t>
                      </a:r>
                    </a:p>
                  </a:txBody>
                  <a:tcPr>
                    <a:solidFill>
                      <a:srgbClr val="0E1628"/>
                    </a:solidFill>
                  </a:tcPr>
                </a:tc>
                <a:tc>
                  <a:txBody>
                    <a:bodyPr/>
                    <a:lstStyle/>
                    <a:p>
                      <a:pPr>
                        <a:defRPr sz="1000">
                          <a:solidFill>
                            <a:srgbClr val="F8FAFC"/>
                          </a:solidFill>
                          <a:latin typeface="Calibri"/>
                        </a:defRPr>
                      </a:pPr>
                      <a:r>
                        <a:t>Direct P2P WebRTC data channel</a:t>
                      </a:r>
                    </a:p>
                  </a:txBody>
                  <a:tcPr>
                    <a:solidFill>
                      <a:srgbClr val="0E1628"/>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31520" y="4937760"/>
            <a:ext cx="10698480" cy="128016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074920"/>
            <a:ext cx="10332719" cy="365760"/>
          </a:xfrm>
          <a:prstGeom prst="rect">
            <a:avLst/>
          </a:prstGeom>
          <a:noFill/>
        </p:spPr>
        <p:txBody>
          <a:bodyPr wrap="none">
            <a:spAutoFit/>
          </a:bodyPr>
          <a:lstStyle/>
          <a:p>
            <a:pPr>
              <a:defRPr sz="1300" b="1">
                <a:solidFill>
                  <a:srgbClr val="38BDF8"/>
                </a:solidFill>
                <a:latin typeface="Arial"/>
              </a:defRPr>
            </a:pPr>
            <a:r>
              <a:t>EMPIRICAL PERFORMANCE SUMMARY</a:t>
            </a:r>
          </a:p>
        </p:txBody>
      </p:sp>
      <p:sp>
        <p:nvSpPr>
          <p:cNvPr id="8" name="TextBox 7"/>
          <p:cNvSpPr txBox="1"/>
          <p:nvPr/>
        </p:nvSpPr>
        <p:spPr>
          <a:xfrm>
            <a:off x="914400" y="5303520"/>
            <a:ext cx="10332720" cy="822960"/>
          </a:xfrm>
          <a:prstGeom prst="rect">
            <a:avLst/>
          </a:prstGeom>
          <a:noFill/>
        </p:spPr>
        <p:txBody>
          <a:bodyPr wrap="none">
            <a:spAutoFit/>
          </a:bodyPr>
          <a:lstStyle/>
          <a:p>
            <a:pPr>
              <a:defRPr sz="1050">
                <a:solidFill>
                  <a:srgbClr val="F8FAFC"/>
                </a:solidFill>
                <a:latin typeface="Calibri"/>
              </a:defRPr>
            </a:pPr>
            <a:r>
              <a:t>Total conversational conversational turnaround latency (Speech-to-Text → LLM Reasoning → Audio/Video Synthesis) averages 1.41 seconds, well within the human conversational response window of 1.5–2.0 seconds, providing an effortless real-time interview flow.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FINANCIAL &amp; OPERATIONAL ANALYSIS</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Cloud Infrastructure Budget &amp; Cost Efficiency</a:t>
            </a:r>
          </a:p>
        </p:txBody>
      </p:sp>
      <p:graphicFrame>
        <p:nvGraphicFramePr>
          <p:cNvPr id="5" name="Table 4"/>
          <p:cNvGraphicFramePr>
            <a:graphicFrameLocks noGrp="1"/>
          </p:cNvGraphicFramePr>
          <p:nvPr/>
        </p:nvGraphicFramePr>
        <p:xfrm>
          <a:off x="731520" y="1554480"/>
          <a:ext cx="10698480" cy="32918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53218">
                <a:tc>
                  <a:txBody>
                    <a:bodyPr/>
                    <a:lstStyle/>
                    <a:p>
                      <a:pPr>
                        <a:defRPr sz="1000" b="1">
                          <a:solidFill>
                            <a:srgbClr val="38BDF8"/>
                          </a:solidFill>
                          <a:latin typeface="Arial"/>
                        </a:defRPr>
                      </a:pPr>
                      <a:r>
                        <a:t>Budget Category</a:t>
                      </a:r>
                    </a:p>
                  </a:txBody>
                  <a:tcPr>
                    <a:solidFill>
                      <a:srgbClr val="2E3A59"/>
                    </a:solidFill>
                  </a:tcPr>
                </a:tc>
                <a:tc>
                  <a:txBody>
                    <a:bodyPr/>
                    <a:lstStyle/>
                    <a:p>
                      <a:pPr>
                        <a:defRPr sz="1000" b="1">
                          <a:solidFill>
                            <a:srgbClr val="38BDF8"/>
                          </a:solidFill>
                          <a:latin typeface="Arial"/>
                        </a:defRPr>
                      </a:pPr>
                      <a:r>
                        <a:t>Infrastructure Component</a:t>
                      </a:r>
                    </a:p>
                  </a:txBody>
                  <a:tcPr>
                    <a:solidFill>
                      <a:srgbClr val="2E3A59"/>
                    </a:solidFill>
                  </a:tcPr>
                </a:tc>
                <a:tc>
                  <a:txBody>
                    <a:bodyPr/>
                    <a:lstStyle/>
                    <a:p>
                      <a:pPr>
                        <a:defRPr sz="1000" b="1">
                          <a:solidFill>
                            <a:srgbClr val="38BDF8"/>
                          </a:solidFill>
                          <a:latin typeface="Arial"/>
                        </a:defRPr>
                      </a:pPr>
                      <a:r>
                        <a:t>Cost Structure</a:t>
                      </a:r>
                    </a:p>
                  </a:txBody>
                  <a:tcPr>
                    <a:solidFill>
                      <a:srgbClr val="2E3A59"/>
                    </a:solidFill>
                  </a:tcPr>
                </a:tc>
                <a:tc>
                  <a:txBody>
                    <a:bodyPr/>
                    <a:lstStyle/>
                    <a:p>
                      <a:pPr>
                        <a:defRPr sz="1000" b="1">
                          <a:solidFill>
                            <a:srgbClr val="38BDF8"/>
                          </a:solidFill>
                          <a:latin typeface="Arial"/>
                        </a:defRPr>
                      </a:pPr>
                      <a:r>
                        <a:t>500-Applicant Batch Cost</a:t>
                      </a:r>
                    </a:p>
                  </a:txBody>
                  <a:tcPr>
                    <a:solidFill>
                      <a:srgbClr val="2E3A59"/>
                    </a:solidFill>
                  </a:tcPr>
                </a:tc>
                <a:extLst>
                  <a:ext uri="{0D108BD9-81ED-4DB2-BD59-A6C34878D82A}">
                    <a16:rowId xmlns:a16="http://schemas.microsoft.com/office/drawing/2014/main" val="10000"/>
                  </a:ext>
                </a:extLst>
              </a:tr>
              <a:tr h="253218">
                <a:tc>
                  <a:txBody>
                    <a:bodyPr/>
                    <a:lstStyle/>
                    <a:p>
                      <a:pPr>
                        <a:defRPr sz="950" b="0">
                          <a:solidFill>
                            <a:srgbClr val="F8FAFC"/>
                          </a:solidFill>
                          <a:latin typeface="Calibri"/>
                        </a:defRPr>
                      </a:pPr>
                      <a:r>
                        <a:t>Fixed Platform Tier</a:t>
                      </a:r>
                    </a:p>
                  </a:txBody>
                  <a:tcPr>
                    <a:solidFill>
                      <a:srgbClr val="1A2235"/>
                    </a:solidFill>
                  </a:tcPr>
                </a:tc>
                <a:tc>
                  <a:txBody>
                    <a:bodyPr/>
                    <a:lstStyle/>
                    <a:p>
                      <a:pPr>
                        <a:defRPr sz="950" b="0">
                          <a:solidFill>
                            <a:srgbClr val="F8FAFC"/>
                          </a:solidFill>
                          <a:latin typeface="Calibri"/>
                        </a:defRPr>
                      </a:pPr>
                      <a:r>
                        <a:t>Vercel Pro (Next.js Global Edge)</a:t>
                      </a:r>
                    </a:p>
                  </a:txBody>
                  <a:tcPr>
                    <a:solidFill>
                      <a:srgbClr val="1A2235"/>
                    </a:solidFill>
                  </a:tcPr>
                </a:tc>
                <a:tc>
                  <a:txBody>
                    <a:bodyPr/>
                    <a:lstStyle/>
                    <a:p>
                      <a:pPr>
                        <a:defRPr sz="950" b="0">
                          <a:solidFill>
                            <a:srgbClr val="F8FAFC"/>
                          </a:solidFill>
                          <a:latin typeface="Calibri"/>
                        </a:defRPr>
                      </a:pPr>
                      <a:r>
                        <a:t>$20.00 / month</a:t>
                      </a:r>
                    </a:p>
                  </a:txBody>
                  <a:tcPr>
                    <a:solidFill>
                      <a:srgbClr val="1A2235"/>
                    </a:solidFill>
                  </a:tcPr>
                </a:tc>
                <a:tc>
                  <a:txBody>
                    <a:bodyPr/>
                    <a:lstStyle/>
                    <a:p>
                      <a:pPr>
                        <a:defRPr sz="950" b="0">
                          <a:solidFill>
                            <a:srgbClr val="F8FAFC"/>
                          </a:solidFill>
                          <a:latin typeface="Calibri"/>
                        </a:defRPr>
                      </a:pPr>
                      <a:r>
                        <a:t>$20.00</a:t>
                      </a:r>
                    </a:p>
                  </a:txBody>
                  <a:tcPr>
                    <a:solidFill>
                      <a:srgbClr val="1A2235"/>
                    </a:solidFill>
                  </a:tcPr>
                </a:tc>
                <a:extLst>
                  <a:ext uri="{0D108BD9-81ED-4DB2-BD59-A6C34878D82A}">
                    <a16:rowId xmlns:a16="http://schemas.microsoft.com/office/drawing/2014/main" val="10001"/>
                  </a:ext>
                </a:extLst>
              </a:tr>
              <a:tr h="253218">
                <a:tc>
                  <a:txBody>
                    <a:bodyPr/>
                    <a:lstStyle/>
                    <a:p>
                      <a:pPr>
                        <a:defRPr sz="950" b="0">
                          <a:solidFill>
                            <a:srgbClr val="F8FAFC"/>
                          </a:solidFill>
                          <a:latin typeface="Calibri"/>
                        </a:defRPr>
                      </a:pPr>
                      <a:r>
                        <a:t>Fixed Platform Tier</a:t>
                      </a:r>
                    </a:p>
                  </a:txBody>
                  <a:tcPr>
                    <a:solidFill>
                      <a:srgbClr val="0E1628"/>
                    </a:solidFill>
                  </a:tcPr>
                </a:tc>
                <a:tc>
                  <a:txBody>
                    <a:bodyPr/>
                    <a:lstStyle/>
                    <a:p>
                      <a:pPr>
                        <a:defRPr sz="950" b="0">
                          <a:solidFill>
                            <a:srgbClr val="F8FAFC"/>
                          </a:solidFill>
                          <a:latin typeface="Calibri"/>
                        </a:defRPr>
                      </a:pPr>
                      <a:r>
                        <a:t>Supabase Cloud Pro (PostgreSQL / RLS / Auth)</a:t>
                      </a:r>
                    </a:p>
                  </a:txBody>
                  <a:tcPr>
                    <a:solidFill>
                      <a:srgbClr val="0E1628"/>
                    </a:solidFill>
                  </a:tcPr>
                </a:tc>
                <a:tc>
                  <a:txBody>
                    <a:bodyPr/>
                    <a:lstStyle/>
                    <a:p>
                      <a:pPr>
                        <a:defRPr sz="950" b="0">
                          <a:solidFill>
                            <a:srgbClr val="F8FAFC"/>
                          </a:solidFill>
                          <a:latin typeface="Calibri"/>
                        </a:defRPr>
                      </a:pPr>
                      <a:r>
                        <a:t>$25.00 / month</a:t>
                      </a:r>
                    </a:p>
                  </a:txBody>
                  <a:tcPr>
                    <a:solidFill>
                      <a:srgbClr val="0E1628"/>
                    </a:solidFill>
                  </a:tcPr>
                </a:tc>
                <a:tc>
                  <a:txBody>
                    <a:bodyPr/>
                    <a:lstStyle/>
                    <a:p>
                      <a:pPr>
                        <a:defRPr sz="950" b="0">
                          <a:solidFill>
                            <a:srgbClr val="F8FAFC"/>
                          </a:solidFill>
                          <a:latin typeface="Calibri"/>
                        </a:defRPr>
                      </a:pPr>
                      <a:r>
                        <a:t>$25.00</a:t>
                      </a:r>
                    </a:p>
                  </a:txBody>
                  <a:tcPr>
                    <a:solidFill>
                      <a:srgbClr val="0E1628"/>
                    </a:solidFill>
                  </a:tcPr>
                </a:tc>
                <a:extLst>
                  <a:ext uri="{0D108BD9-81ED-4DB2-BD59-A6C34878D82A}">
                    <a16:rowId xmlns:a16="http://schemas.microsoft.com/office/drawing/2014/main" val="10002"/>
                  </a:ext>
                </a:extLst>
              </a:tr>
              <a:tr h="253218">
                <a:tc>
                  <a:txBody>
                    <a:bodyPr/>
                    <a:lstStyle/>
                    <a:p>
                      <a:pPr>
                        <a:defRPr sz="950" b="0">
                          <a:solidFill>
                            <a:srgbClr val="F8FAFC"/>
                          </a:solidFill>
                          <a:latin typeface="Calibri"/>
                        </a:defRPr>
                      </a:pPr>
                      <a:r>
                        <a:t>Fixed Platform Tier</a:t>
                      </a:r>
                    </a:p>
                  </a:txBody>
                  <a:tcPr>
                    <a:solidFill>
                      <a:srgbClr val="1A2235"/>
                    </a:solidFill>
                  </a:tcPr>
                </a:tc>
                <a:tc>
                  <a:txBody>
                    <a:bodyPr/>
                    <a:lstStyle/>
                    <a:p>
                      <a:pPr>
                        <a:defRPr sz="950" b="0">
                          <a:solidFill>
                            <a:srgbClr val="F8FAFC"/>
                          </a:solidFill>
                          <a:latin typeface="Calibri"/>
                        </a:defRPr>
                      </a:pPr>
                      <a:r>
                        <a:t>Cloud VPS Runtime (FastAPI Microservice)</a:t>
                      </a:r>
                    </a:p>
                  </a:txBody>
                  <a:tcPr>
                    <a:solidFill>
                      <a:srgbClr val="1A2235"/>
                    </a:solidFill>
                  </a:tcPr>
                </a:tc>
                <a:tc>
                  <a:txBody>
                    <a:bodyPr/>
                    <a:lstStyle/>
                    <a:p>
                      <a:pPr>
                        <a:defRPr sz="950" b="0">
                          <a:solidFill>
                            <a:srgbClr val="F8FAFC"/>
                          </a:solidFill>
                          <a:latin typeface="Calibri"/>
                        </a:defRPr>
                      </a:pPr>
                      <a:r>
                        <a:t>$26.00 / month</a:t>
                      </a:r>
                    </a:p>
                  </a:txBody>
                  <a:tcPr>
                    <a:solidFill>
                      <a:srgbClr val="1A2235"/>
                    </a:solidFill>
                  </a:tcPr>
                </a:tc>
                <a:tc>
                  <a:txBody>
                    <a:bodyPr/>
                    <a:lstStyle/>
                    <a:p>
                      <a:pPr>
                        <a:defRPr sz="950" b="0">
                          <a:solidFill>
                            <a:srgbClr val="F8FAFC"/>
                          </a:solidFill>
                          <a:latin typeface="Calibri"/>
                        </a:defRPr>
                      </a:pPr>
                      <a:r>
                        <a:t>$26.00</a:t>
                      </a:r>
                    </a:p>
                  </a:txBody>
                  <a:tcPr>
                    <a:solidFill>
                      <a:srgbClr val="1A2235"/>
                    </a:solidFill>
                  </a:tcPr>
                </a:tc>
                <a:extLst>
                  <a:ext uri="{0D108BD9-81ED-4DB2-BD59-A6C34878D82A}">
                    <a16:rowId xmlns:a16="http://schemas.microsoft.com/office/drawing/2014/main" val="10003"/>
                  </a:ext>
                </a:extLst>
              </a:tr>
              <a:tr h="253218">
                <a:tc>
                  <a:txBody>
                    <a:bodyPr/>
                    <a:lstStyle/>
                    <a:p>
                      <a:pPr>
                        <a:defRPr sz="950" b="0">
                          <a:solidFill>
                            <a:srgbClr val="F8FAFC"/>
                          </a:solidFill>
                          <a:latin typeface="Calibri"/>
                        </a:defRPr>
                      </a:pPr>
                      <a:r>
                        <a:t>Fixed Platform Tier</a:t>
                      </a:r>
                    </a:p>
                  </a:txBody>
                  <a:tcPr>
                    <a:solidFill>
                      <a:srgbClr val="0E1628"/>
                    </a:solidFill>
                  </a:tcPr>
                </a:tc>
                <a:tc>
                  <a:txBody>
                    <a:bodyPr/>
                    <a:lstStyle/>
                    <a:p>
                      <a:pPr>
                        <a:defRPr sz="950" b="0">
                          <a:solidFill>
                            <a:srgbClr val="F8FAFC"/>
                          </a:solidFill>
                          <a:latin typeface="Calibri"/>
                        </a:defRPr>
                      </a:pPr>
                      <a:r>
                        <a:t>Cloudflare Pro DNS &amp; DDoS Mitigation</a:t>
                      </a:r>
                    </a:p>
                  </a:txBody>
                  <a:tcPr>
                    <a:solidFill>
                      <a:srgbClr val="0E1628"/>
                    </a:solidFill>
                  </a:tcPr>
                </a:tc>
                <a:tc>
                  <a:txBody>
                    <a:bodyPr/>
                    <a:lstStyle/>
                    <a:p>
                      <a:pPr>
                        <a:defRPr sz="950" b="0">
                          <a:solidFill>
                            <a:srgbClr val="F8FAFC"/>
                          </a:solidFill>
                          <a:latin typeface="Calibri"/>
                        </a:defRPr>
                      </a:pPr>
                      <a:r>
                        <a:t>$0.00 (Standard)</a:t>
                      </a:r>
                    </a:p>
                  </a:txBody>
                  <a:tcPr>
                    <a:solidFill>
                      <a:srgbClr val="0E1628"/>
                    </a:solidFill>
                  </a:tcPr>
                </a:tc>
                <a:tc>
                  <a:txBody>
                    <a:bodyPr/>
                    <a:lstStyle/>
                    <a:p>
                      <a:pPr>
                        <a:defRPr sz="950" b="0">
                          <a:solidFill>
                            <a:srgbClr val="F8FAFC"/>
                          </a:solidFill>
                          <a:latin typeface="Calibri"/>
                        </a:defRPr>
                      </a:pPr>
                      <a:r>
                        <a:t>$0.00</a:t>
                      </a:r>
                    </a:p>
                  </a:txBody>
                  <a:tcPr>
                    <a:solidFill>
                      <a:srgbClr val="0E1628"/>
                    </a:solidFill>
                  </a:tcPr>
                </a:tc>
                <a:extLst>
                  <a:ext uri="{0D108BD9-81ED-4DB2-BD59-A6C34878D82A}">
                    <a16:rowId xmlns:a16="http://schemas.microsoft.com/office/drawing/2014/main" val="10004"/>
                  </a:ext>
                </a:extLst>
              </a:tr>
              <a:tr h="253218">
                <a:tc>
                  <a:txBody>
                    <a:bodyPr/>
                    <a:lstStyle/>
                    <a:p>
                      <a:pPr>
                        <a:defRPr sz="950" b="1">
                          <a:solidFill>
                            <a:srgbClr val="38BDF8"/>
                          </a:solidFill>
                          <a:latin typeface="Calibri"/>
                        </a:defRPr>
                      </a:pPr>
                      <a:r>
                        <a:t>Subtotal Fixed</a:t>
                      </a:r>
                    </a:p>
                  </a:txBody>
                  <a:tcPr>
                    <a:solidFill>
                      <a:srgbClr val="142038"/>
                    </a:solidFill>
                  </a:tcPr>
                </a:tc>
                <a:tc>
                  <a:txBody>
                    <a:bodyPr/>
                    <a:lstStyle/>
                    <a:p>
                      <a:pPr>
                        <a:defRPr sz="950" b="1">
                          <a:solidFill>
                            <a:srgbClr val="38BDF8"/>
                          </a:solidFill>
                          <a:latin typeface="Calibri"/>
                        </a:defRPr>
                      </a:pPr>
                      <a:r>
                        <a:t>Core Infrastructure Platform</a:t>
                      </a:r>
                    </a:p>
                  </a:txBody>
                  <a:tcPr>
                    <a:solidFill>
                      <a:srgbClr val="142038"/>
                    </a:solidFill>
                  </a:tcPr>
                </a:tc>
                <a:tc>
                  <a:txBody>
                    <a:bodyPr/>
                    <a:lstStyle/>
                    <a:p>
                      <a:pPr>
                        <a:defRPr sz="950" b="1">
                          <a:solidFill>
                            <a:srgbClr val="38BDF8"/>
                          </a:solidFill>
                          <a:latin typeface="Calibri"/>
                        </a:defRPr>
                      </a:pPr>
                      <a:r>
                        <a:t>$71.00 / month</a:t>
                      </a:r>
                    </a:p>
                  </a:txBody>
                  <a:tcPr>
                    <a:solidFill>
                      <a:srgbClr val="142038"/>
                    </a:solidFill>
                  </a:tcPr>
                </a:tc>
                <a:tc>
                  <a:txBody>
                    <a:bodyPr/>
                    <a:lstStyle/>
                    <a:p>
                      <a:pPr>
                        <a:defRPr sz="950" b="1">
                          <a:solidFill>
                            <a:srgbClr val="38BDF8"/>
                          </a:solidFill>
                          <a:latin typeface="Calibri"/>
                        </a:defRPr>
                      </a:pPr>
                      <a:r>
                        <a:t>$71.00</a:t>
                      </a:r>
                    </a:p>
                  </a:txBody>
                  <a:tcPr>
                    <a:solidFill>
                      <a:srgbClr val="142038"/>
                    </a:solidFill>
                  </a:tcPr>
                </a:tc>
                <a:extLst>
                  <a:ext uri="{0D108BD9-81ED-4DB2-BD59-A6C34878D82A}">
                    <a16:rowId xmlns:a16="http://schemas.microsoft.com/office/drawing/2014/main" val="10005"/>
                  </a:ext>
                </a:extLst>
              </a:tr>
              <a:tr h="253218">
                <a:tc>
                  <a:txBody>
                    <a:bodyPr/>
                    <a:lstStyle/>
                    <a:p>
                      <a:pPr>
                        <a:defRPr sz="950" b="0">
                          <a:solidFill>
                            <a:srgbClr val="F8FAFC"/>
                          </a:solidFill>
                          <a:latin typeface="Calibri"/>
                        </a:defRPr>
                      </a:pPr>
                      <a:r>
                        <a:t>Variable Evaluation</a:t>
                      </a:r>
                    </a:p>
                  </a:txBody>
                  <a:tcPr>
                    <a:solidFill>
                      <a:srgbClr val="0E1628"/>
                    </a:solidFill>
                  </a:tcPr>
                </a:tc>
                <a:tc>
                  <a:txBody>
                    <a:bodyPr/>
                    <a:lstStyle/>
                    <a:p>
                      <a:pPr>
                        <a:defRPr sz="950" b="0">
                          <a:solidFill>
                            <a:srgbClr val="F8FAFC"/>
                          </a:solidFill>
                          <a:latin typeface="Calibri"/>
                        </a:defRPr>
                      </a:pPr>
                      <a:r>
                        <a:t>Resume Extraction &amp; Pydantic Screening</a:t>
                      </a:r>
                    </a:p>
                  </a:txBody>
                  <a:tcPr>
                    <a:solidFill>
                      <a:srgbClr val="0E1628"/>
                    </a:solidFill>
                  </a:tcPr>
                </a:tc>
                <a:tc>
                  <a:txBody>
                    <a:bodyPr/>
                    <a:lstStyle/>
                    <a:p>
                      <a:pPr>
                        <a:defRPr sz="950" b="0">
                          <a:solidFill>
                            <a:srgbClr val="F8FAFC"/>
                          </a:solidFill>
                          <a:latin typeface="Calibri"/>
                        </a:defRPr>
                      </a:pPr>
                      <a:r>
                        <a:t>$0.038 / candidate</a:t>
                      </a:r>
                    </a:p>
                  </a:txBody>
                  <a:tcPr>
                    <a:solidFill>
                      <a:srgbClr val="0E1628"/>
                    </a:solidFill>
                  </a:tcPr>
                </a:tc>
                <a:tc>
                  <a:txBody>
                    <a:bodyPr/>
                    <a:lstStyle/>
                    <a:p>
                      <a:pPr>
                        <a:defRPr sz="950" b="0">
                          <a:solidFill>
                            <a:srgbClr val="F8FAFC"/>
                          </a:solidFill>
                          <a:latin typeface="Calibri"/>
                        </a:defRPr>
                      </a:pPr>
                      <a:r>
                        <a:t>$19.00</a:t>
                      </a:r>
                    </a:p>
                  </a:txBody>
                  <a:tcPr>
                    <a:solidFill>
                      <a:srgbClr val="0E1628"/>
                    </a:solidFill>
                  </a:tcPr>
                </a:tc>
                <a:extLst>
                  <a:ext uri="{0D108BD9-81ED-4DB2-BD59-A6C34878D82A}">
                    <a16:rowId xmlns:a16="http://schemas.microsoft.com/office/drawing/2014/main" val="10006"/>
                  </a:ext>
                </a:extLst>
              </a:tr>
              <a:tr h="253218">
                <a:tc>
                  <a:txBody>
                    <a:bodyPr/>
                    <a:lstStyle/>
                    <a:p>
                      <a:pPr>
                        <a:defRPr sz="950" b="0">
                          <a:solidFill>
                            <a:srgbClr val="F8FAFC"/>
                          </a:solidFill>
                          <a:latin typeface="Calibri"/>
                        </a:defRPr>
                      </a:pPr>
                      <a:r>
                        <a:t>Variable Evaluation</a:t>
                      </a:r>
                    </a:p>
                  </a:txBody>
                  <a:tcPr>
                    <a:solidFill>
                      <a:srgbClr val="1A2235"/>
                    </a:solidFill>
                  </a:tcPr>
                </a:tc>
                <a:tc>
                  <a:txBody>
                    <a:bodyPr/>
                    <a:lstStyle/>
                    <a:p>
                      <a:pPr>
                        <a:defRPr sz="950" b="0">
                          <a:solidFill>
                            <a:srgbClr val="F8FAFC"/>
                          </a:solidFill>
                          <a:latin typeface="Calibri"/>
                        </a:defRPr>
                      </a:pPr>
                      <a:r>
                        <a:t>Server-Authoritative Skills Assessment</a:t>
                      </a:r>
                    </a:p>
                  </a:txBody>
                  <a:tcPr>
                    <a:solidFill>
                      <a:srgbClr val="1A2235"/>
                    </a:solidFill>
                  </a:tcPr>
                </a:tc>
                <a:tc>
                  <a:txBody>
                    <a:bodyPr/>
                    <a:lstStyle/>
                    <a:p>
                      <a:pPr>
                        <a:defRPr sz="950" b="0">
                          <a:solidFill>
                            <a:srgbClr val="F8FAFC"/>
                          </a:solidFill>
                          <a:latin typeface="Calibri"/>
                        </a:defRPr>
                      </a:pPr>
                      <a:r>
                        <a:t>$0.003 / candidate</a:t>
                      </a:r>
                    </a:p>
                  </a:txBody>
                  <a:tcPr>
                    <a:solidFill>
                      <a:srgbClr val="1A2235"/>
                    </a:solidFill>
                  </a:tcPr>
                </a:tc>
                <a:tc>
                  <a:txBody>
                    <a:bodyPr/>
                    <a:lstStyle/>
                    <a:p>
                      <a:pPr>
                        <a:defRPr sz="950" b="0">
                          <a:solidFill>
                            <a:srgbClr val="F8FAFC"/>
                          </a:solidFill>
                          <a:latin typeface="Calibri"/>
                        </a:defRPr>
                      </a:pPr>
                      <a:r>
                        <a:t>$1.50</a:t>
                      </a:r>
                    </a:p>
                  </a:txBody>
                  <a:tcPr>
                    <a:solidFill>
                      <a:srgbClr val="1A2235"/>
                    </a:solidFill>
                  </a:tcPr>
                </a:tc>
                <a:extLst>
                  <a:ext uri="{0D108BD9-81ED-4DB2-BD59-A6C34878D82A}">
                    <a16:rowId xmlns:a16="http://schemas.microsoft.com/office/drawing/2014/main" val="10007"/>
                  </a:ext>
                </a:extLst>
              </a:tr>
              <a:tr h="253218">
                <a:tc>
                  <a:txBody>
                    <a:bodyPr/>
                    <a:lstStyle/>
                    <a:p>
                      <a:pPr>
                        <a:defRPr sz="950" b="0">
                          <a:solidFill>
                            <a:srgbClr val="F8FAFC"/>
                          </a:solidFill>
                          <a:latin typeface="Calibri"/>
                        </a:defRPr>
                      </a:pPr>
                      <a:r>
                        <a:t>Variable Evaluation</a:t>
                      </a:r>
                    </a:p>
                  </a:txBody>
                  <a:tcPr>
                    <a:solidFill>
                      <a:srgbClr val="0E1628"/>
                    </a:solidFill>
                  </a:tcPr>
                </a:tc>
                <a:tc>
                  <a:txBody>
                    <a:bodyPr/>
                    <a:lstStyle/>
                    <a:p>
                      <a:pPr>
                        <a:defRPr sz="950" b="0">
                          <a:solidFill>
                            <a:srgbClr val="F8FAFC"/>
                          </a:solidFill>
                          <a:latin typeface="Calibri"/>
                        </a:defRPr>
                      </a:pPr>
                      <a:r>
                        <a:t>Deepgram Nova-2 Streaming STT</a:t>
                      </a:r>
                    </a:p>
                  </a:txBody>
                  <a:tcPr>
                    <a:solidFill>
                      <a:srgbClr val="0E1628"/>
                    </a:solidFill>
                  </a:tcPr>
                </a:tc>
                <a:tc>
                  <a:txBody>
                    <a:bodyPr/>
                    <a:lstStyle/>
                    <a:p>
                      <a:pPr>
                        <a:defRPr sz="950" b="0">
                          <a:solidFill>
                            <a:srgbClr val="F8FAFC"/>
                          </a:solidFill>
                          <a:latin typeface="Calibri"/>
                        </a:defRPr>
                      </a:pPr>
                      <a:r>
                        <a:t>$0.024 / candidate</a:t>
                      </a:r>
                    </a:p>
                  </a:txBody>
                  <a:tcPr>
                    <a:solidFill>
                      <a:srgbClr val="0E1628"/>
                    </a:solidFill>
                  </a:tcPr>
                </a:tc>
                <a:tc>
                  <a:txBody>
                    <a:bodyPr/>
                    <a:lstStyle/>
                    <a:p>
                      <a:pPr>
                        <a:defRPr sz="950" b="0">
                          <a:solidFill>
                            <a:srgbClr val="F8FAFC"/>
                          </a:solidFill>
                          <a:latin typeface="Calibri"/>
                        </a:defRPr>
                      </a:pPr>
                      <a:r>
                        <a:t>$12.00</a:t>
                      </a:r>
                    </a:p>
                  </a:txBody>
                  <a:tcPr>
                    <a:solidFill>
                      <a:srgbClr val="0E1628"/>
                    </a:solidFill>
                  </a:tcPr>
                </a:tc>
                <a:extLst>
                  <a:ext uri="{0D108BD9-81ED-4DB2-BD59-A6C34878D82A}">
                    <a16:rowId xmlns:a16="http://schemas.microsoft.com/office/drawing/2014/main" val="10008"/>
                  </a:ext>
                </a:extLst>
              </a:tr>
              <a:tr h="253218">
                <a:tc>
                  <a:txBody>
                    <a:bodyPr/>
                    <a:lstStyle/>
                    <a:p>
                      <a:pPr>
                        <a:defRPr sz="950" b="0">
                          <a:solidFill>
                            <a:srgbClr val="F8FAFC"/>
                          </a:solidFill>
                          <a:latin typeface="Calibri"/>
                        </a:defRPr>
                      </a:pPr>
                      <a:r>
                        <a:t>Variable Evaluation</a:t>
                      </a:r>
                    </a:p>
                  </a:txBody>
                  <a:tcPr>
                    <a:solidFill>
                      <a:srgbClr val="1A2235"/>
                    </a:solidFill>
                  </a:tcPr>
                </a:tc>
                <a:tc>
                  <a:txBody>
                    <a:bodyPr/>
                    <a:lstStyle/>
                    <a:p>
                      <a:pPr>
                        <a:defRPr sz="950" b="0">
                          <a:solidFill>
                            <a:srgbClr val="F8FAFC"/>
                          </a:solidFill>
                          <a:latin typeface="Calibri"/>
                        </a:defRPr>
                      </a:pPr>
                      <a:r>
                        <a:t>ElevenLabs Neural Voice Synthesis</a:t>
                      </a:r>
                    </a:p>
                  </a:txBody>
                  <a:tcPr>
                    <a:solidFill>
                      <a:srgbClr val="1A2235"/>
                    </a:solidFill>
                  </a:tcPr>
                </a:tc>
                <a:tc>
                  <a:txBody>
                    <a:bodyPr/>
                    <a:lstStyle/>
                    <a:p>
                      <a:pPr>
                        <a:defRPr sz="950" b="0">
                          <a:solidFill>
                            <a:srgbClr val="F8FAFC"/>
                          </a:solidFill>
                          <a:latin typeface="Calibri"/>
                        </a:defRPr>
                      </a:pPr>
                      <a:r>
                        <a:t>$0.052 / candidate</a:t>
                      </a:r>
                    </a:p>
                  </a:txBody>
                  <a:tcPr>
                    <a:solidFill>
                      <a:srgbClr val="1A2235"/>
                    </a:solidFill>
                  </a:tcPr>
                </a:tc>
                <a:tc>
                  <a:txBody>
                    <a:bodyPr/>
                    <a:lstStyle/>
                    <a:p>
                      <a:pPr>
                        <a:defRPr sz="950" b="0">
                          <a:solidFill>
                            <a:srgbClr val="F8FAFC"/>
                          </a:solidFill>
                          <a:latin typeface="Calibri"/>
                        </a:defRPr>
                      </a:pPr>
                      <a:r>
                        <a:t>$26.00</a:t>
                      </a:r>
                    </a:p>
                  </a:txBody>
                  <a:tcPr>
                    <a:solidFill>
                      <a:srgbClr val="1A2235"/>
                    </a:solidFill>
                  </a:tcPr>
                </a:tc>
                <a:extLst>
                  <a:ext uri="{0D108BD9-81ED-4DB2-BD59-A6C34878D82A}">
                    <a16:rowId xmlns:a16="http://schemas.microsoft.com/office/drawing/2014/main" val="10009"/>
                  </a:ext>
                </a:extLst>
              </a:tr>
              <a:tr h="253218">
                <a:tc>
                  <a:txBody>
                    <a:bodyPr/>
                    <a:lstStyle/>
                    <a:p>
                      <a:pPr>
                        <a:defRPr sz="950" b="0">
                          <a:solidFill>
                            <a:srgbClr val="F8FAFC"/>
                          </a:solidFill>
                          <a:latin typeface="Calibri"/>
                        </a:defRPr>
                      </a:pPr>
                      <a:r>
                        <a:t>Variable Evaluation</a:t>
                      </a:r>
                    </a:p>
                  </a:txBody>
                  <a:tcPr>
                    <a:solidFill>
                      <a:srgbClr val="0E1628"/>
                    </a:solidFill>
                  </a:tcPr>
                </a:tc>
                <a:tc>
                  <a:txBody>
                    <a:bodyPr/>
                    <a:lstStyle/>
                    <a:p>
                      <a:pPr>
                        <a:defRPr sz="950" b="0">
                          <a:solidFill>
                            <a:srgbClr val="F8FAFC"/>
                          </a:solidFill>
                          <a:latin typeface="Calibri"/>
                        </a:defRPr>
                      </a:pPr>
                      <a:r>
                        <a:t>Simli WebRTC Video Avatar Stream</a:t>
                      </a:r>
                    </a:p>
                  </a:txBody>
                  <a:tcPr>
                    <a:solidFill>
                      <a:srgbClr val="0E1628"/>
                    </a:solidFill>
                  </a:tcPr>
                </a:tc>
                <a:tc>
                  <a:txBody>
                    <a:bodyPr/>
                    <a:lstStyle/>
                    <a:p>
                      <a:pPr>
                        <a:defRPr sz="950" b="0">
                          <a:solidFill>
                            <a:srgbClr val="F8FAFC"/>
                          </a:solidFill>
                          <a:latin typeface="Calibri"/>
                        </a:defRPr>
                      </a:pPr>
                      <a:r>
                        <a:t>$0.034 / candidate</a:t>
                      </a:r>
                    </a:p>
                  </a:txBody>
                  <a:tcPr>
                    <a:solidFill>
                      <a:srgbClr val="0E1628"/>
                    </a:solidFill>
                  </a:tcPr>
                </a:tc>
                <a:tc>
                  <a:txBody>
                    <a:bodyPr/>
                    <a:lstStyle/>
                    <a:p>
                      <a:pPr>
                        <a:defRPr sz="950" b="0">
                          <a:solidFill>
                            <a:srgbClr val="F8FAFC"/>
                          </a:solidFill>
                          <a:latin typeface="Calibri"/>
                        </a:defRPr>
                      </a:pPr>
                      <a:r>
                        <a:t>$17.00</a:t>
                      </a:r>
                    </a:p>
                  </a:txBody>
                  <a:tcPr>
                    <a:solidFill>
                      <a:srgbClr val="0E1628"/>
                    </a:solidFill>
                  </a:tcPr>
                </a:tc>
                <a:extLst>
                  <a:ext uri="{0D108BD9-81ED-4DB2-BD59-A6C34878D82A}">
                    <a16:rowId xmlns:a16="http://schemas.microsoft.com/office/drawing/2014/main" val="10010"/>
                  </a:ext>
                </a:extLst>
              </a:tr>
              <a:tr h="253218">
                <a:tc>
                  <a:txBody>
                    <a:bodyPr/>
                    <a:lstStyle/>
                    <a:p>
                      <a:pPr>
                        <a:defRPr sz="950" b="1">
                          <a:solidFill>
                            <a:srgbClr val="38BDF8"/>
                          </a:solidFill>
                          <a:latin typeface="Calibri"/>
                        </a:defRPr>
                      </a:pPr>
                      <a:r>
                        <a:t>Subtotal Variable</a:t>
                      </a:r>
                    </a:p>
                  </a:txBody>
                  <a:tcPr>
                    <a:solidFill>
                      <a:srgbClr val="142038"/>
                    </a:solidFill>
                  </a:tcPr>
                </a:tc>
                <a:tc>
                  <a:txBody>
                    <a:bodyPr/>
                    <a:lstStyle/>
                    <a:p>
                      <a:pPr>
                        <a:defRPr sz="950" b="1">
                          <a:solidFill>
                            <a:srgbClr val="38BDF8"/>
                          </a:solidFill>
                          <a:latin typeface="Calibri"/>
                        </a:defRPr>
                      </a:pPr>
                      <a:r>
                        <a:t>500 Full Pipeline Candidate Evaluations</a:t>
                      </a:r>
                    </a:p>
                  </a:txBody>
                  <a:tcPr>
                    <a:solidFill>
                      <a:srgbClr val="142038"/>
                    </a:solidFill>
                  </a:tcPr>
                </a:tc>
                <a:tc>
                  <a:txBody>
                    <a:bodyPr/>
                    <a:lstStyle/>
                    <a:p>
                      <a:pPr>
                        <a:defRPr sz="950" b="1">
                          <a:solidFill>
                            <a:srgbClr val="38BDF8"/>
                          </a:solidFill>
                          <a:latin typeface="Calibri"/>
                        </a:defRPr>
                      </a:pPr>
                      <a:r>
                        <a:t>$0.151 / candidate</a:t>
                      </a:r>
                    </a:p>
                  </a:txBody>
                  <a:tcPr>
                    <a:solidFill>
                      <a:srgbClr val="142038"/>
                    </a:solidFill>
                  </a:tcPr>
                </a:tc>
                <a:tc>
                  <a:txBody>
                    <a:bodyPr/>
                    <a:lstStyle/>
                    <a:p>
                      <a:pPr>
                        <a:defRPr sz="950" b="1">
                          <a:solidFill>
                            <a:srgbClr val="38BDF8"/>
                          </a:solidFill>
                          <a:latin typeface="Calibri"/>
                        </a:defRPr>
                      </a:pPr>
                      <a:r>
                        <a:t>$75.31</a:t>
                      </a:r>
                    </a:p>
                  </a:txBody>
                  <a:tcPr>
                    <a:solidFill>
                      <a:srgbClr val="142038"/>
                    </a:solidFill>
                  </a:tcPr>
                </a:tc>
                <a:extLst>
                  <a:ext uri="{0D108BD9-81ED-4DB2-BD59-A6C34878D82A}">
                    <a16:rowId xmlns:a16="http://schemas.microsoft.com/office/drawing/2014/main" val="10011"/>
                  </a:ext>
                </a:extLst>
              </a:tr>
              <a:tr h="253224">
                <a:tc>
                  <a:txBody>
                    <a:bodyPr/>
                    <a:lstStyle/>
                    <a:p>
                      <a:pPr>
                        <a:defRPr sz="950" b="1">
                          <a:solidFill>
                            <a:srgbClr val="FF6B6B"/>
                          </a:solidFill>
                          <a:latin typeface="Calibri"/>
                        </a:defRPr>
                      </a:pPr>
                      <a:r>
                        <a:t>TOTAL OPERATIONAL</a:t>
                      </a:r>
                    </a:p>
                  </a:txBody>
                  <a:tcPr>
                    <a:solidFill>
                      <a:srgbClr val="1C2C4C"/>
                    </a:solidFill>
                  </a:tcPr>
                </a:tc>
                <a:tc>
                  <a:txBody>
                    <a:bodyPr/>
                    <a:lstStyle/>
                    <a:p>
                      <a:pPr>
                        <a:defRPr sz="950" b="1">
                          <a:solidFill>
                            <a:srgbClr val="FF6B6B"/>
                          </a:solidFill>
                          <a:latin typeface="Calibri"/>
                        </a:defRPr>
                      </a:pPr>
                      <a:r>
                        <a:t>All-Inclusive Monthly Recruitment Cost</a:t>
                      </a:r>
                    </a:p>
                  </a:txBody>
                  <a:tcPr>
                    <a:solidFill>
                      <a:srgbClr val="1C2C4C"/>
                    </a:solidFill>
                  </a:tcPr>
                </a:tc>
                <a:tc>
                  <a:txBody>
                    <a:bodyPr/>
                    <a:lstStyle/>
                    <a:p>
                      <a:pPr>
                        <a:defRPr sz="950" b="1">
                          <a:solidFill>
                            <a:srgbClr val="FF6B6B"/>
                          </a:solidFill>
                          <a:latin typeface="Calibri"/>
                        </a:defRPr>
                      </a:pPr>
                      <a:r>
                        <a:t>Fixed + Variable</a:t>
                      </a:r>
                    </a:p>
                  </a:txBody>
                  <a:tcPr>
                    <a:solidFill>
                      <a:srgbClr val="1C2C4C"/>
                    </a:solidFill>
                  </a:tcPr>
                </a:tc>
                <a:tc>
                  <a:txBody>
                    <a:bodyPr/>
                    <a:lstStyle/>
                    <a:p>
                      <a:pPr>
                        <a:defRPr sz="950" b="1">
                          <a:solidFill>
                            <a:srgbClr val="FF6B6B"/>
                          </a:solidFill>
                          <a:latin typeface="Calibri"/>
                        </a:defRPr>
                      </a:pPr>
                      <a:r>
                        <a:t>$146.31 / month</a:t>
                      </a:r>
                    </a:p>
                  </a:txBody>
                  <a:tcPr>
                    <a:solidFill>
                      <a:srgbClr val="1C2C4C"/>
                    </a:solidFill>
                  </a:tcPr>
                </a:tc>
                <a:extLst>
                  <a:ext uri="{0D108BD9-81ED-4DB2-BD59-A6C34878D82A}">
                    <a16:rowId xmlns:a16="http://schemas.microsoft.com/office/drawing/2014/main" val="10012"/>
                  </a:ext>
                </a:extLst>
              </a:tr>
            </a:tbl>
          </a:graphicData>
        </a:graphic>
      </p:graphicFrame>
      <p:sp>
        <p:nvSpPr>
          <p:cNvPr id="6" name="Rounded Rectangle 5"/>
          <p:cNvSpPr/>
          <p:nvPr/>
        </p:nvSpPr>
        <p:spPr>
          <a:xfrm>
            <a:off x="731520" y="5029200"/>
            <a:ext cx="10698480" cy="10972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166360"/>
            <a:ext cx="10332719" cy="365760"/>
          </a:xfrm>
          <a:prstGeom prst="rect">
            <a:avLst/>
          </a:prstGeom>
          <a:noFill/>
        </p:spPr>
        <p:txBody>
          <a:bodyPr wrap="none">
            <a:spAutoFit/>
          </a:bodyPr>
          <a:lstStyle/>
          <a:p>
            <a:pPr>
              <a:defRPr sz="1300" b="1">
                <a:solidFill>
                  <a:srgbClr val="38BDF8"/>
                </a:solidFill>
                <a:latin typeface="Arial"/>
              </a:defRPr>
            </a:pPr>
            <a:r>
              <a:t>INDUSTRIAL COST COMPARISON &amp; ROI</a:t>
            </a:r>
          </a:p>
        </p:txBody>
      </p:sp>
      <p:sp>
        <p:nvSpPr>
          <p:cNvPr id="8" name="TextBox 7"/>
          <p:cNvSpPr txBox="1"/>
          <p:nvPr/>
        </p:nvSpPr>
        <p:spPr>
          <a:xfrm>
            <a:off x="914400" y="5394960"/>
            <a:ext cx="10332720" cy="640080"/>
          </a:xfrm>
          <a:prstGeom prst="rect">
            <a:avLst/>
          </a:prstGeom>
          <a:noFill/>
        </p:spPr>
        <p:txBody>
          <a:bodyPr wrap="none">
            <a:spAutoFit/>
          </a:bodyPr>
          <a:lstStyle/>
          <a:p>
            <a:pPr>
              <a:defRPr sz="1050" b="1">
                <a:solidFill>
                  <a:srgbClr val="34D399"/>
                </a:solidFill>
                <a:latin typeface="Calibri"/>
              </a:defRPr>
            </a:pPr>
            <a:r>
              <a:t>Commercial enterprise platforms (e.g. HireVue, Eightfold AI) cost upwards of $1,500/month for comparable candidate volumes. AI Recruit360 delivers complete end-to-end evaluation for $146.31/month, representing an immediate 90.2% cost reduction.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ENGINEERING REFLECTION</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Design Process Evaluation &amp; Key Architectural Pivots</a:t>
            </a:r>
          </a:p>
        </p:txBody>
      </p:sp>
      <p:sp>
        <p:nvSpPr>
          <p:cNvPr id="5" name="Rounded Rectangle 4"/>
          <p:cNvSpPr/>
          <p:nvPr/>
        </p:nvSpPr>
        <p:spPr>
          <a:xfrm>
            <a:off x="7315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3017520" cy="365760"/>
          </a:xfrm>
          <a:prstGeom prst="rect">
            <a:avLst/>
          </a:prstGeom>
          <a:noFill/>
        </p:spPr>
        <p:txBody>
          <a:bodyPr wrap="none">
            <a:spAutoFit/>
          </a:bodyPr>
          <a:lstStyle/>
          <a:p>
            <a:pPr>
              <a:defRPr sz="1300" b="1">
                <a:solidFill>
                  <a:srgbClr val="38BDF8"/>
                </a:solidFill>
                <a:latin typeface="Arial"/>
              </a:defRPr>
            </a:pPr>
            <a:r>
              <a:t>CRITICAL ARCHITECTURAL PIVOTS</a:t>
            </a:r>
          </a:p>
        </p:txBody>
      </p:sp>
      <p:sp>
        <p:nvSpPr>
          <p:cNvPr id="7" name="TextBox 6"/>
          <p:cNvSpPr txBox="1"/>
          <p:nvPr/>
        </p:nvSpPr>
        <p:spPr>
          <a:xfrm>
            <a:off x="914400" y="2103120"/>
            <a:ext cx="3017520" cy="3840480"/>
          </a:xfrm>
          <a:prstGeom prst="rect">
            <a:avLst/>
          </a:prstGeom>
          <a:noFill/>
        </p:spPr>
        <p:txBody>
          <a:bodyPr wrap="none">
            <a:spAutoFit/>
          </a:bodyPr>
          <a:lstStyle/>
          <a:p>
            <a:pPr>
              <a:spcAft>
                <a:spcPts val="1000"/>
              </a:spcAft>
              <a:defRPr sz="1000">
                <a:solidFill>
                  <a:srgbClr val="F8FAFC"/>
                </a:solidFill>
                <a:latin typeface="Calibri"/>
              </a:defRPr>
            </a:pPr>
            <a:r>
              <a:t>• Pivoted from client-side exam timers to server-authoritative expires_at database locks to defeat browser clock manipulation.</a:t>
            </a:r>
          </a:p>
          <a:p>
            <a:pPr>
              <a:spcAft>
                <a:spcPts val="1000"/>
              </a:spcAft>
              <a:defRPr sz="1000">
                <a:solidFill>
                  <a:srgbClr val="F8FAFC"/>
                </a:solidFill>
                <a:latin typeface="Calibri"/>
              </a:defRPr>
            </a:pPr>
            <a:r>
              <a:t>• Replaced periodic HTTP polling with real-time WebRTC data channels, reducing avatar response latency from 4.2s to 1.4s.</a:t>
            </a:r>
          </a:p>
          <a:p>
            <a:pPr>
              <a:spcAft>
                <a:spcPts val="1000"/>
              </a:spcAft>
              <a:defRPr sz="1000">
                <a:solidFill>
                  <a:srgbClr val="F8FAFC"/>
                </a:solidFill>
                <a:latin typeface="Calibri"/>
              </a:defRPr>
            </a:pPr>
            <a:r>
              <a:t>• Replaced free-form LLM textual responses with strict Pydantic JSON schemas, eliminating UI crashes from unpredictable outputs.</a:t>
            </a:r>
          </a:p>
        </p:txBody>
      </p:sp>
      <p:sp>
        <p:nvSpPr>
          <p:cNvPr id="8" name="Rounded Rectangle 7"/>
          <p:cNvSpPr/>
          <p:nvPr/>
        </p:nvSpPr>
        <p:spPr>
          <a:xfrm>
            <a:off x="43891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91639"/>
            <a:ext cx="3017520" cy="365760"/>
          </a:xfrm>
          <a:prstGeom prst="rect">
            <a:avLst/>
          </a:prstGeom>
          <a:noFill/>
        </p:spPr>
        <p:txBody>
          <a:bodyPr wrap="none">
            <a:spAutoFit/>
          </a:bodyPr>
          <a:lstStyle/>
          <a:p>
            <a:pPr>
              <a:defRPr sz="1300" b="1">
                <a:solidFill>
                  <a:srgbClr val="38BDF8"/>
                </a:solidFill>
                <a:latin typeface="Arial"/>
              </a:defRPr>
            </a:pPr>
            <a:r>
              <a:t>LESSONS LEARNED &amp; BOTTLENECKS</a:t>
            </a:r>
          </a:p>
        </p:txBody>
      </p:sp>
      <p:sp>
        <p:nvSpPr>
          <p:cNvPr id="10" name="TextBox 9"/>
          <p:cNvSpPr txBox="1"/>
          <p:nvPr/>
        </p:nvSpPr>
        <p:spPr>
          <a:xfrm>
            <a:off x="4572000" y="2103120"/>
            <a:ext cx="3017520" cy="3840480"/>
          </a:xfrm>
          <a:prstGeom prst="rect">
            <a:avLst/>
          </a:prstGeom>
          <a:noFill/>
        </p:spPr>
        <p:txBody>
          <a:bodyPr wrap="none">
            <a:spAutoFit/>
          </a:bodyPr>
          <a:lstStyle/>
          <a:p>
            <a:pPr>
              <a:spcAft>
                <a:spcPts val="1000"/>
              </a:spcAft>
              <a:defRPr sz="1000">
                <a:solidFill>
                  <a:srgbClr val="F8FAFC"/>
                </a:solidFill>
                <a:latin typeface="Calibri"/>
              </a:defRPr>
            </a:pPr>
            <a:r>
              <a:t>• Schema-First Development: Defining TypeScript interfaces and Pydantic schemas upfront prevented contract drift between services.</a:t>
            </a:r>
          </a:p>
          <a:p>
            <a:pPr>
              <a:spcAft>
                <a:spcPts val="1000"/>
              </a:spcAft>
              <a:defRPr sz="1000">
                <a:solidFill>
                  <a:srgbClr val="F8FAFC"/>
                </a:solidFill>
                <a:latin typeface="Calibri"/>
              </a:defRPr>
            </a:pPr>
            <a:r>
              <a:t>• Database-Level Security: PostgreSQL Row-Level Security proved far more robust than application-level filtering.</a:t>
            </a:r>
          </a:p>
          <a:p>
            <a:pPr>
              <a:spcAft>
                <a:spcPts val="1000"/>
              </a:spcAft>
              <a:defRPr sz="1000">
                <a:solidFill>
                  <a:srgbClr val="F8FAFC"/>
                </a:solidFill>
                <a:latin typeface="Calibri"/>
              </a:defRPr>
            </a:pPr>
            <a:r>
              <a:t>• Streaming Media Pipelining: Overlapping STT interim transcription with TTS synthesis avoided conversation dead time.</a:t>
            </a:r>
          </a:p>
        </p:txBody>
      </p:sp>
      <p:sp>
        <p:nvSpPr>
          <p:cNvPr id="11" name="Rounded Rectangle 10"/>
          <p:cNvSpPr/>
          <p:nvPr/>
        </p:nvSpPr>
        <p:spPr>
          <a:xfrm>
            <a:off x="80467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91639"/>
            <a:ext cx="3017520" cy="365760"/>
          </a:xfrm>
          <a:prstGeom prst="rect">
            <a:avLst/>
          </a:prstGeom>
          <a:noFill/>
        </p:spPr>
        <p:txBody>
          <a:bodyPr wrap="none">
            <a:spAutoFit/>
          </a:bodyPr>
          <a:lstStyle/>
          <a:p>
            <a:pPr>
              <a:defRPr sz="1300" b="1">
                <a:solidFill>
                  <a:srgbClr val="38BDF8"/>
                </a:solidFill>
                <a:latin typeface="Arial"/>
              </a:defRPr>
            </a:pPr>
            <a:r>
              <a:t>LIMITATIONS &amp; TRADEOFFS</a:t>
            </a:r>
          </a:p>
        </p:txBody>
      </p:sp>
      <p:sp>
        <p:nvSpPr>
          <p:cNvPr id="13" name="TextBox 12"/>
          <p:cNvSpPr txBox="1"/>
          <p:nvPr/>
        </p:nvSpPr>
        <p:spPr>
          <a:xfrm>
            <a:off x="8229600" y="2103120"/>
            <a:ext cx="3017520" cy="3840480"/>
          </a:xfrm>
          <a:prstGeom prst="rect">
            <a:avLst/>
          </a:prstGeom>
          <a:noFill/>
        </p:spPr>
        <p:txBody>
          <a:bodyPr wrap="none">
            <a:spAutoFit/>
          </a:bodyPr>
          <a:lstStyle/>
          <a:p>
            <a:pPr>
              <a:spcAft>
                <a:spcPts val="1000"/>
              </a:spcAft>
              <a:defRPr sz="1000">
                <a:solidFill>
                  <a:srgbClr val="F8FAFC"/>
                </a:solidFill>
                <a:latin typeface="Calibri"/>
              </a:defRPr>
            </a:pPr>
            <a:r>
              <a:t>• Bandwidth Sensitivity: High-definition avatar video requires at least 1.5 Mbps stable connection; implemented audio-only fallback.</a:t>
            </a:r>
          </a:p>
          <a:p>
            <a:pPr>
              <a:spcAft>
                <a:spcPts val="1000"/>
              </a:spcAft>
              <a:defRPr sz="1000">
                <a:solidFill>
                  <a:srgbClr val="F8FAFC"/>
                </a:solidFill>
                <a:latin typeface="Calibri"/>
              </a:defRPr>
            </a:pPr>
            <a:r>
              <a:t>• Third-Party API Dependency: Outages in upstream voice providers affect interview availability; implemented automated health probes.</a:t>
            </a:r>
          </a:p>
          <a:p>
            <a:pPr>
              <a:spcAft>
                <a:spcPts val="1000"/>
              </a:spcAft>
              <a:defRPr sz="1000">
                <a:solidFill>
                  <a:srgbClr val="F8FAFC"/>
                </a:solidFill>
                <a:latin typeface="Calibri"/>
              </a:defRPr>
            </a:pPr>
            <a:r>
              <a:t>• Token Usage Scaling: High applicant volumes increase LLM token costs; addressed via response caching and compact prompts.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ETHICAL AI &amp; COMPLIANCE</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Algorithmic Ethics, Bias Mitigation &amp; Accessibility</a:t>
            </a:r>
          </a:p>
        </p:txBody>
      </p:sp>
      <p:sp>
        <p:nvSpPr>
          <p:cNvPr id="5" name="Rounded Rectangle 4"/>
          <p:cNvSpPr/>
          <p:nvPr/>
        </p:nvSpPr>
        <p:spPr>
          <a:xfrm>
            <a:off x="731520" y="1554480"/>
            <a:ext cx="10698480" cy="29260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10332719" cy="365760"/>
          </a:xfrm>
          <a:prstGeom prst="rect">
            <a:avLst/>
          </a:prstGeom>
          <a:noFill/>
        </p:spPr>
        <p:txBody>
          <a:bodyPr wrap="none">
            <a:spAutoFit/>
          </a:bodyPr>
          <a:lstStyle/>
          <a:p>
            <a:pPr>
              <a:defRPr sz="1300" b="1">
                <a:solidFill>
                  <a:srgbClr val="38BDF8"/>
                </a:solidFill>
                <a:latin typeface="Arial"/>
              </a:defRPr>
            </a:pPr>
            <a:r>
              <a:t>ETHICAL AI FOUNDATIONS &amp; DEMOGRAPHIC SHIELDING</a:t>
            </a:r>
          </a:p>
        </p:txBody>
      </p:sp>
      <p:sp>
        <p:nvSpPr>
          <p:cNvPr id="7" name="TextBox 6"/>
          <p:cNvSpPr txBox="1"/>
          <p:nvPr/>
        </p:nvSpPr>
        <p:spPr>
          <a:xfrm>
            <a:off x="914400" y="2103120"/>
            <a:ext cx="10332720" cy="2194560"/>
          </a:xfrm>
          <a:prstGeom prst="rect">
            <a:avLst/>
          </a:prstGeom>
          <a:noFill/>
        </p:spPr>
        <p:txBody>
          <a:bodyPr wrap="none">
            <a:spAutoFit/>
          </a:bodyPr>
          <a:lstStyle/>
          <a:p>
            <a:pPr>
              <a:spcAft>
                <a:spcPts val="600"/>
              </a:spcAft>
              <a:defRPr sz="1100" b="1">
                <a:solidFill>
                  <a:srgbClr val="38BDF8"/>
                </a:solidFill>
                <a:latin typeface="Arial"/>
              </a:defRPr>
            </a:pPr>
            <a:r>
              <a:t>- Blind Demographic Shielding: </a:t>
            </a:r>
            <a:r>
              <a:rPr b="0">
                <a:solidFill>
                  <a:srgbClr val="F8FAFC"/>
                </a:solidFill>
                <a:latin typeface="Calibri"/>
              </a:rPr>
              <a:t>Resumes undergo automated redaction of candidate names, photographs, gender markers, physical addresses, and birthdates prior to LLM evaluation, eliminating unconscious bias.</a:t>
            </a:r>
          </a:p>
          <a:p>
            <a:pPr>
              <a:spcAft>
                <a:spcPts val="600"/>
              </a:spcAft>
              <a:defRPr sz="1100" b="1">
                <a:solidFill>
                  <a:srgbClr val="38BDF8"/>
                </a:solidFill>
                <a:latin typeface="Arial"/>
              </a:defRPr>
            </a:pPr>
            <a:r>
              <a:t>- Rejection of Pseudoscientific Video Profiling: </a:t>
            </a:r>
            <a:r>
              <a:rPr b="0">
                <a:solidFill>
                  <a:srgbClr val="F8FAFC"/>
                </a:solidFill>
                <a:latin typeface="Calibri"/>
              </a:rPr>
              <a:t>Unlike legacy platforms that claim to analyze micro-expressions or eye movement, AI Recruit360 evaluates only transcribed verbal arguments and technical merit, adhering to EU AI Act principles.</a:t>
            </a:r>
          </a:p>
          <a:p>
            <a:pPr>
              <a:spcAft>
                <a:spcPts val="600"/>
              </a:spcAft>
              <a:defRPr sz="1100" b="1">
                <a:solidFill>
                  <a:srgbClr val="38BDF8"/>
                </a:solidFill>
                <a:latin typeface="Arial"/>
              </a:defRPr>
            </a:pPr>
            <a:r>
              <a:t>- Human-in-the-Loop Governance: </a:t>
            </a:r>
            <a:r>
              <a:rPr b="0">
                <a:solidFill>
                  <a:srgbClr val="F8FAFC"/>
                </a:solidFill>
                <a:latin typeface="Calibri"/>
              </a:rPr>
              <a:t>The platform strictly operates as an advisory decision-support system. Autonomous candidate rejection is prohibited; every hiring action requires explicit human recruiter approval.</a:t>
            </a:r>
          </a:p>
          <a:p>
            <a:pPr>
              <a:spcAft>
                <a:spcPts val="600"/>
              </a:spcAft>
              <a:defRPr sz="1100" b="1">
                <a:solidFill>
                  <a:srgbClr val="38BDF8"/>
                </a:solidFill>
                <a:latin typeface="Arial"/>
              </a:defRPr>
            </a:pPr>
            <a:r>
              <a:t>- Explainable AI &amp; Auditable Justifications: </a:t>
            </a:r>
            <a:r>
              <a:rPr b="0">
                <a:solidFill>
                  <a:srgbClr val="F8FAFC"/>
                </a:solidFill>
                <a:latin typeface="Calibri"/>
              </a:rPr>
              <a:t>Every score generated by the system includes cited evidence, verbatim response quotes, and transparent scoring rationales stored in immutable audit logs.</a:t>
            </a:r>
          </a:p>
        </p:txBody>
      </p:sp>
      <p:sp>
        <p:nvSpPr>
          <p:cNvPr id="8" name="Rounded Rectangle 7"/>
          <p:cNvSpPr/>
          <p:nvPr/>
        </p:nvSpPr>
        <p:spPr>
          <a:xfrm>
            <a:off x="731520" y="4663440"/>
            <a:ext cx="10698480" cy="14630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800600"/>
            <a:ext cx="10332719" cy="365760"/>
          </a:xfrm>
          <a:prstGeom prst="rect">
            <a:avLst/>
          </a:prstGeom>
          <a:noFill/>
        </p:spPr>
        <p:txBody>
          <a:bodyPr wrap="none">
            <a:spAutoFit/>
          </a:bodyPr>
          <a:lstStyle/>
          <a:p>
            <a:pPr>
              <a:defRPr sz="1300" b="1">
                <a:solidFill>
                  <a:srgbClr val="38BDF8"/>
                </a:solidFill>
                <a:latin typeface="Arial"/>
              </a:defRPr>
            </a:pPr>
            <a:r>
              <a:t>ACCESSIBILITY &amp; CANDIDATE DIGNITY (WCAG 2.1 AA)</a:t>
            </a:r>
          </a:p>
        </p:txBody>
      </p:sp>
      <p:sp>
        <p:nvSpPr>
          <p:cNvPr id="10" name="TextBox 9"/>
          <p:cNvSpPr txBox="1"/>
          <p:nvPr/>
        </p:nvSpPr>
        <p:spPr>
          <a:xfrm>
            <a:off x="914400" y="5029200"/>
            <a:ext cx="10332720" cy="1005840"/>
          </a:xfrm>
          <a:prstGeom prst="rect">
            <a:avLst/>
          </a:prstGeom>
          <a:noFill/>
        </p:spPr>
        <p:txBody>
          <a:bodyPr wrap="none">
            <a:spAutoFit/>
          </a:bodyPr>
          <a:lstStyle/>
          <a:p>
            <a:pPr>
              <a:defRPr sz="1050">
                <a:solidFill>
                  <a:srgbClr val="F8FAFC"/>
                </a:solidFill>
                <a:latin typeface="Calibri"/>
              </a:defRPr>
            </a:pPr>
            <a:r>
              <a:t>The candidate portal conforms to WCAG 2.1 AA accessibility standards: high-contrast color ratios (≥ 4.5:1), full keyboard navigability, live closed captioning during interviews, and screen-reader compatibility. Candidates who do not advance receive prompt, respectful notifications with actionable feedback rather than ghosting.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TEAM CONTRIBUTIONS</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Individual Engineering Responsibilities &amp; Execution</a:t>
            </a:r>
          </a:p>
        </p:txBody>
      </p:sp>
      <p:sp>
        <p:nvSpPr>
          <p:cNvPr id="5" name="Rounded Rectangle 4"/>
          <p:cNvSpPr/>
          <p:nvPr/>
        </p:nvSpPr>
        <p:spPr>
          <a:xfrm>
            <a:off x="7315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3017520" cy="365760"/>
          </a:xfrm>
          <a:prstGeom prst="rect">
            <a:avLst/>
          </a:prstGeom>
          <a:noFill/>
        </p:spPr>
        <p:txBody>
          <a:bodyPr wrap="none">
            <a:spAutoFit/>
          </a:bodyPr>
          <a:lstStyle/>
          <a:p>
            <a:pPr>
              <a:defRPr sz="1300" b="1">
                <a:solidFill>
                  <a:srgbClr val="38BDF8"/>
                </a:solidFill>
                <a:latin typeface="Arial"/>
              </a:defRPr>
            </a:pPr>
            <a:r>
              <a:t>AMEER HAMZA</a:t>
            </a:r>
          </a:p>
        </p:txBody>
      </p:sp>
      <p:sp>
        <p:nvSpPr>
          <p:cNvPr id="7" name="TextBox 6"/>
          <p:cNvSpPr txBox="1"/>
          <p:nvPr/>
        </p:nvSpPr>
        <p:spPr>
          <a:xfrm>
            <a:off x="914400" y="2011680"/>
            <a:ext cx="3017520" cy="3931920"/>
          </a:xfrm>
          <a:prstGeom prst="rect">
            <a:avLst/>
          </a:prstGeom>
          <a:noFill/>
        </p:spPr>
        <p:txBody>
          <a:bodyPr wrap="none">
            <a:spAutoFit/>
          </a:bodyPr>
          <a:lstStyle/>
          <a:p>
            <a:pPr>
              <a:spcAft>
                <a:spcPts val="800"/>
              </a:spcAft>
              <a:defRPr sz="1000" b="1">
                <a:solidFill>
                  <a:srgbClr val="38BDF8"/>
                </a:solidFill>
                <a:latin typeface="Arial"/>
              </a:defRPr>
            </a:pPr>
            <a:r>
              <a:t>Role: Team Lead &amp; Full-Stack Architect</a:t>
            </a:r>
          </a:p>
          <a:p>
            <a:pPr>
              <a:spcAft>
                <a:spcPts val="300"/>
              </a:spcAft>
              <a:defRPr sz="950">
                <a:solidFill>
                  <a:srgbClr val="F8FAFC"/>
                </a:solidFill>
                <a:latin typeface="Calibri"/>
              </a:defRPr>
            </a:pPr>
            <a:r>
              <a:t>• System architecture &amp; microservice orchestration</a:t>
            </a:r>
          </a:p>
          <a:p>
            <a:pPr>
              <a:spcAft>
                <a:spcPts val="300"/>
              </a:spcAft>
              <a:defRPr sz="950">
                <a:solidFill>
                  <a:srgbClr val="F8FAFC"/>
                </a:solidFill>
                <a:latin typeface="Calibri"/>
              </a:defRPr>
            </a:pPr>
            <a:r>
              <a:t>• FastAPI microservice implementation &amp; endpoints</a:t>
            </a:r>
          </a:p>
          <a:p>
            <a:pPr>
              <a:spcAft>
                <a:spcPts val="300"/>
              </a:spcAft>
              <a:defRPr sz="950">
                <a:solidFill>
                  <a:srgbClr val="F8FAFC"/>
                </a:solidFill>
                <a:latin typeface="Calibri"/>
              </a:defRPr>
            </a:pPr>
            <a:r>
              <a:t>• Next.js 14 App Router frontend architecture</a:t>
            </a:r>
          </a:p>
          <a:p>
            <a:pPr>
              <a:spcAft>
                <a:spcPts val="300"/>
              </a:spcAft>
              <a:defRPr sz="950">
                <a:solidFill>
                  <a:srgbClr val="F8FAFC"/>
                </a:solidFill>
                <a:latin typeface="Calibri"/>
              </a:defRPr>
            </a:pPr>
            <a:r>
              <a:t>• Relational 3NF schema design &amp; foreign key cascade</a:t>
            </a:r>
          </a:p>
          <a:p>
            <a:pPr>
              <a:spcAft>
                <a:spcPts val="300"/>
              </a:spcAft>
              <a:defRPr sz="950">
                <a:solidFill>
                  <a:srgbClr val="F8FAFC"/>
                </a:solidFill>
                <a:latin typeface="Calibri"/>
              </a:defRPr>
            </a:pPr>
            <a:r>
              <a:t>• Multi-dimensional composite scoring algorithm</a:t>
            </a:r>
          </a:p>
          <a:p>
            <a:pPr>
              <a:spcAft>
                <a:spcPts val="300"/>
              </a:spcAft>
              <a:defRPr sz="950">
                <a:solidFill>
                  <a:srgbClr val="F8FAFC"/>
                </a:solidFill>
                <a:latin typeface="Calibri"/>
              </a:defRPr>
            </a:pPr>
            <a:r>
              <a:t>• Cloud production deployment (Vercel, Supabase, VPS)</a:t>
            </a:r>
          </a:p>
          <a:p>
            <a:pPr>
              <a:spcAft>
                <a:spcPts val="300"/>
              </a:spcAft>
              <a:defRPr sz="950">
                <a:solidFill>
                  <a:srgbClr val="F8FAFC"/>
                </a:solidFill>
                <a:latin typeface="Calibri"/>
              </a:defRPr>
            </a:pPr>
            <a:r>
              <a:t>• FYP thesis compilation &amp; technical documentation</a:t>
            </a:r>
          </a:p>
        </p:txBody>
      </p:sp>
      <p:sp>
        <p:nvSpPr>
          <p:cNvPr id="8" name="Rounded Rectangle 7"/>
          <p:cNvSpPr/>
          <p:nvPr/>
        </p:nvSpPr>
        <p:spPr>
          <a:xfrm>
            <a:off x="43891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91639"/>
            <a:ext cx="3017520" cy="365760"/>
          </a:xfrm>
          <a:prstGeom prst="rect">
            <a:avLst/>
          </a:prstGeom>
          <a:noFill/>
        </p:spPr>
        <p:txBody>
          <a:bodyPr wrap="none">
            <a:spAutoFit/>
          </a:bodyPr>
          <a:lstStyle/>
          <a:p>
            <a:pPr>
              <a:defRPr sz="1300" b="1">
                <a:solidFill>
                  <a:srgbClr val="38BDF8"/>
                </a:solidFill>
                <a:latin typeface="Arial"/>
              </a:defRPr>
            </a:pPr>
            <a:r>
              <a:t>BABAR HUSSAIN</a:t>
            </a:r>
          </a:p>
        </p:txBody>
      </p:sp>
      <p:sp>
        <p:nvSpPr>
          <p:cNvPr id="10" name="TextBox 9"/>
          <p:cNvSpPr txBox="1"/>
          <p:nvPr/>
        </p:nvSpPr>
        <p:spPr>
          <a:xfrm>
            <a:off x="4572000" y="2011680"/>
            <a:ext cx="3017520" cy="3931920"/>
          </a:xfrm>
          <a:prstGeom prst="rect">
            <a:avLst/>
          </a:prstGeom>
          <a:noFill/>
        </p:spPr>
        <p:txBody>
          <a:bodyPr wrap="none">
            <a:spAutoFit/>
          </a:bodyPr>
          <a:lstStyle/>
          <a:p>
            <a:pPr>
              <a:spcAft>
                <a:spcPts val="800"/>
              </a:spcAft>
              <a:defRPr sz="1000" b="1">
                <a:solidFill>
                  <a:srgbClr val="34D399"/>
                </a:solidFill>
                <a:latin typeface="Arial"/>
              </a:defRPr>
            </a:pPr>
            <a:r>
              <a:t>Role: AI &amp; Multimodal Systems Lead</a:t>
            </a:r>
          </a:p>
          <a:p>
            <a:pPr>
              <a:spcAft>
                <a:spcPts val="300"/>
              </a:spcAft>
              <a:defRPr sz="950">
                <a:solidFill>
                  <a:srgbClr val="F8FAFC"/>
                </a:solidFill>
                <a:latin typeface="Calibri"/>
              </a:defRPr>
            </a:pPr>
            <a:r>
              <a:t>• Simli WebRTC avatar integration &amp; SDP negotiation</a:t>
            </a:r>
          </a:p>
          <a:p>
            <a:pPr>
              <a:spcAft>
                <a:spcPts val="300"/>
              </a:spcAft>
              <a:defRPr sz="950">
                <a:solidFill>
                  <a:srgbClr val="F8FAFC"/>
                </a:solidFill>
                <a:latin typeface="Calibri"/>
              </a:defRPr>
            </a:pPr>
            <a:r>
              <a:t>• Deepgram Nova-2 streaming STT WebSocket pipeline</a:t>
            </a:r>
          </a:p>
          <a:p>
            <a:pPr>
              <a:spcAft>
                <a:spcPts val="300"/>
              </a:spcAft>
              <a:defRPr sz="950">
                <a:solidFill>
                  <a:srgbClr val="F8FAFC"/>
                </a:solidFill>
                <a:latin typeface="Calibri"/>
              </a:defRPr>
            </a:pPr>
            <a:r>
              <a:t>• ElevenLabs neural audio streaming &amp; voice tuning</a:t>
            </a:r>
          </a:p>
          <a:p>
            <a:pPr>
              <a:spcAft>
                <a:spcPts val="300"/>
              </a:spcAft>
              <a:defRPr sz="950">
                <a:solidFill>
                  <a:srgbClr val="F8FAFC"/>
                </a:solidFill>
                <a:latin typeface="Calibri"/>
              </a:defRPr>
            </a:pPr>
            <a:r>
              <a:t>• LLM prompt engineering &amp; Pydantic validation schemas</a:t>
            </a:r>
          </a:p>
          <a:p>
            <a:pPr>
              <a:spcAft>
                <a:spcPts val="300"/>
              </a:spcAft>
              <a:defRPr sz="950">
                <a:solidFill>
                  <a:srgbClr val="F8FAFC"/>
                </a:solidFill>
                <a:latin typeface="Calibri"/>
              </a:defRPr>
            </a:pPr>
            <a:r>
              <a:t>• Resume text extraction engine (PDF / DOCX)</a:t>
            </a:r>
          </a:p>
          <a:p>
            <a:pPr>
              <a:spcAft>
                <a:spcPts val="300"/>
              </a:spcAft>
              <a:defRPr sz="950">
                <a:solidFill>
                  <a:srgbClr val="F8FAFC"/>
                </a:solidFill>
                <a:latin typeface="Calibri"/>
              </a:defRPr>
            </a:pPr>
            <a:r>
              <a:t>• Dynamic interview question branching logic</a:t>
            </a:r>
          </a:p>
          <a:p>
            <a:pPr>
              <a:spcAft>
                <a:spcPts val="300"/>
              </a:spcAft>
              <a:defRPr sz="950">
                <a:solidFill>
                  <a:srgbClr val="F8FAFC"/>
                </a:solidFill>
                <a:latin typeface="Calibri"/>
              </a:defRPr>
            </a:pPr>
            <a:r>
              <a:t>• Candidate media handling &amp; audio visualizer</a:t>
            </a:r>
          </a:p>
        </p:txBody>
      </p:sp>
      <p:sp>
        <p:nvSpPr>
          <p:cNvPr id="11" name="Rounded Rectangle 10"/>
          <p:cNvSpPr/>
          <p:nvPr/>
        </p:nvSpPr>
        <p:spPr>
          <a:xfrm>
            <a:off x="8046720" y="1554480"/>
            <a:ext cx="3383280" cy="457200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91639"/>
            <a:ext cx="3017520" cy="365760"/>
          </a:xfrm>
          <a:prstGeom prst="rect">
            <a:avLst/>
          </a:prstGeom>
          <a:noFill/>
        </p:spPr>
        <p:txBody>
          <a:bodyPr wrap="none">
            <a:spAutoFit/>
          </a:bodyPr>
          <a:lstStyle/>
          <a:p>
            <a:pPr>
              <a:defRPr sz="1300" b="1">
                <a:solidFill>
                  <a:srgbClr val="38BDF8"/>
                </a:solidFill>
                <a:latin typeface="Arial"/>
              </a:defRPr>
            </a:pPr>
            <a:r>
              <a:t>ALI NAQI</a:t>
            </a:r>
          </a:p>
        </p:txBody>
      </p:sp>
      <p:sp>
        <p:nvSpPr>
          <p:cNvPr id="13" name="TextBox 12"/>
          <p:cNvSpPr txBox="1"/>
          <p:nvPr/>
        </p:nvSpPr>
        <p:spPr>
          <a:xfrm>
            <a:off x="8229600" y="2011680"/>
            <a:ext cx="3017520" cy="3931920"/>
          </a:xfrm>
          <a:prstGeom prst="rect">
            <a:avLst/>
          </a:prstGeom>
          <a:noFill/>
        </p:spPr>
        <p:txBody>
          <a:bodyPr wrap="none">
            <a:spAutoFit/>
          </a:bodyPr>
          <a:lstStyle/>
          <a:p>
            <a:pPr>
              <a:spcAft>
                <a:spcPts val="800"/>
              </a:spcAft>
              <a:defRPr sz="1000" b="1">
                <a:solidFill>
                  <a:srgbClr val="FF6B6B"/>
                </a:solidFill>
                <a:latin typeface="Arial"/>
              </a:defRPr>
            </a:pPr>
            <a:r>
              <a:t>Role: Security, Assessment &amp; QA Lead</a:t>
            </a:r>
          </a:p>
          <a:p>
            <a:pPr>
              <a:spcAft>
                <a:spcPts val="300"/>
              </a:spcAft>
              <a:defRPr sz="950">
                <a:solidFill>
                  <a:srgbClr val="F8FAFC"/>
                </a:solidFill>
                <a:latin typeface="Calibri"/>
              </a:defRPr>
            </a:pPr>
            <a:r>
              <a:t>• Server-authoritative assessment state machine</a:t>
            </a:r>
          </a:p>
          <a:p>
            <a:pPr>
              <a:spcAft>
                <a:spcPts val="300"/>
              </a:spcAft>
              <a:defRPr sz="950">
                <a:solidFill>
                  <a:srgbClr val="F8FAFC"/>
                </a:solidFill>
                <a:latin typeface="Calibri"/>
              </a:defRPr>
            </a:pPr>
            <a:r>
              <a:t>• PostgreSQL Row-Level Security (RLS) policies</a:t>
            </a:r>
          </a:p>
          <a:p>
            <a:pPr>
              <a:spcAft>
                <a:spcPts val="300"/>
              </a:spcAft>
              <a:defRPr sz="950">
                <a:solidFill>
                  <a:srgbClr val="F8FAFC"/>
                </a:solidFill>
                <a:latin typeface="Calibri"/>
              </a:defRPr>
            </a:pPr>
            <a:r>
              <a:t>• Anti-cheat telemetry logging &amp; event detection</a:t>
            </a:r>
          </a:p>
          <a:p>
            <a:pPr>
              <a:spcAft>
                <a:spcPts val="300"/>
              </a:spcAft>
              <a:defRPr sz="950">
                <a:solidFill>
                  <a:srgbClr val="F8FAFC"/>
                </a:solidFill>
                <a:latin typeface="Calibri"/>
              </a:defRPr>
            </a:pPr>
            <a:r>
              <a:t>• Automated 32-test verification suite &amp; CI tests</a:t>
            </a:r>
          </a:p>
          <a:p>
            <a:pPr>
              <a:spcAft>
                <a:spcPts val="300"/>
              </a:spcAft>
              <a:defRPr sz="950">
                <a:solidFill>
                  <a:srgbClr val="F8FAFC"/>
                </a:solidFill>
                <a:latin typeface="Calibri"/>
              </a:defRPr>
            </a:pPr>
            <a:r>
              <a:t>• End-to-end security penetration testing</a:t>
            </a:r>
          </a:p>
          <a:p>
            <a:pPr>
              <a:spcAft>
                <a:spcPts val="300"/>
              </a:spcAft>
              <a:defRPr sz="950">
                <a:solidFill>
                  <a:srgbClr val="F8FAFC"/>
                </a:solidFill>
                <a:latin typeface="Calibri"/>
              </a:defRPr>
            </a:pPr>
            <a:r>
              <a:t>• Empirical latency benchmarking &amp; SLA profiling</a:t>
            </a:r>
          </a:p>
          <a:p>
            <a:pPr>
              <a:spcAft>
                <a:spcPts val="300"/>
              </a:spcAft>
              <a:defRPr sz="950">
                <a:solidFill>
                  <a:srgbClr val="F8FAFC"/>
                </a:solidFill>
                <a:latin typeface="Calibri"/>
              </a:defRPr>
            </a:pPr>
            <a:r>
              <a:t>• WCAG 2.1 AA accessibility audit &amp; compliance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9144000" cy="320040"/>
          </a:xfrm>
          <a:prstGeom prst="rect">
            <a:avLst/>
          </a:prstGeom>
          <a:noFill/>
        </p:spPr>
        <p:txBody>
          <a:bodyPr wrap="square">
            <a:spAutoFit/>
          </a:bodyPr>
          <a:lstStyle/>
          <a:p>
            <a:pPr>
              <a:defRPr sz="1100" b="1">
                <a:solidFill>
                  <a:srgbClr val="38BDF8"/>
                </a:solidFill>
                <a:latin typeface="Calibri"/>
              </a:defRPr>
            </a:pPr>
            <a:r>
              <a:t>CONCLUSION &amp; FUTURE ROADMAP</a:t>
            </a:r>
          </a:p>
        </p:txBody>
      </p:sp>
      <p:sp>
        <p:nvSpPr>
          <p:cNvPr id="4" name="TextBox 3"/>
          <p:cNvSpPr txBox="1"/>
          <p:nvPr/>
        </p:nvSpPr>
        <p:spPr>
          <a:xfrm>
            <a:off x="731520" y="685800"/>
            <a:ext cx="10515600" cy="640080"/>
          </a:xfrm>
          <a:prstGeom prst="rect">
            <a:avLst/>
          </a:prstGeom>
          <a:noFill/>
        </p:spPr>
        <p:txBody>
          <a:bodyPr wrap="square">
            <a:spAutoFit/>
          </a:bodyPr>
          <a:lstStyle/>
          <a:p>
            <a:pPr>
              <a:defRPr sz="2200" b="1">
                <a:solidFill>
                  <a:srgbClr val="F8FAFC"/>
                </a:solidFill>
                <a:latin typeface="Arial"/>
              </a:defRPr>
            </a:pPr>
            <a:r>
              <a:t>Summary of Achievements &amp; Technical Horizons</a:t>
            </a:r>
          </a:p>
        </p:txBody>
      </p:sp>
      <p:sp>
        <p:nvSpPr>
          <p:cNvPr id="5" name="Rounded Rectangle 4"/>
          <p:cNvSpPr/>
          <p:nvPr/>
        </p:nvSpPr>
        <p:spPr>
          <a:xfrm>
            <a:off x="731520" y="1554480"/>
            <a:ext cx="5212080" cy="32918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39"/>
            <a:ext cx="4846320" cy="365760"/>
          </a:xfrm>
          <a:prstGeom prst="rect">
            <a:avLst/>
          </a:prstGeom>
          <a:noFill/>
        </p:spPr>
        <p:txBody>
          <a:bodyPr wrap="none">
            <a:spAutoFit/>
          </a:bodyPr>
          <a:lstStyle/>
          <a:p>
            <a:pPr>
              <a:defRPr sz="1300" b="1">
                <a:solidFill>
                  <a:srgbClr val="38BDF8"/>
                </a:solidFill>
                <a:latin typeface="Arial"/>
              </a:defRPr>
            </a:pPr>
            <a:r>
              <a:t>KEY PROJECT ACHIEVEMENTS</a:t>
            </a:r>
          </a:p>
        </p:txBody>
      </p:sp>
      <p:sp>
        <p:nvSpPr>
          <p:cNvPr id="7" name="TextBox 6"/>
          <p:cNvSpPr txBox="1"/>
          <p:nvPr/>
        </p:nvSpPr>
        <p:spPr>
          <a:xfrm>
            <a:off x="914400" y="2011680"/>
            <a:ext cx="4846320" cy="2743200"/>
          </a:xfrm>
          <a:prstGeom prst="rect">
            <a:avLst/>
          </a:prstGeom>
          <a:noFill/>
        </p:spPr>
        <p:txBody>
          <a:bodyPr wrap="none">
            <a:spAutoFit/>
          </a:bodyPr>
          <a:lstStyle/>
          <a:p>
            <a:pPr>
              <a:spcAft>
                <a:spcPts val="600"/>
              </a:spcAft>
              <a:defRPr sz="1000">
                <a:solidFill>
                  <a:srgbClr val="F8FAFC"/>
                </a:solidFill>
                <a:latin typeface="Calibri"/>
              </a:defRPr>
            </a:pPr>
            <a:r>
              <a:t>• Fully Deployed &amp; Functional: Delivered an end-to-end cloud platform spanning resume screening, skills testing, and multimodal AI interviewing.</a:t>
            </a:r>
          </a:p>
          <a:p>
            <a:pPr>
              <a:spcAft>
                <a:spcPts val="600"/>
              </a:spcAft>
              <a:defRPr sz="1000">
                <a:solidFill>
                  <a:srgbClr val="F8FAFC"/>
                </a:solidFill>
                <a:latin typeface="Calibri"/>
              </a:defRPr>
            </a:pPr>
            <a:r>
              <a:t>• 90.2% Operational Cost Reduction: Slashed monthly hiring costs from $1,500+ commercial tiers to $146.31 for 500 applicants.</a:t>
            </a:r>
          </a:p>
          <a:p>
            <a:pPr>
              <a:spcAft>
                <a:spcPts val="600"/>
              </a:spcAft>
              <a:defRPr sz="1000">
                <a:solidFill>
                  <a:srgbClr val="F8FAFC"/>
                </a:solidFill>
                <a:latin typeface="Calibri"/>
              </a:defRPr>
            </a:pPr>
            <a:r>
              <a:t>• Sub-Second Conversational Experience: Achieved 1.41s round-trip latency in live avatar video interviews.</a:t>
            </a:r>
          </a:p>
          <a:p>
            <a:pPr>
              <a:spcAft>
                <a:spcPts val="600"/>
              </a:spcAft>
              <a:defRPr sz="1000">
                <a:solidFill>
                  <a:srgbClr val="F8FAFC"/>
                </a:solidFill>
                <a:latin typeface="Calibri"/>
              </a:defRPr>
            </a:pPr>
            <a:r>
              <a:t>• Uncompromising Security &amp; QA: 100% pass rate across 32 automated tests, zero tenant leakage under RLS, and server-authoritative anti-cheat locks.</a:t>
            </a:r>
          </a:p>
        </p:txBody>
      </p:sp>
      <p:sp>
        <p:nvSpPr>
          <p:cNvPr id="8" name="Rounded Rectangle 7"/>
          <p:cNvSpPr/>
          <p:nvPr/>
        </p:nvSpPr>
        <p:spPr>
          <a:xfrm>
            <a:off x="6217920" y="1554480"/>
            <a:ext cx="5212080" cy="329184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91639"/>
            <a:ext cx="4846320" cy="365760"/>
          </a:xfrm>
          <a:prstGeom prst="rect">
            <a:avLst/>
          </a:prstGeom>
          <a:noFill/>
        </p:spPr>
        <p:txBody>
          <a:bodyPr wrap="none">
            <a:spAutoFit/>
          </a:bodyPr>
          <a:lstStyle/>
          <a:p>
            <a:pPr>
              <a:defRPr sz="1300" b="1">
                <a:solidFill>
                  <a:srgbClr val="38BDF8"/>
                </a:solidFill>
                <a:latin typeface="Arial"/>
              </a:defRPr>
            </a:pPr>
            <a:r>
              <a:t>FUTURE TECHNICAL ROADMAP</a:t>
            </a:r>
          </a:p>
        </p:txBody>
      </p:sp>
      <p:sp>
        <p:nvSpPr>
          <p:cNvPr id="10" name="TextBox 9"/>
          <p:cNvSpPr txBox="1"/>
          <p:nvPr/>
        </p:nvSpPr>
        <p:spPr>
          <a:xfrm>
            <a:off x="6400800" y="2011680"/>
            <a:ext cx="4846320" cy="2743200"/>
          </a:xfrm>
          <a:prstGeom prst="rect">
            <a:avLst/>
          </a:prstGeom>
          <a:noFill/>
        </p:spPr>
        <p:txBody>
          <a:bodyPr wrap="none">
            <a:spAutoFit/>
          </a:bodyPr>
          <a:lstStyle/>
          <a:p>
            <a:pPr>
              <a:spcAft>
                <a:spcPts val="600"/>
              </a:spcAft>
              <a:defRPr sz="1000">
                <a:solidFill>
                  <a:srgbClr val="F8FAFC"/>
                </a:solidFill>
                <a:latin typeface="Calibri"/>
              </a:defRPr>
            </a:pPr>
            <a:r>
              <a:t>• Multilingual Voice Support: Expanding conversational interviews to regional languages including Urdu and Arabic.</a:t>
            </a:r>
          </a:p>
          <a:p>
            <a:pPr>
              <a:spcAft>
                <a:spcPts val="600"/>
              </a:spcAft>
              <a:defRPr sz="1000">
                <a:solidFill>
                  <a:srgbClr val="F8FAFC"/>
                </a:solidFill>
                <a:latin typeface="Calibri"/>
              </a:defRPr>
            </a:pPr>
            <a:r>
              <a:t>• Live Sandboxed Coding Environment: WebAssembly or Docker-based live coding compiler for software engineering assessments.</a:t>
            </a:r>
          </a:p>
          <a:p>
            <a:pPr>
              <a:spcAft>
                <a:spcPts val="600"/>
              </a:spcAft>
              <a:defRPr sz="1000">
                <a:solidFill>
                  <a:srgbClr val="F8FAFC"/>
                </a:solidFill>
                <a:latin typeface="Calibri"/>
              </a:defRPr>
            </a:pPr>
            <a:r>
              <a:t>• Enterprise Single Sign-On (SSO): SAML 2.0 / Okta enterprise identity federation and Google Workspace calendar integration.</a:t>
            </a:r>
          </a:p>
          <a:p>
            <a:pPr>
              <a:spcAft>
                <a:spcPts val="600"/>
              </a:spcAft>
              <a:defRPr sz="1000">
                <a:solidFill>
                  <a:srgbClr val="F8FAFC"/>
                </a:solidFill>
                <a:latin typeface="Calibri"/>
              </a:defRPr>
            </a:pPr>
            <a:r>
              <a:t>• Predictive Retention Modeling: Longitudinal analytics linking recruitment evaluation scores with 6-month on-the-job retention.</a:t>
            </a:r>
          </a:p>
        </p:txBody>
      </p:sp>
      <p:sp>
        <p:nvSpPr>
          <p:cNvPr id="11" name="Rounded Rectangle 10"/>
          <p:cNvSpPr/>
          <p:nvPr/>
        </p:nvSpPr>
        <p:spPr>
          <a:xfrm>
            <a:off x="731520" y="5029200"/>
            <a:ext cx="10698480" cy="1097280"/>
          </a:xfrm>
          <a:prstGeom prst="roundRect">
            <a:avLst/>
          </a:prstGeom>
          <a:solidFill>
            <a:srgbClr val="1A2235"/>
          </a:solidFill>
          <a:ln w="15240">
            <a:solidFill>
              <a:srgbClr val="2E3A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166360"/>
            <a:ext cx="10332719" cy="365760"/>
          </a:xfrm>
          <a:prstGeom prst="rect">
            <a:avLst/>
          </a:prstGeom>
          <a:noFill/>
        </p:spPr>
        <p:txBody>
          <a:bodyPr wrap="none">
            <a:spAutoFit/>
          </a:bodyPr>
          <a:lstStyle/>
          <a:p>
            <a:pPr>
              <a:defRPr sz="1300" b="1">
                <a:solidFill>
                  <a:srgbClr val="38BDF8"/>
                </a:solidFill>
                <a:latin typeface="Arial"/>
              </a:defRPr>
            </a:pPr>
            <a:r>
              <a:t>THANK YOU FOR YOUR TIME &amp; GUIDANCE</a:t>
            </a:r>
          </a:p>
        </p:txBody>
      </p:sp>
      <p:sp>
        <p:nvSpPr>
          <p:cNvPr id="13" name="TextBox 12"/>
          <p:cNvSpPr txBox="1"/>
          <p:nvPr/>
        </p:nvSpPr>
        <p:spPr>
          <a:xfrm>
            <a:off x="914400" y="5394960"/>
            <a:ext cx="10332720" cy="640080"/>
          </a:xfrm>
          <a:prstGeom prst="rect">
            <a:avLst/>
          </a:prstGeom>
          <a:noFill/>
        </p:spPr>
        <p:txBody>
          <a:bodyPr wrap="none">
            <a:spAutoFit/>
          </a:bodyPr>
          <a:lstStyle/>
          <a:p>
            <a:pPr>
              <a:defRPr sz="1100" b="1">
                <a:solidFill>
                  <a:srgbClr val="38BDF8"/>
                </a:solidFill>
                <a:latin typeface="Calibri"/>
              </a:defRPr>
            </a:pPr>
            <a:r>
              <a:t>We express our sincere gratitude to our supervisor Engr. Syeda Iqra Gillani and the honorable evaluation committee. The floor is now open for questions and technical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7487</Words>
  <Application>Microsoft Office PowerPoint</Application>
  <PresentationFormat>Widescreen</PresentationFormat>
  <Paragraphs>645</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Ameer Hamza</cp:lastModifiedBy>
  <cp:revision>2</cp:revision>
  <dcterms:created xsi:type="dcterms:W3CDTF">2013-01-27T09:14:16Z</dcterms:created>
  <dcterms:modified xsi:type="dcterms:W3CDTF">2026-09-22T08:55:04Z</dcterms:modified>
  <cp:category/>
</cp:coreProperties>
</file>