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457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4572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7498079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00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822960"/>
            <a:ext cx="310896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vatar_header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60120"/>
            <a:ext cx="2834640" cy="28346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3990320" y="822960"/>
            <a:ext cx="365760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ash_header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27480" y="960120"/>
            <a:ext cx="3383280" cy="2507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31920" y="457200"/>
            <a:ext cx="98755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ai_recruit360</a:t>
            </a:r>
            <a:r>
              <a:rPr>
                <a:solidFill>
                  <a:srgbClr val="EF4444"/>
                </a:solidFill>
              </a:rPr>
              <a:t> .</a:t>
            </a:r>
          </a:p>
          <a:p>
            <a:pPr algn="ctr">
              <a:spcBef>
                <a:spcPts val="400"/>
              </a:spcBef>
              <a:spcAft>
                <a:spcPts val="800"/>
              </a:spcAft>
              <a:defRPr sz="1350" b="1">
                <a:solidFill>
                  <a:srgbClr val="E2E8F0"/>
                </a:solidFill>
                <a:latin typeface="Calibri"/>
              </a:defRPr>
            </a:pPr>
            <a:r>
              <a:t>AI-assisted resume screening, anti-cheat skills assessment, and multimodal conversational avatar interviews.</a:t>
            </a:r>
          </a:p>
          <a:p>
            <a:pPr algn="ctr">
              <a:spcAft>
                <a:spcPts val="1000"/>
              </a:spcAft>
              <a:defRPr sz="1300">
                <a:solidFill>
                  <a:srgbClr val="0284C7"/>
                </a:solidFill>
                <a:latin typeface="Calibri"/>
              </a:defRPr>
            </a:pPr>
            <a:r>
              <a:t>BSc Final Year Project (Session 2022-2026)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17920"/>
            <a:ext cx="18288000" cy="12801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6263640"/>
            <a:ext cx="1828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DEPARTMENT OF SOFTWARE ENGINEERING</a:t>
            </a:r>
          </a:p>
          <a:p>
            <a:pPr algn="ctr">
              <a:defRPr sz="1300">
                <a:solidFill>
                  <a:srgbClr val="E0E7FF"/>
                </a:solidFill>
                <a:latin typeface="Calibri"/>
              </a:defRPr>
            </a:pPr>
            <a:r>
              <a:t>Mirpur University of Science and Technology (MUST), Mirpur-10250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7726679"/>
            <a:ext cx="109728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7726679"/>
            <a:ext cx="10972800" cy="5029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🎓   Students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832104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D4ED8"/>
                </a:solidFill>
                <a:latin typeface="Arial"/>
              </a:defRPr>
            </a:pPr>
            <a:r>
              <a:t>Ameer Hamza</a:t>
            </a:r>
          </a:p>
          <a:p>
            <a:pPr algn="ctr">
              <a:defRPr sz="1150" b="1">
                <a:solidFill>
                  <a:srgbClr val="0F172A"/>
                </a:solidFill>
                <a:latin typeface="Arial"/>
              </a:defRPr>
            </a:pPr>
            <a:r>
              <a:t>FA22-BSE-030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832104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D4ED8"/>
                </a:solidFill>
                <a:latin typeface="Arial"/>
              </a:defRPr>
            </a:pPr>
            <a:r>
              <a:t>Babar Hussain</a:t>
            </a:r>
          </a:p>
          <a:p>
            <a:pPr algn="ctr">
              <a:defRPr sz="1150" b="1">
                <a:solidFill>
                  <a:srgbClr val="0F172A"/>
                </a:solidFill>
                <a:latin typeface="Arial"/>
              </a:defRPr>
            </a:pPr>
            <a:r>
              <a:t>FA22-BSE-044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832104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D4ED8"/>
                </a:solidFill>
                <a:latin typeface="Arial"/>
              </a:defRPr>
            </a:pPr>
            <a:r>
              <a:t>Ali Naqi</a:t>
            </a:r>
          </a:p>
          <a:p>
            <a:pPr algn="ctr">
              <a:defRPr sz="1150" b="1">
                <a:solidFill>
                  <a:srgbClr val="0F172A"/>
                </a:solidFill>
                <a:latin typeface="Arial"/>
              </a:defRPr>
            </a:pPr>
            <a:r>
              <a:t>FA22-BSE-050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070080" y="7726679"/>
            <a:ext cx="5669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2070080" y="7726679"/>
            <a:ext cx="5669280" cy="5029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👤   Supervisor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0" y="832104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1D4ED8"/>
                </a:solidFill>
                <a:latin typeface="Arial"/>
              </a:defRPr>
            </a:pPr>
            <a:r>
              <a:t>Engr. Syeda Iqra Gillani</a:t>
            </a:r>
          </a:p>
          <a:p>
            <a:pPr algn="ctr">
              <a:defRPr sz="1100">
                <a:solidFill>
                  <a:srgbClr val="334155"/>
                </a:solidFill>
                <a:latin typeface="Calibri"/>
              </a:defRPr>
            </a:pPr>
            <a:r>
              <a:t>Lecturer, Dept of Software Engineering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9966960"/>
            <a:ext cx="832104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9966960"/>
            <a:ext cx="8321040" cy="54864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📖   1. INTRODUCTION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1060704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Calibri"/>
              </a:defRPr>
            </a:pPr>
            <a:r>
              <a:t>Corporate talent acquisition faces a severe hiring bottleneck: recruiters receive 500+ applicants per requisition and spend under 7 seconds per CV. Legacy keyword-based Applicant Tracking Systems (ATS) reject top-tier engineers due to keyword mismatches while rewarding superficial keyword stuffing.</a:t>
            </a:r>
          </a:p>
          <a:p>
            <a:pPr>
              <a:defRPr sz="1150">
                <a:solidFill>
                  <a:srgbClr val="334155"/>
                </a:solidFill>
                <a:latin typeface="Calibri"/>
              </a:defRPr>
            </a:pPr>
            <a:r>
              <a:t>ai_recruit360 is an enterprise-grade autonomous recruitment platform that evaluates candidates across a server-authoritative three-stage pipeline (Resume Screening, Skills Assessment, and Multimodal Interview) to deliver verifiable, bias-free candidate rankings with 90.2% cost reduction.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18320" y="9966960"/>
            <a:ext cx="832104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18320" y="9966960"/>
            <a:ext cx="8321040" cy="54864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🎯   2. OBJECTIVES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10561320"/>
            <a:ext cx="7772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Develop in-memory stream parser for PDF/DOCX resumes (380ms).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Enforce strict Pydantic JSON schemas to eliminate AI hallucination.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Implement server-authoritative anti-cheat testing with database locks.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Stream real-time WebRTC conversational avatar with sub-1.5s turnaround.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Formulate multi-dimensional 30/30/40 composite candidate scorecard.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Eliminate demographic bias through blind resume redaction.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Slash corporate recruitment operational costs by 90.2%.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14264640"/>
            <a:ext cx="8321040" cy="8412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14264640"/>
            <a:ext cx="8321040" cy="54864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⚙️   3. METHODOLOGY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59" y="14950440"/>
            <a:ext cx="7772400" cy="1143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05840" y="15115032"/>
            <a:ext cx="822960" cy="82296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latin typeface="Arial"/>
              </a:defRPr>
            </a:pPr>
            <a:r>
              <a:t>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65960" y="15023592"/>
            <a:ext cx="65836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D4ED8"/>
                </a:solidFill>
                <a:latin typeface="Arial"/>
              </a:defRPr>
            </a:pPr>
            <a:r>
              <a:t>1. Resume Stream Ingestion</a:t>
            </a:r>
          </a:p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PDF/DOCX parsed in-memory (380ms) without disk writes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1606600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D4ED8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59" y="16431768"/>
            <a:ext cx="7772400" cy="1143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05840" y="16596360"/>
            <a:ext cx="822960" cy="8229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latin typeface="Arial"/>
              </a:defRPr>
            </a:pPr>
            <a:r>
              <a:t>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65960" y="16504920"/>
            <a:ext cx="65836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284C7"/>
                </a:solidFill>
                <a:latin typeface="Arial"/>
              </a:defRPr>
            </a:pPr>
            <a:r>
              <a:t>2. Deterministic AI Screening (30%)</a:t>
            </a:r>
          </a:p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Strict Pydantic JSON schema guarantees zero hallucination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17547336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D4ED8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59" y="17913096"/>
            <a:ext cx="7772400" cy="1143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5840" y="18077688"/>
            <a:ext cx="822960" cy="8229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latin typeface="Arial"/>
              </a:defRPr>
            </a:pPr>
            <a:r>
              <a:t>🛡️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65960" y="17986248"/>
            <a:ext cx="65836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0B981"/>
                </a:solidFill>
                <a:latin typeface="Arial"/>
              </a:defRPr>
            </a:pPr>
            <a:r>
              <a:t>3. Anti-Cheat Skills Assessment (30%)</a:t>
            </a:r>
          </a:p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Server expires_at locks &amp; DOM telemetry tracking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34440" y="19028664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D4ED8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59" y="19394424"/>
            <a:ext cx="7772400" cy="1143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05840" y="19559016"/>
            <a:ext cx="822960" cy="8229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latin typeface="Arial"/>
              </a:defRPr>
            </a:pPr>
            <a:r>
              <a:t>🗣️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65960" y="19467576"/>
            <a:ext cx="65836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EF4444"/>
                </a:solidFill>
                <a:latin typeface="Arial"/>
              </a:defRPr>
            </a:pPr>
            <a:r>
              <a:t>4. Multimodal AI Interview (40%)</a:t>
            </a:r>
          </a:p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Simli WebRTC avatar + Deepgram STT (240ms) + ElevenLabs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20509992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D4ED8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59" y="20875752"/>
            <a:ext cx="7772400" cy="1143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05840" y="21040344"/>
            <a:ext cx="822960" cy="82296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latin typeface="Arial"/>
              </a:defRPr>
            </a:pPr>
            <a:r>
              <a:t>📊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65960" y="20948904"/>
            <a:ext cx="65836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D4ED8"/>
                </a:solidFill>
                <a:latin typeface="Arial"/>
              </a:defRPr>
            </a:pPr>
            <a:r>
              <a:t>5. Composite Scoring &amp; Triage</a:t>
            </a:r>
          </a:p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0.30·Screen + 0.30·Assess + 0.40·Interview ranking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418320" y="14264640"/>
            <a:ext cx="8321040" cy="6675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418320" y="14264640"/>
            <a:ext cx="8321040" cy="54864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📊   4. KEY RESULTS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692640" y="14950440"/>
            <a:ext cx="3749039" cy="27432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84080" y="15087600"/>
            <a:ext cx="3566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latin typeface="Arial"/>
              </a:defRPr>
            </a:pPr>
            <a:r>
              <a:t>👥</a:t>
            </a:r>
          </a:p>
          <a:p>
            <a:pPr algn="ctr">
              <a:defRPr sz="2200" b="1">
                <a:solidFill>
                  <a:srgbClr val="EF4444"/>
                </a:solidFill>
                <a:latin typeface="Arial"/>
              </a:defRPr>
            </a:pPr>
            <a:r>
              <a:t>90.2%</a:t>
            </a:r>
          </a:p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Cost Reduction</a:t>
            </a:r>
          </a:p>
          <a:p>
            <a:pPr algn="ctr">
              <a:defRPr sz="900">
                <a:solidFill>
                  <a:srgbClr val="64748B"/>
                </a:solidFill>
                <a:latin typeface="Calibri"/>
              </a:defRPr>
            </a:pPr>
            <a:r>
              <a:t>$146.31/mo for 500 applicants vs $1,500/mo legacy ATS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3716000" y="14950440"/>
            <a:ext cx="3749039" cy="27432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807440" y="15087600"/>
            <a:ext cx="3566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latin typeface="Arial"/>
              </a:defRPr>
            </a:pPr>
            <a:r>
              <a:t>⚡</a:t>
            </a:r>
          </a:p>
          <a:p>
            <a:pPr algn="ctr">
              <a:defRPr sz="2200" b="1">
                <a:solidFill>
                  <a:srgbClr val="0284C7"/>
                </a:solidFill>
                <a:latin typeface="Arial"/>
              </a:defRPr>
            </a:pPr>
            <a:r>
              <a:t>1.41s</a:t>
            </a:r>
          </a:p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Conversational Latency</a:t>
            </a:r>
          </a:p>
          <a:p>
            <a:pPr algn="ctr">
              <a:defRPr sz="900">
                <a:solidFill>
                  <a:srgbClr val="64748B"/>
                </a:solidFill>
                <a:latin typeface="Calibri"/>
              </a:defRPr>
            </a:pPr>
            <a:r>
              <a:t>Deepgram STT (240ms) + LLM (400ms) + TTS (390ms)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692640" y="17876520"/>
            <a:ext cx="3749039" cy="27432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84080" y="18013680"/>
            <a:ext cx="3566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latin typeface="Arial"/>
              </a:defRPr>
            </a:pPr>
            <a:r>
              <a:t>🛡️</a:t>
            </a:r>
          </a:p>
          <a:p>
            <a:pPr algn="ctr">
              <a:defRPr sz="2200" b="1">
                <a:solidFill>
                  <a:srgbClr val="10B981"/>
                </a:solidFill>
                <a:latin typeface="Arial"/>
              </a:defRPr>
            </a:pPr>
            <a:r>
              <a:t>100%</a:t>
            </a:r>
          </a:p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Test Pass Rate</a:t>
            </a:r>
          </a:p>
          <a:p>
            <a:pPr algn="ctr">
              <a:defRPr sz="900">
                <a:solidFill>
                  <a:srgbClr val="64748B"/>
                </a:solidFill>
                <a:latin typeface="Calibri"/>
              </a:defRPr>
            </a:pPr>
            <a:r>
              <a:t>32 automated unit, integration &amp; RLS penetration tests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3716000" y="17876520"/>
            <a:ext cx="3749039" cy="27432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3807440" y="18013680"/>
            <a:ext cx="3566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latin typeface="Arial"/>
              </a:defRPr>
            </a:pPr>
            <a:r>
              <a:t>🔒</a:t>
            </a:r>
          </a:p>
          <a:p>
            <a:pPr algn="ctr">
              <a:defRPr sz="2200" b="1">
                <a:solidFill>
                  <a:srgbClr val="F59E0B"/>
                </a:solidFill>
                <a:latin typeface="Arial"/>
              </a:defRPr>
            </a:pPr>
            <a:r>
              <a:t>Zero</a:t>
            </a:r>
          </a:p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Cheating &amp; Leakage</a:t>
            </a:r>
          </a:p>
          <a:p>
            <a:pPr algn="ctr">
              <a:defRPr sz="900">
                <a:solidFill>
                  <a:srgbClr val="64748B"/>
                </a:solidFill>
                <a:latin typeface="Calibri"/>
              </a:defRPr>
            </a:pPr>
            <a:r>
              <a:t>Tamper-proof server locks &amp; PostgreSQL Row-Level Security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418320" y="21214080"/>
            <a:ext cx="8321040" cy="960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418320" y="21214080"/>
            <a:ext cx="8321040" cy="54864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⭐   5. SYSTEM FEATURES</a:t>
            </a:r>
          </a:p>
        </p:txBody>
      </p:sp>
      <p:sp>
        <p:nvSpPr>
          <p:cNvPr id="59" name="Oval 58"/>
          <p:cNvSpPr/>
          <p:nvPr/>
        </p:nvSpPr>
        <p:spPr>
          <a:xfrm>
            <a:off x="9784080" y="21991320"/>
            <a:ext cx="594360" cy="59436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latin typeface="Arial"/>
              </a:defRPr>
            </a:pPr>
            <a:r>
              <a:t>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21899880"/>
            <a:ext cx="6949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Deterministic Resume Extraction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In-memory byte parsing for PDF/DOCX with Pydantic JSON schemas.</a:t>
            </a:r>
          </a:p>
        </p:txBody>
      </p:sp>
      <p:sp>
        <p:nvSpPr>
          <p:cNvPr id="61" name="Oval 60"/>
          <p:cNvSpPr/>
          <p:nvPr/>
        </p:nvSpPr>
        <p:spPr>
          <a:xfrm>
            <a:off x="9784080" y="23225760"/>
            <a:ext cx="594360" cy="5943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latin typeface="Arial"/>
              </a:defRPr>
            </a:pPr>
            <a:r>
              <a:t>🛡️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15600" y="23134320"/>
            <a:ext cx="6949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Server-Authoritative Anti-Cheat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PostgreSQL database expires_at locks defeat client clock tampering.</a:t>
            </a:r>
          </a:p>
        </p:txBody>
      </p:sp>
      <p:sp>
        <p:nvSpPr>
          <p:cNvPr id="63" name="Oval 62"/>
          <p:cNvSpPr/>
          <p:nvPr/>
        </p:nvSpPr>
        <p:spPr>
          <a:xfrm>
            <a:off x="9784080" y="24460200"/>
            <a:ext cx="594360" cy="5943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latin typeface="Arial"/>
              </a:defRPr>
            </a:pPr>
            <a:r>
              <a:t>🗣️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24368760"/>
            <a:ext cx="6949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Simli WebRTC Conversational Avatar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Real-time photorealistic visual interviewer with sub-second lip sync.</a:t>
            </a:r>
          </a:p>
        </p:txBody>
      </p:sp>
      <p:sp>
        <p:nvSpPr>
          <p:cNvPr id="65" name="Oval 64"/>
          <p:cNvSpPr/>
          <p:nvPr/>
        </p:nvSpPr>
        <p:spPr>
          <a:xfrm>
            <a:off x="9784080" y="25694640"/>
            <a:ext cx="594360" cy="59436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latin typeface="Arial"/>
              </a:defRPr>
            </a:pPr>
            <a:r>
              <a:t>🎙️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25603200"/>
            <a:ext cx="6949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Deepgram Nova-2 Streaming STT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Bidirectional WebSocket audio streaming yields 240ms speech transcription.</a:t>
            </a:r>
          </a:p>
        </p:txBody>
      </p:sp>
      <p:sp>
        <p:nvSpPr>
          <p:cNvPr id="67" name="Oval 66"/>
          <p:cNvSpPr/>
          <p:nvPr/>
        </p:nvSpPr>
        <p:spPr>
          <a:xfrm>
            <a:off x="9784080" y="26929080"/>
            <a:ext cx="594360" cy="59436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latin typeface="Arial"/>
              </a:defRPr>
            </a:pPr>
            <a:r>
              <a:t>🧠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26837640"/>
            <a:ext cx="6949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Adaptive Follow-Up Probing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Fast-inference LLM dynamically generates contextual follow-up probes.</a:t>
            </a:r>
          </a:p>
        </p:txBody>
      </p:sp>
      <p:sp>
        <p:nvSpPr>
          <p:cNvPr id="69" name="Oval 68"/>
          <p:cNvSpPr/>
          <p:nvPr/>
        </p:nvSpPr>
        <p:spPr>
          <a:xfrm>
            <a:off x="9784080" y="28163520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latin typeface="Arial"/>
              </a:defRPr>
            </a:pPr>
            <a:r>
              <a:t>📊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28072080"/>
            <a:ext cx="6949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360° Candidate Evaluation Dossier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Verbatim audio interview transcripts, skill breakdown, and recruiter override.</a:t>
            </a:r>
          </a:p>
        </p:txBody>
      </p:sp>
      <p:sp>
        <p:nvSpPr>
          <p:cNvPr id="71" name="Oval 70"/>
          <p:cNvSpPr/>
          <p:nvPr/>
        </p:nvSpPr>
        <p:spPr>
          <a:xfrm>
            <a:off x="9784080" y="29397960"/>
            <a:ext cx="594360" cy="5943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latin typeface="Arial"/>
              </a:defRPr>
            </a:pPr>
            <a:r>
              <a:t>🔒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29306520"/>
            <a:ext cx="6949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Multi-Tenant Row-Level Security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PostgreSQL kernel-level RLS policies isolate organization records.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48640" y="22951440"/>
            <a:ext cx="8321040" cy="1234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548640" y="22951440"/>
            <a:ext cx="8321040" cy="54864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💻   6. APPLICATION INTERFACE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22959" y="23637240"/>
            <a:ext cx="7772400" cy="53035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4400" y="23682960"/>
            <a:ext cx="7589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Arial"/>
              </a:defRPr>
            </a:pPr>
            <a:r>
              <a:t>CANDIDATE LIVE AVATAR INTERVIEW ROOM (WebRTC)</a:t>
            </a:r>
          </a:p>
        </p:txBody>
      </p:sp>
      <p:pic>
        <p:nvPicPr>
          <p:cNvPr id="77" name="Picture 76" descr="current_interview-layout-14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4094440"/>
            <a:ext cx="7589519" cy="4743449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914400" y="28026360"/>
            <a:ext cx="7589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Photorealistic talking avatar with dynamic audio visualizer and real-time closed captions. Candidate simply speaks into their microphone.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22959" y="29169360"/>
            <a:ext cx="7772400" cy="58521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14400" y="29215080"/>
            <a:ext cx="7589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RECRUITER 360° EVALUATION DOSSIER &amp; AUDIT</a:t>
            </a:r>
          </a:p>
        </p:txBody>
      </p:sp>
      <p:pic>
        <p:nvPicPr>
          <p:cNvPr id="81" name="Picture 80" descr="live_candidate-detail-viewpo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9626560"/>
            <a:ext cx="7589519" cy="4203612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914400" y="33604200"/>
            <a:ext cx="75895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Multi-stage score breakdown, verified skill matches, anti-cheat event telemetry, and full audio interview transcript with recruiter override controls.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418320" y="31089600"/>
            <a:ext cx="83210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9418320" y="31089600"/>
            <a:ext cx="8321040" cy="54864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📄   8. REFERENCES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692640" y="31729680"/>
            <a:ext cx="7772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1.  IEEE Standard 1016-2009: Standard for Information Technology - Systems Design - Software Design Descriptions.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2.  Deepgram &amp; ElevenLabs (2024): Low-Latency Streaming Speech Recognition and Neural Voice Synthesis.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3.  Simli AI (2024): Real-Time WebRTC Neural Visual Avatar Rendering and Lip-Synchronization Protocols.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4.  PostgreSQL Global Development Group (2024): PostgreSQL Row-Level Security &amp; Multi-Tenant Kernel Isolation.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48640" y="35570160"/>
            <a:ext cx="832104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548640" y="35570160"/>
            <a:ext cx="8321040" cy="54864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💡   7. CONCLUSION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22959" y="3621024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ai_recruit360 demonstrates the transformative potential of artificial intelligence in modernizing talent acquisition. By integrating deterministic schema-constrained resume parsing, server-authoritative anti-cheat testing, and real-time multimodal avatar interviews, the platform delivers an objective, data-driven, and candidate-centric recruitment workflow.</a:t>
            </a:r>
          </a:p>
          <a:p>
            <a:pPr>
              <a:defRPr sz="1050" b="1">
                <a:solidFill>
                  <a:srgbClr val="1D4ED8"/>
                </a:solidFill>
                <a:latin typeface="Calibri"/>
              </a:defRPr>
            </a:pPr>
            <a:r>
              <a:t>The system successfully achieves a 90.2% cost reduction while safeguarding candidate dignity and algorithmic transparency through human-in-the-loop recruiter governance.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418320" y="35570160"/>
            <a:ext cx="832104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9418320" y="35570160"/>
            <a:ext cx="8321040" cy="54864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🌍   SUSTAINABLE DEVELOPMENT GOALS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692640" y="36255960"/>
            <a:ext cx="3749039" cy="3108960"/>
          </a:xfrm>
          <a:prstGeom prst="roundRect">
            <a:avLst/>
          </a:prstGeom>
          <a:solidFill>
            <a:srgbClr val="A21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784080" y="36347400"/>
            <a:ext cx="3566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8   DECENT WORK &amp;</a:t>
            </a:r>
          </a:p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ECONOMIC GROWTH</a:t>
            </a:r>
          </a:p>
          <a:p>
            <a:pPr>
              <a:defRPr sz="950">
                <a:solidFill>
                  <a:srgbClr val="FEE2E2"/>
                </a:solidFill>
                <a:latin typeface="Calibri"/>
              </a:defRPr>
            </a:pPr>
            <a:r>
              <a:t>Promoting fair, bias-free, accessible recruitment, eliminating demographic discrimination, and accelerating equitable employment opportunities.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3716000" y="36255960"/>
            <a:ext cx="3749039" cy="3108960"/>
          </a:xfrm>
          <a:prstGeom prst="roundRect">
            <a:avLst/>
          </a:prstGeom>
          <a:solidFill>
            <a:srgbClr val="F36D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3807440" y="36347400"/>
            <a:ext cx="3566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9   INDUSTRY, INNOVATION</a:t>
            </a:r>
          </a:p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&amp; INFRASTRUCTURE</a:t>
            </a:r>
          </a:p>
          <a:p>
            <a:pPr>
              <a:defRPr sz="950">
                <a:solidFill>
                  <a:srgbClr val="FEF3C7"/>
                </a:solidFill>
                <a:latin typeface="Calibri"/>
              </a:defRPr>
            </a:pPr>
            <a:r>
              <a:t>Building modern, resilient AI cloud infrastructure utilizing real-time WebRTC, neural streaming speech, and server-authoritative computing.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48640" y="39867840"/>
            <a:ext cx="171907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6" name="Picture 95" descr="university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40233600"/>
            <a:ext cx="2286000" cy="2286000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3840480" y="4023360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4ED8"/>
                </a:solidFill>
                <a:latin typeface="Arial"/>
              </a:defRPr>
            </a:pPr>
            <a:r>
              <a:t>Mirpur University of Science and Technology (MUST), Mirpur-10250</a:t>
            </a:r>
          </a:p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DEPARTMENT OF SOFTWARE ENGINEERING</a:t>
            </a:r>
          </a:p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Faculty of Engineering &amp; Technology | Session 2022-2026</a:t>
            </a:r>
          </a:p>
        </p:txBody>
      </p:sp>
      <p:pic>
        <p:nvPicPr>
          <p:cNvPr id="98" name="Picture 97" descr="project-q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81760" y="40096440"/>
            <a:ext cx="2194560" cy="2194560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13533120" y="423824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D4ED8"/>
                </a:solidFill>
                <a:latin typeface="Arial"/>
              </a:defRPr>
            </a:pPr>
            <a:r>
              <a:t>SCAN FOR LIVE DEMO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https://ai-recruit360.vercel.app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0" y="44622720"/>
            <a:ext cx="18288000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0" y="44668440"/>
            <a:ext cx="1828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INNOVATING TALENT ACQUISITION THROUGH OBJECTIVE AI EVALUATION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